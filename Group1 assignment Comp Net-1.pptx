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79" r:id="rId2"/>
    <p:sldId id="264" r:id="rId3"/>
    <p:sldId id="265" r:id="rId4"/>
    <p:sldId id="313" r:id="rId5"/>
    <p:sldId id="266" r:id="rId6"/>
    <p:sldId id="281" r:id="rId7"/>
    <p:sldId id="308" r:id="rId8"/>
    <p:sldId id="307" r:id="rId9"/>
    <p:sldId id="269" r:id="rId10"/>
    <p:sldId id="282" r:id="rId11"/>
    <p:sldId id="283" r:id="rId12"/>
    <p:sldId id="284" r:id="rId13"/>
    <p:sldId id="285" r:id="rId14"/>
    <p:sldId id="286" r:id="rId15"/>
    <p:sldId id="311"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256" r:id="rId37"/>
    <p:sldId id="314" r:id="rId38"/>
    <p:sldId id="315" r:id="rId39"/>
    <p:sldId id="316" r:id="rId40"/>
    <p:sldId id="317" r:id="rId41"/>
    <p:sldId id="320" r:id="rId42"/>
    <p:sldId id="318" r:id="rId43"/>
    <p:sldId id="319" r:id="rId44"/>
    <p:sldId id="321" r:id="rId45"/>
    <p:sldId id="322" r:id="rId46"/>
    <p:sldId id="323" r:id="rId47"/>
    <p:sldId id="324" r:id="rId48"/>
    <p:sldId id="325" r:id="rId49"/>
    <p:sldId id="344" r:id="rId50"/>
    <p:sldId id="326" r:id="rId51"/>
    <p:sldId id="327" r:id="rId52"/>
    <p:sldId id="328" r:id="rId53"/>
    <p:sldId id="329" r:id="rId54"/>
    <p:sldId id="330" r:id="rId55"/>
    <p:sldId id="331" r:id="rId56"/>
    <p:sldId id="332" r:id="rId57"/>
    <p:sldId id="333" r:id="rId58"/>
    <p:sldId id="334" r:id="rId59"/>
    <p:sldId id="335" r:id="rId60"/>
    <p:sldId id="336" r:id="rId61"/>
    <p:sldId id="337" r:id="rId62"/>
    <p:sldId id="338" r:id="rId63"/>
    <p:sldId id="339" r:id="rId64"/>
    <p:sldId id="340" r:id="rId65"/>
    <p:sldId id="341" r:id="rId66"/>
    <p:sldId id="342" r:id="rId67"/>
    <p:sldId id="343" r:id="rId68"/>
    <p:sldId id="312" r:id="rId69"/>
    <p:sldId id="262" r:id="rId70"/>
    <p:sldId id="263" r:id="rId71"/>
    <p:sldId id="309" r:id="rId72"/>
    <p:sldId id="310"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4" d="100"/>
          <a:sy n="74" d="100"/>
        </p:scale>
        <p:origin x="54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33519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6</a:t>
            </a:fld>
            <a:endParaRPr lang="en-US"/>
          </a:p>
        </p:txBody>
      </p:sp>
    </p:spTree>
    <p:extLst>
      <p:ext uri="{BB962C8B-B14F-4D97-AF65-F5344CB8AC3E}">
        <p14:creationId xmlns:p14="http://schemas.microsoft.com/office/powerpoint/2010/main" val="2422673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La</a:t>
            </a:r>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13</a:t>
            </a:fld>
            <a:endParaRPr lang="en-US"/>
          </a:p>
        </p:txBody>
      </p:sp>
    </p:spTree>
    <p:extLst>
      <p:ext uri="{BB962C8B-B14F-4D97-AF65-F5344CB8AC3E}">
        <p14:creationId xmlns:p14="http://schemas.microsoft.com/office/powerpoint/2010/main" val="2146211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15</a:t>
            </a:fld>
            <a:endParaRPr lang="en-US"/>
          </a:p>
        </p:txBody>
      </p:sp>
    </p:spTree>
    <p:extLst>
      <p:ext uri="{BB962C8B-B14F-4D97-AF65-F5344CB8AC3E}">
        <p14:creationId xmlns:p14="http://schemas.microsoft.com/office/powerpoint/2010/main" val="73092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17</a:t>
            </a:fld>
            <a:endParaRPr lang="en-US"/>
          </a:p>
        </p:txBody>
      </p:sp>
    </p:spTree>
    <p:extLst>
      <p:ext uri="{BB962C8B-B14F-4D97-AF65-F5344CB8AC3E}">
        <p14:creationId xmlns:p14="http://schemas.microsoft.com/office/powerpoint/2010/main" val="2868946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21</a:t>
            </a:fld>
            <a:endParaRPr lang="en-US"/>
          </a:p>
        </p:txBody>
      </p:sp>
    </p:spTree>
    <p:extLst>
      <p:ext uri="{BB962C8B-B14F-4D97-AF65-F5344CB8AC3E}">
        <p14:creationId xmlns:p14="http://schemas.microsoft.com/office/powerpoint/2010/main" val="387953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25</a:t>
            </a:fld>
            <a:endParaRPr lang="en-US"/>
          </a:p>
        </p:txBody>
      </p:sp>
    </p:spTree>
    <p:extLst>
      <p:ext uri="{BB962C8B-B14F-4D97-AF65-F5344CB8AC3E}">
        <p14:creationId xmlns:p14="http://schemas.microsoft.com/office/powerpoint/2010/main" val="217998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t>30</a:t>
            </a:fld>
            <a:endParaRPr lang="en-US"/>
          </a:p>
        </p:txBody>
      </p:sp>
    </p:spTree>
    <p:extLst>
      <p:ext uri="{BB962C8B-B14F-4D97-AF65-F5344CB8AC3E}">
        <p14:creationId xmlns:p14="http://schemas.microsoft.com/office/powerpoint/2010/main" val="7028900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9/3/2026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4"/>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9/3/2026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624840" y="133985"/>
            <a:ext cx="10367645" cy="2504440"/>
          </a:xfrm>
        </p:spPr>
        <p:txBody>
          <a:bodyPr/>
          <a:lstStyle/>
          <a:p>
            <a:pPr algn="ctr"/>
            <a:r>
              <a:rPr lang="en-US" altLang="en-GB" sz="2000" b="1">
                <a:sym typeface="+mn-ea"/>
              </a:rPr>
              <a:t>GROUP WORK ASSIGNMENT</a:t>
            </a:r>
            <a:br>
              <a:rPr lang="en-US" altLang="en-GB" sz="2000" b="1">
                <a:sym typeface="+mn-ea"/>
              </a:rPr>
            </a:br>
            <a:r>
              <a:rPr lang="en-US" altLang="en-GB" sz="2000" b="1">
                <a:sym typeface="+mn-ea"/>
              </a:rPr>
              <a:t> FOR  INTRODUCTION TO COMPUTER NETWORKS </a:t>
            </a:r>
            <a:r>
              <a:rPr lang="en-US" altLang="en-GB" sz="2000">
                <a:sym typeface="+mn-ea"/>
              </a:rPr>
              <a:t/>
            </a:r>
            <a:br>
              <a:rPr lang="en-US" altLang="en-GB" sz="2000">
                <a:sym typeface="+mn-ea"/>
              </a:rPr>
            </a:br>
            <a:r>
              <a:rPr lang="en-US" altLang="en-GB" sz="2000" b="1" dirty="0">
                <a:sym typeface="+mn-ea"/>
              </a:rPr>
              <a:t>COURSE UNIT: IST 11O4</a:t>
            </a:r>
            <a:br>
              <a:rPr lang="en-US" altLang="en-GB" sz="2000" b="1" dirty="0">
                <a:sym typeface="+mn-ea"/>
              </a:rPr>
            </a:br>
            <a:r>
              <a:rPr lang="en-US" altLang="en-GB" sz="2000" b="1" dirty="0">
                <a:sym typeface="+mn-ea"/>
              </a:rPr>
              <a:t>SEMESTER:1</a:t>
            </a:r>
            <a:br>
              <a:rPr lang="en-US" altLang="en-GB" sz="2000" b="1" dirty="0">
                <a:sym typeface="+mn-ea"/>
              </a:rPr>
            </a:br>
            <a:r>
              <a:rPr lang="en-US" altLang="en-GB" sz="2000" b="1" dirty="0">
                <a:sym typeface="+mn-ea"/>
              </a:rPr>
              <a:t>LECTURER: MALE VINCENT</a:t>
            </a:r>
            <a:br>
              <a:rPr lang="en-US" altLang="en-GB" sz="2000" b="1" dirty="0">
                <a:sym typeface="+mn-ea"/>
              </a:rPr>
            </a:br>
            <a:r>
              <a:rPr lang="en-US" altLang="en-GB" sz="2000" b="1" dirty="0">
                <a:sym typeface="+mn-ea"/>
              </a:rPr>
              <a:t>2026 YEAR: 1</a:t>
            </a:r>
            <a:br>
              <a:rPr lang="en-US" altLang="en-GB" sz="2000" b="1" dirty="0">
                <a:sym typeface="+mn-ea"/>
              </a:rPr>
            </a:br>
            <a:r>
              <a:rPr lang="en-US" altLang="en-GB" sz="2000" b="1">
                <a:sym typeface="+mn-ea"/>
              </a:rPr>
              <a:t>BY GROUP 1</a:t>
            </a:r>
            <a:endParaRPr lang="en-GB" altLang="en-US" sz="2000"/>
          </a:p>
        </p:txBody>
      </p:sp>
      <p:graphicFrame>
        <p:nvGraphicFramePr>
          <p:cNvPr id="6" name="Table 5"/>
          <p:cNvGraphicFramePr/>
          <p:nvPr>
            <p:custDataLst>
              <p:tags r:id="rId1"/>
            </p:custDataLst>
          </p:nvPr>
        </p:nvGraphicFramePr>
        <p:xfrm>
          <a:off x="624840" y="2858135"/>
          <a:ext cx="10502265" cy="3707130"/>
        </p:xfrm>
        <a:graphic>
          <a:graphicData uri="http://schemas.openxmlformats.org/drawingml/2006/table">
            <a:tbl>
              <a:tblPr firstRow="1" bandRow="1">
                <a:tableStyleId>{5C22544A-7EE6-4342-B048-85BDC9FD1C3A}</a:tableStyleId>
              </a:tblPr>
              <a:tblGrid>
                <a:gridCol w="3500755"/>
                <a:gridCol w="3500755"/>
                <a:gridCol w="3500755"/>
              </a:tblGrid>
              <a:tr h="504190">
                <a:tc>
                  <a:txBody>
                    <a:bodyPr/>
                    <a:lstStyle/>
                    <a:p>
                      <a:pPr>
                        <a:buNone/>
                      </a:pPr>
                      <a:r>
                        <a:rPr lang="en-US" altLang="en-GB" sz="1500" dirty="0"/>
                        <a:t>NAME</a:t>
                      </a:r>
                    </a:p>
                  </a:txBody>
                  <a:tcPr/>
                </a:tc>
                <a:tc>
                  <a:txBody>
                    <a:bodyPr/>
                    <a:lstStyle/>
                    <a:p>
                      <a:pPr>
                        <a:buNone/>
                      </a:pPr>
                      <a:r>
                        <a:rPr lang="en-US" altLang="en-GB" sz="1500" dirty="0"/>
                        <a:t>REGESTRATION NO.</a:t>
                      </a:r>
                    </a:p>
                  </a:txBody>
                  <a:tcPr/>
                </a:tc>
                <a:tc>
                  <a:txBody>
                    <a:bodyPr/>
                    <a:lstStyle/>
                    <a:p>
                      <a:pPr>
                        <a:buNone/>
                      </a:pPr>
                      <a:r>
                        <a:rPr lang="en-US" altLang="en-GB" sz="1500"/>
                        <a:t>STUDENT NO:</a:t>
                      </a:r>
                    </a:p>
                  </a:txBody>
                  <a:tcPr/>
                </a:tc>
              </a:tr>
              <a:tr h="548640">
                <a:tc>
                  <a:txBody>
                    <a:bodyPr/>
                    <a:lstStyle/>
                    <a:p>
                      <a:pPr>
                        <a:buNone/>
                      </a:pPr>
                      <a:r>
                        <a:rPr lang="en-US" altLang="en-GB" sz="1500"/>
                        <a:t>AINEBYONA VICTOR</a:t>
                      </a:r>
                    </a:p>
                  </a:txBody>
                  <a:tcPr/>
                </a:tc>
                <a:tc>
                  <a:txBody>
                    <a:bodyPr/>
                    <a:lstStyle/>
                    <a:p>
                      <a:pPr>
                        <a:buNone/>
                      </a:pPr>
                      <a:r>
                        <a:rPr lang="en-US" altLang="en-GB" sz="1500" dirty="0"/>
                        <a:t>26/U/04227/PSA</a:t>
                      </a:r>
                    </a:p>
                  </a:txBody>
                  <a:tcPr/>
                </a:tc>
                <a:tc>
                  <a:txBody>
                    <a:bodyPr/>
                    <a:lstStyle/>
                    <a:p>
                      <a:pPr>
                        <a:buNone/>
                      </a:pPr>
                      <a:r>
                        <a:rPr lang="en-US" altLang="en-GB" sz="1500" dirty="0">
                          <a:sym typeface="+mn-ea"/>
                        </a:rPr>
                        <a:t>2600703692</a:t>
                      </a:r>
                      <a:endParaRPr lang="en-US" altLang="en-GB" sz="1500" dirty="0"/>
                    </a:p>
                    <a:p>
                      <a:pPr>
                        <a:buNone/>
                      </a:pPr>
                      <a:endParaRPr lang="en-US" altLang="en-GB" sz="1500" dirty="0"/>
                    </a:p>
                  </a:txBody>
                  <a:tcPr/>
                </a:tc>
              </a:tr>
              <a:tr h="548640">
                <a:tc>
                  <a:txBody>
                    <a:bodyPr/>
                    <a:lstStyle/>
                    <a:p>
                      <a:pPr>
                        <a:buNone/>
                      </a:pPr>
                      <a:r>
                        <a:rPr lang="en-US" altLang="en-GB" sz="1500">
                          <a:sym typeface="+mn-ea"/>
                        </a:rPr>
                        <a:t>ACHUDA FREDRICK</a:t>
                      </a:r>
                      <a:endParaRPr lang="en-US" altLang="en-GB" sz="1500"/>
                    </a:p>
                    <a:p>
                      <a:pPr>
                        <a:buNone/>
                      </a:pPr>
                      <a:endParaRPr lang="en-US" altLang="en-GB" sz="1500"/>
                    </a:p>
                  </a:txBody>
                  <a:tcPr/>
                </a:tc>
                <a:tc>
                  <a:txBody>
                    <a:bodyPr/>
                    <a:lstStyle/>
                    <a:p>
                      <a:pPr>
                        <a:buNone/>
                      </a:pPr>
                      <a:r>
                        <a:rPr lang="en-US" altLang="en-GB" sz="1500" dirty="0">
                          <a:sym typeface="+mn-ea"/>
                        </a:rPr>
                        <a:t>26/U/29544/PSA</a:t>
                      </a:r>
                      <a:endParaRPr lang="en-US" altLang="en-GB" sz="1500" dirty="0"/>
                    </a:p>
                    <a:p>
                      <a:pPr>
                        <a:buNone/>
                      </a:pPr>
                      <a:endParaRPr lang="en-US" altLang="en-GB" sz="1500" dirty="0"/>
                    </a:p>
                  </a:txBody>
                  <a:tcPr/>
                </a:tc>
                <a:tc>
                  <a:txBody>
                    <a:bodyPr/>
                    <a:lstStyle/>
                    <a:p>
                      <a:pPr>
                        <a:buNone/>
                      </a:pPr>
                      <a:r>
                        <a:rPr lang="en-US" altLang="en-GB" sz="1500">
                          <a:sym typeface="+mn-ea"/>
                        </a:rPr>
                        <a:t>2600729544</a:t>
                      </a:r>
                      <a:endParaRPr lang="en-US" altLang="en-GB" sz="1500"/>
                    </a:p>
                    <a:p>
                      <a:pPr>
                        <a:buNone/>
                      </a:pPr>
                      <a:endParaRPr lang="en-US" altLang="en-GB" sz="1500"/>
                    </a:p>
                  </a:txBody>
                  <a:tcPr/>
                </a:tc>
              </a:tr>
              <a:tr h="548640">
                <a:tc>
                  <a:txBody>
                    <a:bodyPr/>
                    <a:lstStyle/>
                    <a:p>
                      <a:pPr>
                        <a:buNone/>
                      </a:pPr>
                      <a:r>
                        <a:rPr lang="en-US" altLang="en-GB" sz="1500" dirty="0">
                          <a:sym typeface="+mn-ea"/>
                        </a:rPr>
                        <a:t>AKAMPURIRA IAN</a:t>
                      </a:r>
                      <a:endParaRPr lang="en-US" altLang="en-GB" sz="1500" dirty="0"/>
                    </a:p>
                    <a:p>
                      <a:pPr>
                        <a:buNone/>
                      </a:pPr>
                      <a:endParaRPr lang="en-US" altLang="en-GB" sz="1500" dirty="0"/>
                    </a:p>
                  </a:txBody>
                  <a:tcPr/>
                </a:tc>
                <a:tc>
                  <a:txBody>
                    <a:bodyPr/>
                    <a:lstStyle/>
                    <a:p>
                      <a:pPr>
                        <a:buNone/>
                      </a:pPr>
                      <a:r>
                        <a:rPr lang="en-US" altLang="en-GB" sz="1500">
                          <a:sym typeface="+mn-ea"/>
                        </a:rPr>
                        <a:t>26/U/03698/PS</a:t>
                      </a:r>
                      <a:endParaRPr lang="en-US" altLang="en-GB" sz="1500"/>
                    </a:p>
                    <a:p>
                      <a:pPr>
                        <a:buNone/>
                      </a:pPr>
                      <a:endParaRPr lang="en-US" altLang="en-GB" sz="1500"/>
                    </a:p>
                  </a:txBody>
                  <a:tcPr/>
                </a:tc>
                <a:tc>
                  <a:txBody>
                    <a:bodyPr/>
                    <a:lstStyle/>
                    <a:p>
                      <a:pPr>
                        <a:buNone/>
                      </a:pPr>
                      <a:r>
                        <a:rPr lang="en-US" altLang="en-GB" sz="1500" dirty="0">
                          <a:sym typeface="+mn-ea"/>
                        </a:rPr>
                        <a:t>2600703698</a:t>
                      </a:r>
                      <a:endParaRPr lang="en-US" altLang="en-GB" sz="1500" dirty="0"/>
                    </a:p>
                    <a:p>
                      <a:pPr>
                        <a:buNone/>
                      </a:pPr>
                      <a:endParaRPr lang="en-US" altLang="en-GB" sz="1500" dirty="0"/>
                    </a:p>
                  </a:txBody>
                  <a:tcPr/>
                </a:tc>
              </a:tr>
              <a:tr h="548640">
                <a:tc>
                  <a:txBody>
                    <a:bodyPr/>
                    <a:lstStyle/>
                    <a:p>
                      <a:pPr>
                        <a:buNone/>
                      </a:pPr>
                      <a:r>
                        <a:rPr lang="en-US" altLang="en-GB" sz="1500" dirty="0">
                          <a:sym typeface="+mn-ea"/>
                        </a:rPr>
                        <a:t>ODOI VINCENT </a:t>
                      </a:r>
                      <a:endParaRPr lang="en-US" altLang="en-GB" sz="1500" dirty="0"/>
                    </a:p>
                    <a:p>
                      <a:pPr>
                        <a:buNone/>
                      </a:pPr>
                      <a:endParaRPr lang="en-US" altLang="en-GB" sz="1500" dirty="0"/>
                    </a:p>
                  </a:txBody>
                  <a:tcPr/>
                </a:tc>
                <a:tc>
                  <a:txBody>
                    <a:bodyPr/>
                    <a:lstStyle/>
                    <a:p>
                      <a:pPr>
                        <a:buNone/>
                      </a:pPr>
                      <a:r>
                        <a:rPr lang="en-US" altLang="en-GB" sz="1500">
                          <a:sym typeface="+mn-ea"/>
                        </a:rPr>
                        <a:t>26/U/04111/PSA</a:t>
                      </a:r>
                      <a:endParaRPr lang="en-US" altLang="en-GB" sz="1500"/>
                    </a:p>
                    <a:p>
                      <a:pPr>
                        <a:buNone/>
                      </a:pPr>
                      <a:endParaRPr lang="en-US" altLang="en-GB" sz="1500"/>
                    </a:p>
                  </a:txBody>
                  <a:tcPr/>
                </a:tc>
                <a:tc>
                  <a:txBody>
                    <a:bodyPr/>
                    <a:lstStyle/>
                    <a:p>
                      <a:pPr>
                        <a:buNone/>
                      </a:pPr>
                      <a:r>
                        <a:rPr lang="en-US" altLang="en-GB" sz="1500"/>
                        <a:t>2600704111</a:t>
                      </a:r>
                    </a:p>
                    <a:p>
                      <a:pPr>
                        <a:buNone/>
                      </a:pPr>
                      <a:endParaRPr lang="en-US" altLang="en-GB" sz="1500"/>
                    </a:p>
                  </a:txBody>
                  <a:tcPr/>
                </a:tc>
              </a:tr>
              <a:tr h="504190">
                <a:tc>
                  <a:txBody>
                    <a:bodyPr/>
                    <a:lstStyle/>
                    <a:p>
                      <a:pPr>
                        <a:buNone/>
                      </a:pPr>
                      <a:r>
                        <a:rPr lang="en-US" altLang="en-GB" sz="1500" dirty="0"/>
                        <a:t>ABOKU GEORGE PHILIP</a:t>
                      </a:r>
                    </a:p>
                  </a:txBody>
                  <a:tcPr/>
                </a:tc>
                <a:tc>
                  <a:txBody>
                    <a:bodyPr/>
                    <a:lstStyle/>
                    <a:p>
                      <a:pPr>
                        <a:buNone/>
                      </a:pPr>
                      <a:r>
                        <a:rPr lang="en-US" altLang="en-GB" sz="1500"/>
                        <a:t>26/U/03678/PSA</a:t>
                      </a:r>
                    </a:p>
                  </a:txBody>
                  <a:tcPr/>
                </a:tc>
                <a:tc>
                  <a:txBody>
                    <a:bodyPr/>
                    <a:lstStyle/>
                    <a:p>
                      <a:pPr>
                        <a:buNone/>
                      </a:pPr>
                      <a:r>
                        <a:rPr lang="en-US" altLang="en-GB" sz="1500"/>
                        <a:t>2600703678</a:t>
                      </a:r>
                    </a:p>
                  </a:txBody>
                  <a:tcPr/>
                </a:tc>
              </a:tr>
              <a:tr h="504190">
                <a:tc>
                  <a:txBody>
                    <a:bodyPr/>
                    <a:lstStyle/>
                    <a:p>
                      <a:pPr>
                        <a:buNone/>
                      </a:pPr>
                      <a:r>
                        <a:rPr lang="en-US" altLang="en-GB" sz="1500" dirty="0"/>
                        <a:t>WAMANGA SHAMIHA</a:t>
                      </a:r>
                    </a:p>
                  </a:txBody>
                  <a:tcPr/>
                </a:tc>
                <a:tc>
                  <a:txBody>
                    <a:bodyPr/>
                    <a:lstStyle/>
                    <a:p>
                      <a:pPr>
                        <a:buNone/>
                      </a:pPr>
                      <a:r>
                        <a:rPr lang="en-US" altLang="en-GB" sz="1500"/>
                        <a:t>26/U/04227/PS</a:t>
                      </a:r>
                    </a:p>
                  </a:txBody>
                  <a:tcPr/>
                </a:tc>
                <a:tc>
                  <a:txBody>
                    <a:bodyPr/>
                    <a:lstStyle/>
                    <a:p>
                      <a:pPr>
                        <a:buNone/>
                      </a:pPr>
                      <a:r>
                        <a:rPr lang="en-US" altLang="en-GB" sz="1500"/>
                        <a:t>2600704227</a:t>
                      </a:r>
                    </a:p>
                  </a:txBody>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p:txBody>
          <a:bodyPr/>
          <a:lstStyle/>
          <a:p>
            <a:pPr algn="ctr"/>
            <a:r>
              <a:rPr lang="en-US" altLang="en-GB" b="1"/>
              <a:t>NETWORK MODELS</a:t>
            </a:r>
          </a:p>
        </p:txBody>
      </p:sp>
      <p:sp>
        <p:nvSpPr>
          <p:cNvPr id="5" name="Subtitle 4"/>
          <p:cNvSpPr>
            <a:spLocks noGrp="1" noChangeArrowheads="1"/>
          </p:cNvSpPr>
          <p:nvPr>
            <p:ph type="subTitle" idx="1"/>
          </p:nvPr>
        </p:nvSpPr>
        <p:spPr/>
        <p:txBody>
          <a:bodyPr/>
          <a:lstStyle/>
          <a:p>
            <a:pPr algn="l"/>
            <a:r>
              <a:rPr lang="en-US" altLang="en-GB"/>
              <a:t>They are basically two network models</a:t>
            </a:r>
          </a:p>
          <a:p>
            <a:pPr marL="514350" indent="-514350" algn="l">
              <a:buFont typeface="+mj-lt"/>
              <a:buAutoNum type="arabicPeriod"/>
            </a:pPr>
            <a:r>
              <a:rPr lang="en-US" altLang="en-GB" b="1"/>
              <a:t>OSI model</a:t>
            </a:r>
          </a:p>
          <a:p>
            <a:pPr marL="514350" indent="-514350" algn="l">
              <a:buFont typeface="+mj-lt"/>
              <a:buAutoNum type="arabicPeriod"/>
            </a:pPr>
            <a:r>
              <a:rPr lang="en-US" altLang="en-GB" b="1"/>
              <a:t>TCP/IP model</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t>OSI(OPEN SYSTEM INTERCONNECTION) MODEL</a:t>
            </a:r>
          </a:p>
        </p:txBody>
      </p:sp>
      <p:sp>
        <p:nvSpPr>
          <p:cNvPr id="3" name="Content Placeholder 2"/>
          <p:cNvSpPr>
            <a:spLocks noGrp="1"/>
          </p:cNvSpPr>
          <p:nvPr>
            <p:ph idx="1"/>
          </p:nvPr>
        </p:nvSpPr>
        <p:spPr/>
        <p:txBody>
          <a:bodyPr/>
          <a:lstStyle/>
          <a:p>
            <a:pPr marL="0" indent="0">
              <a:buNone/>
            </a:pPr>
            <a:r>
              <a:rPr lang="en-US" altLang="en-GB"/>
              <a:t>    This was based on the propsal by the </a:t>
            </a:r>
            <a:r>
              <a:rPr lang="en-US" altLang="en-GB" b="1"/>
              <a:t>ISO( international Standards Organisation.) (FEB 23,1947)</a:t>
            </a:r>
          </a:p>
          <a:p>
            <a:pPr marL="0" indent="0">
              <a:buNone/>
            </a:pPr>
            <a:r>
              <a:rPr lang="en-US" altLang="en-GB"/>
              <a:t>     Then revised in 1995 from ISO to OSI model because it deals with connecting open systems that is to say the systems are open for communication with other systems.</a:t>
            </a:r>
          </a:p>
          <a:p>
            <a:pPr marL="0" indent="0">
              <a:buNone/>
            </a:pPr>
            <a:r>
              <a:rPr lang="en-US" altLang="en-GB"/>
              <a:t>     </a:t>
            </a:r>
            <a:r>
              <a:rPr lang="en-US" altLang="en-GB">
                <a:sym typeface="+mn-ea"/>
              </a:rPr>
              <a:t>The model has seven layers.</a:t>
            </a:r>
          </a:p>
          <a:p>
            <a:pPr marL="0" indent="0">
              <a:buNone/>
            </a:pPr>
            <a:r>
              <a:rPr lang="en-US" altLang="en-GB">
                <a:sym typeface="+mn-ea"/>
              </a:rPr>
              <a:t>     </a:t>
            </a:r>
            <a:r>
              <a:rPr lang="en-US" altLang="en-GB"/>
              <a:t>The OSI model also tell what each layer should do.</a:t>
            </a:r>
          </a:p>
          <a:p>
            <a:pPr marL="0" indent="0">
              <a:buNone/>
            </a:pPr>
            <a:r>
              <a:rPr lang="en-US" altLang="en-GB"/>
              <a:t>     </a:t>
            </a:r>
          </a:p>
          <a:p>
            <a:pPr marL="0" indent="0">
              <a:buNone/>
            </a:pPr>
            <a:endParaRPr lang="en-US" altLang="en-GB"/>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0035"/>
            <a:ext cx="10972800" cy="998220"/>
          </a:xfrm>
        </p:spPr>
        <p:txBody>
          <a:bodyPr/>
          <a:lstStyle/>
          <a:p>
            <a:pPr algn="ctr"/>
            <a:r>
              <a:rPr lang="en-US" altLang="en-GB" b="1"/>
              <a:t>Where the OSI Model is Applied</a:t>
            </a:r>
          </a:p>
        </p:txBody>
      </p:sp>
      <p:sp>
        <p:nvSpPr>
          <p:cNvPr id="3" name="Content Placeholder 2"/>
          <p:cNvSpPr>
            <a:spLocks noGrp="1"/>
          </p:cNvSpPr>
          <p:nvPr>
            <p:ph idx="1"/>
          </p:nvPr>
        </p:nvSpPr>
        <p:spPr>
          <a:xfrm>
            <a:off x="609600" y="1696720"/>
            <a:ext cx="10972800" cy="4431030"/>
          </a:xfrm>
        </p:spPr>
        <p:txBody>
          <a:bodyPr/>
          <a:lstStyle/>
          <a:p>
            <a:pPr>
              <a:buFont typeface="Wingdings" panose="05000000000000000000" charset="0"/>
              <a:buChar char="Ø"/>
            </a:pPr>
            <a:r>
              <a:rPr lang="en-US" altLang="en-GB"/>
              <a:t>Networking education. As we are doing now.</a:t>
            </a:r>
          </a:p>
          <a:p>
            <a:pPr>
              <a:buFont typeface="Wingdings" panose="05000000000000000000" charset="0"/>
              <a:buChar char="Ø"/>
            </a:pPr>
            <a:r>
              <a:rPr lang="en-US" altLang="en-GB"/>
              <a:t>Network certification training.</a:t>
            </a:r>
          </a:p>
          <a:p>
            <a:pPr>
              <a:buFont typeface="Wingdings" panose="05000000000000000000" charset="0"/>
              <a:buChar char="Ø"/>
            </a:pPr>
            <a:r>
              <a:rPr lang="en-US" altLang="en-GB"/>
              <a:t>Network troubleshooting.</a:t>
            </a:r>
          </a:p>
          <a:p>
            <a:pPr>
              <a:buFont typeface="Wingdings" panose="05000000000000000000" charset="0"/>
              <a:buChar char="Ø"/>
            </a:pPr>
            <a:r>
              <a:rPr lang="en-US" altLang="en-GB"/>
              <a:t>Protocol analysis.</a:t>
            </a:r>
          </a:p>
          <a:p>
            <a:pPr>
              <a:buFont typeface="Wingdings" panose="05000000000000000000" charset="0"/>
              <a:buChar char="Ø"/>
            </a:pPr>
            <a:r>
              <a:rPr lang="en-US" altLang="en-GB"/>
              <a:t>Network architecture and design.</a:t>
            </a:r>
          </a:p>
          <a:p>
            <a:pPr>
              <a:buFont typeface="Wingdings" panose="05000000000000000000" charset="0"/>
              <a:buChar char="Ø"/>
            </a:pPr>
            <a:r>
              <a:rPr lang="en-US" altLang="en-GB"/>
              <a:t>Explaining security controls and network devices.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02080"/>
          </a:xfrm>
        </p:spPr>
        <p:txBody>
          <a:bodyPr/>
          <a:lstStyle/>
          <a:p>
            <a:r>
              <a:rPr lang="en-US" altLang="en-GB" b="1">
                <a:sym typeface="+mn-ea"/>
              </a:rPr>
              <a:t>PRINCIPLES THAT WERE APPLIED TO ARRIVE TO THE SEVEN LAYERS</a:t>
            </a:r>
            <a:endParaRPr lang="en-GB" altLang="en-US"/>
          </a:p>
        </p:txBody>
      </p:sp>
      <p:sp>
        <p:nvSpPr>
          <p:cNvPr id="3" name="Content Placeholder 2"/>
          <p:cNvSpPr>
            <a:spLocks noGrp="1"/>
          </p:cNvSpPr>
          <p:nvPr>
            <p:ph idx="1"/>
          </p:nvPr>
        </p:nvSpPr>
        <p:spPr>
          <a:xfrm>
            <a:off x="609600" y="1592580"/>
            <a:ext cx="10972800" cy="4682490"/>
          </a:xfrm>
        </p:spPr>
        <p:txBody>
          <a:bodyPr/>
          <a:lstStyle/>
          <a:p>
            <a:pPr marL="514350" indent="-514350">
              <a:buFont typeface="+mj-lt"/>
              <a:buAutoNum type="arabicPeriod"/>
            </a:pPr>
            <a:r>
              <a:rPr lang="en-US" altLang="en-GB" sz="2800"/>
              <a:t>A layer should be created where a different abstraction(simplification) is needed.</a:t>
            </a:r>
          </a:p>
          <a:p>
            <a:pPr marL="514350" indent="-514350">
              <a:buFont typeface="+mj-lt"/>
              <a:buAutoNum type="arabicPeriod"/>
            </a:pPr>
            <a:r>
              <a:rPr lang="en-US" altLang="en-GB" sz="2800"/>
              <a:t>Each layer should perfom a well defined function.</a:t>
            </a:r>
          </a:p>
          <a:p>
            <a:pPr marL="514350" indent="-514350">
              <a:buFont typeface="+mj-lt"/>
              <a:buAutoNum type="arabicPeriod"/>
            </a:pPr>
            <a:r>
              <a:rPr lang="en-US" altLang="en-GB" sz="2800"/>
              <a:t>The function of each layer should be chosen with an eye to ward defining internationally standardised protocols.</a:t>
            </a:r>
          </a:p>
          <a:p>
            <a:pPr marL="514350" indent="-514350">
              <a:buFont typeface="+mj-lt"/>
              <a:buAutoNum type="arabicPeriod"/>
            </a:pPr>
            <a:r>
              <a:rPr lang="en-US" altLang="en-GB" sz="2800"/>
              <a:t>The boundaries should minimise the information flow across the interfaces</a:t>
            </a:r>
          </a:p>
          <a:p>
            <a:pPr marL="514350" indent="-514350">
              <a:buFont typeface="+mj-lt"/>
              <a:buAutoNum type="arabicPeriod"/>
            </a:pPr>
            <a:r>
              <a:rPr lang="en-US" altLang="en-GB" sz="2800"/>
              <a:t>The number of layers should be large enough that distinct functions need not to be thrown together but small enough that the architecture does not become too big.  </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87554926"/>
              </p:ext>
            </p:extLst>
          </p:nvPr>
        </p:nvGraphicFramePr>
        <p:xfrm>
          <a:off x="617482" y="365125"/>
          <a:ext cx="10515600" cy="5978043"/>
        </p:xfrm>
        <a:graphic>
          <a:graphicData uri="http://schemas.openxmlformats.org/drawingml/2006/table">
            <a:tbl>
              <a:tblPr firstRow="1" bandRow="1">
                <a:tableStyleId>{5C22544A-7EE6-4342-B048-85BDC9FD1C3A}</a:tableStyleId>
              </a:tblPr>
              <a:tblGrid>
                <a:gridCol w="2628900"/>
                <a:gridCol w="2628900"/>
                <a:gridCol w="2628900"/>
                <a:gridCol w="2628900"/>
              </a:tblGrid>
              <a:tr h="898634">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Layer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Main Responsibility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Examples of Protocols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25214">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Provides network services to applications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 HTTPS, FTP, SMTP, DNS, SSH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67559">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Presentation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formatting, encryption, compression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TLS/SSL, JPEG, PNG, ASCII, UTF-8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25214">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Session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Establishes and manages communication sessions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NetBIOS, RPC, SIP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83324">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Transport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End-to-end delivery, reliability, flow control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TCP, UDP, SCTP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98634">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Network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Routing and logical addressing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IP, ICMP, IPsec, OSPF, BGP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6215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Data Link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Frames, MAC addressing, error detection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Ethernet, Wi-Fi (802.11), PPP, ARP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3557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Physical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Transmission of raw bits over a medium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Ethernet physical standards, USB, DSL, fiber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4250"/>
          </a:xfrm>
        </p:spPr>
        <p:txBody>
          <a:bodyPr/>
          <a:lstStyle/>
          <a:p>
            <a:pPr algn="ctr"/>
            <a:r>
              <a:rPr lang="en-GB" altLang="en-GB" dirty="0" smtClean="0"/>
              <a:t>ACTIONS THAT TAKE PLACE IN OSI MODEL LAYERS</a:t>
            </a:r>
            <a:endParaRPr lang="en-US" altLang="en-GB" dirty="0"/>
          </a:p>
        </p:txBody>
      </p:sp>
      <p:sp>
        <p:nvSpPr>
          <p:cNvPr id="3" name="Content Placeholder 2"/>
          <p:cNvSpPr>
            <a:spLocks noGrp="1"/>
          </p:cNvSpPr>
          <p:nvPr>
            <p:ph idx="1"/>
          </p:nvPr>
        </p:nvSpPr>
        <p:spPr/>
        <p:txBody>
          <a:bodyPr/>
          <a:lstStyle/>
          <a:p>
            <a:pPr marL="0" indent="0">
              <a:buNone/>
            </a:pPr>
            <a:r>
              <a:rPr lang="en-US" altLang="en-GB" sz="2500" b="1" dirty="0"/>
              <a:t>Application:</a:t>
            </a:r>
            <a:r>
              <a:rPr lang="" altLang="en-US" sz="2500" dirty="0"/>
              <a:t> </a:t>
            </a:r>
            <a:r>
              <a:rPr lang="en-US" altLang="en-GB" sz="2500" dirty="0"/>
              <a:t>HTTP creates a web request.</a:t>
            </a:r>
          </a:p>
          <a:p>
            <a:pPr marL="0" indent="0">
              <a:buNone/>
            </a:pPr>
            <a:r>
              <a:rPr lang="en-US" altLang="en-GB" sz="2500" b="1" dirty="0"/>
              <a:t>Presentation:</a:t>
            </a:r>
            <a:r>
              <a:rPr lang="" altLang="en-US" sz="2500" dirty="0"/>
              <a:t> </a:t>
            </a:r>
            <a:r>
              <a:rPr lang="en-US" altLang="en-GB" sz="2500" dirty="0"/>
              <a:t>Data may be encrypted using TLS(Transport Layer Security).</a:t>
            </a:r>
          </a:p>
          <a:p>
            <a:pPr marL="0" indent="0">
              <a:buNone/>
            </a:pPr>
            <a:r>
              <a:rPr lang="en-US" altLang="en-GB" sz="2500" b="1" dirty="0"/>
              <a:t>Session:</a:t>
            </a:r>
            <a:r>
              <a:rPr lang="" altLang="en-US" sz="2500" dirty="0"/>
              <a:t> </a:t>
            </a:r>
            <a:r>
              <a:rPr lang="en-US" altLang="en-GB" sz="2500" dirty="0"/>
              <a:t>The communication session is managed.</a:t>
            </a:r>
          </a:p>
          <a:p>
            <a:pPr marL="0" indent="0">
              <a:buNone/>
            </a:pPr>
            <a:r>
              <a:rPr lang="en-US" altLang="en-GB" sz="2500" b="1" dirty="0"/>
              <a:t>Transport:</a:t>
            </a:r>
            <a:r>
              <a:rPr lang="" altLang="en-US" sz="2500" dirty="0"/>
              <a:t> </a:t>
            </a:r>
            <a:r>
              <a:rPr lang="en-US" altLang="en-GB" sz="2500" dirty="0"/>
              <a:t>TCP provides reliable delivery and uses port 443 for HTTPS traffic.</a:t>
            </a:r>
          </a:p>
          <a:p>
            <a:pPr marL="0" indent="0">
              <a:buNone/>
            </a:pPr>
            <a:r>
              <a:rPr lang="en-US" altLang="en-GB" sz="2500" b="1" dirty="0"/>
              <a:t>Network:</a:t>
            </a:r>
            <a:r>
              <a:rPr lang="" altLang="en-US" sz="2500" dirty="0"/>
              <a:t> </a:t>
            </a:r>
            <a:r>
              <a:rPr lang="en-US" altLang="en-GB" sz="2500" dirty="0"/>
              <a:t>IP adds source and destination IP addresses and routers forward the packet.</a:t>
            </a:r>
          </a:p>
          <a:p>
            <a:pPr marL="0" indent="0">
              <a:buNone/>
            </a:pPr>
            <a:r>
              <a:rPr lang="en-US" altLang="en-GB" sz="2500" b="1" dirty="0"/>
              <a:t>Data Link:</a:t>
            </a:r>
            <a:r>
              <a:rPr lang="" altLang="en-US" sz="2500" dirty="0"/>
              <a:t> </a:t>
            </a:r>
            <a:r>
              <a:rPr lang="en-US" altLang="en-GB" sz="2500" dirty="0"/>
              <a:t>Ethernet or Wi-Fi creates a frame containing MAC </a:t>
            </a:r>
            <a:r>
              <a:rPr lang="en-US" altLang="en-GB" sz="2500" dirty="0">
                <a:sym typeface="+mn-ea"/>
              </a:rPr>
              <a:t>address </a:t>
            </a:r>
            <a:r>
              <a:rPr lang="en-US" altLang="en-GB" sz="2500" dirty="0"/>
              <a:t>(Media </a:t>
            </a:r>
            <a:r>
              <a:rPr lang="en-US" altLang="en-GB" sz="2500" dirty="0" err="1"/>
              <a:t>Acess</a:t>
            </a:r>
            <a:r>
              <a:rPr lang="en-US" altLang="en-GB" sz="2500" dirty="0"/>
              <a:t> Control </a:t>
            </a:r>
            <a:r>
              <a:rPr lang="en-US" altLang="en-GB" sz="2500" dirty="0">
                <a:sym typeface="+mn-ea"/>
              </a:rPr>
              <a:t>address</a:t>
            </a:r>
            <a:r>
              <a:rPr lang="en-US" altLang="en-GB" sz="2500" dirty="0"/>
              <a:t>).</a:t>
            </a:r>
          </a:p>
          <a:p>
            <a:pPr marL="0" indent="0">
              <a:buNone/>
            </a:pPr>
            <a:r>
              <a:rPr lang="en-US" altLang="en-GB" sz="2500" b="1" dirty="0"/>
              <a:t>Physical:</a:t>
            </a:r>
            <a:r>
              <a:rPr lang="" altLang="en-US" sz="2500" dirty="0"/>
              <a:t> </a:t>
            </a:r>
            <a:r>
              <a:rPr lang="en-US" altLang="en-GB" sz="2500" dirty="0"/>
              <a:t>The frame is converted into electrical, optical, or radio signals and transmitted.</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sym typeface="+mn-ea"/>
              </a:rPr>
              <a:t>Easy way to remember the layers</a:t>
            </a:r>
            <a:endParaRPr lang="en-GB" altLang="en-US"/>
          </a:p>
        </p:txBody>
      </p:sp>
      <p:sp>
        <p:nvSpPr>
          <p:cNvPr id="3" name="Content Placeholder 2"/>
          <p:cNvSpPr>
            <a:spLocks noGrp="1"/>
          </p:cNvSpPr>
          <p:nvPr>
            <p:ph idx="1"/>
          </p:nvPr>
        </p:nvSpPr>
        <p:spPr>
          <a:xfrm>
            <a:off x="609600" y="1174750"/>
            <a:ext cx="10972800" cy="5310505"/>
          </a:xfrm>
        </p:spPr>
        <p:txBody>
          <a:bodyPr/>
          <a:lstStyle/>
          <a:p>
            <a:pPr marL="0" indent="0">
              <a:buNone/>
            </a:pPr>
            <a:r>
              <a:rPr lang="en-US" altLang="en-GB"/>
              <a:t>From</a:t>
            </a:r>
            <a:r>
              <a:rPr lang="" altLang="en-US"/>
              <a:t> </a:t>
            </a:r>
            <a:r>
              <a:rPr lang="en-US" altLang="en-GB"/>
              <a:t>Layer 7 down to Layer 1:</a:t>
            </a:r>
          </a:p>
          <a:p>
            <a:pPr marL="0" indent="0">
              <a:buNone/>
            </a:pPr>
            <a:r>
              <a:rPr lang="en-US" altLang="en-GB" b="1"/>
              <a:t>A</a:t>
            </a:r>
            <a:r>
              <a:rPr lang="en-US" altLang="en-GB"/>
              <a:t>ll</a:t>
            </a:r>
            <a:r>
              <a:rPr lang="" altLang="en-US"/>
              <a:t> </a:t>
            </a:r>
            <a:r>
              <a:rPr lang="en-US" altLang="en-GB" b="1"/>
              <a:t>P</a:t>
            </a:r>
            <a:r>
              <a:rPr lang="en-US" altLang="en-GB"/>
              <a:t>eople</a:t>
            </a:r>
            <a:r>
              <a:rPr lang="" altLang="en-US"/>
              <a:t> </a:t>
            </a:r>
            <a:r>
              <a:rPr lang="en-US" altLang="en-GB" b="1"/>
              <a:t>S</a:t>
            </a:r>
            <a:r>
              <a:rPr lang="en-US" altLang="en-GB"/>
              <a:t>eem</a:t>
            </a:r>
            <a:r>
              <a:rPr lang="" altLang="en-US"/>
              <a:t> </a:t>
            </a:r>
            <a:r>
              <a:rPr lang="en-US" altLang="en-GB" b="1"/>
              <a:t>T</a:t>
            </a:r>
            <a:r>
              <a:rPr lang="en-US" altLang="en-GB"/>
              <a:t>o</a:t>
            </a:r>
            <a:r>
              <a:rPr lang="" altLang="en-US"/>
              <a:t> </a:t>
            </a:r>
            <a:r>
              <a:rPr lang="en-US" altLang="en-GB" b="1"/>
              <a:t>N</a:t>
            </a:r>
            <a:r>
              <a:rPr lang="en-US" altLang="en-GB"/>
              <a:t>eed</a:t>
            </a:r>
            <a:r>
              <a:rPr lang="" altLang="en-US"/>
              <a:t> </a:t>
            </a:r>
            <a:r>
              <a:rPr lang="en-US" altLang="en-GB" b="1"/>
              <a:t>D</a:t>
            </a:r>
            <a:r>
              <a:rPr lang="en-US" altLang="en-GB"/>
              <a:t>ata</a:t>
            </a:r>
            <a:r>
              <a:rPr lang="" altLang="en-US"/>
              <a:t> </a:t>
            </a:r>
            <a:r>
              <a:rPr lang="en-US" altLang="en-GB" b="1"/>
              <a:t>P</a:t>
            </a:r>
            <a:r>
              <a:rPr lang="en-US" altLang="en-GB"/>
              <a:t>rocessing</a:t>
            </a:r>
            <a:endParaRPr lang="en-US" altLang="en-GB" b="1"/>
          </a:p>
          <a:p>
            <a:pPr>
              <a:buFont typeface="Wingdings" panose="05000000000000000000" charset="0"/>
              <a:buChar char="Ø"/>
            </a:pPr>
            <a:r>
              <a:rPr lang="en-US" altLang="en-GB" b="1"/>
              <a:t>A</a:t>
            </a:r>
            <a:r>
              <a:rPr lang="" altLang="en-US"/>
              <a:t> </a:t>
            </a:r>
            <a:r>
              <a:rPr lang="en-US" altLang="en-GB"/>
              <a:t>— Application</a:t>
            </a:r>
          </a:p>
          <a:p>
            <a:pPr>
              <a:buFont typeface="Wingdings" panose="05000000000000000000" charset="0"/>
              <a:buChar char="Ø"/>
            </a:pPr>
            <a:r>
              <a:rPr lang="en-US" altLang="en-GB" b="1"/>
              <a:t>P</a:t>
            </a:r>
            <a:r>
              <a:rPr lang="" altLang="en-US"/>
              <a:t> </a:t>
            </a:r>
            <a:r>
              <a:rPr lang="en-US" altLang="en-GB"/>
              <a:t>— Presentation</a:t>
            </a:r>
          </a:p>
          <a:p>
            <a:pPr>
              <a:buFont typeface="Wingdings" panose="05000000000000000000" charset="0"/>
              <a:buChar char="Ø"/>
            </a:pPr>
            <a:r>
              <a:rPr lang="en-US" altLang="en-GB" b="1"/>
              <a:t>S</a:t>
            </a:r>
            <a:r>
              <a:rPr lang="" altLang="en-US"/>
              <a:t> </a:t>
            </a:r>
            <a:r>
              <a:rPr lang="en-US" altLang="en-GB"/>
              <a:t>— Session</a:t>
            </a:r>
          </a:p>
          <a:p>
            <a:pPr>
              <a:buFont typeface="Wingdings" panose="05000000000000000000" charset="0"/>
              <a:buChar char="Ø"/>
            </a:pPr>
            <a:r>
              <a:rPr lang="en-US" altLang="en-GB" b="1"/>
              <a:t>T</a:t>
            </a:r>
            <a:r>
              <a:rPr lang="" altLang="en-US"/>
              <a:t> </a:t>
            </a:r>
            <a:r>
              <a:rPr lang="en-US" altLang="en-GB"/>
              <a:t>— Transport</a:t>
            </a:r>
          </a:p>
          <a:p>
            <a:pPr>
              <a:buFont typeface="Wingdings" panose="05000000000000000000" charset="0"/>
              <a:buChar char="Ø"/>
            </a:pPr>
            <a:r>
              <a:rPr lang="en-US" altLang="en-GB" b="1"/>
              <a:t>N</a:t>
            </a:r>
            <a:r>
              <a:rPr lang="" altLang="en-US" b="1"/>
              <a:t> </a:t>
            </a:r>
            <a:r>
              <a:rPr lang="en-US" altLang="en-GB"/>
              <a:t>— Network</a:t>
            </a:r>
          </a:p>
          <a:p>
            <a:pPr>
              <a:buFont typeface="Wingdings" panose="05000000000000000000" charset="0"/>
              <a:buChar char="Ø"/>
            </a:pPr>
            <a:r>
              <a:rPr lang="en-US" altLang="en-GB" b="1"/>
              <a:t>D</a:t>
            </a:r>
            <a:r>
              <a:rPr lang="" altLang="en-US"/>
              <a:t> </a:t>
            </a:r>
            <a:r>
              <a:rPr lang="en-US" altLang="en-GB"/>
              <a:t>— Data Link</a:t>
            </a:r>
          </a:p>
          <a:p>
            <a:pPr>
              <a:buFont typeface="Wingdings" panose="05000000000000000000" charset="0"/>
              <a:buChar char="Ø"/>
            </a:pPr>
            <a:r>
              <a:rPr lang="en-US" altLang="en-GB" b="1"/>
              <a:t>P</a:t>
            </a:r>
            <a:r>
              <a:rPr lang="" altLang="en-US"/>
              <a:t> </a:t>
            </a:r>
            <a:r>
              <a:rPr lang="en-US" altLang="en-GB"/>
              <a:t>— Physical</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7960"/>
            <a:ext cx="10972800" cy="1036955"/>
          </a:xfrm>
        </p:spPr>
        <p:txBody>
          <a:bodyPr>
            <a:normAutofit fontScale="90000"/>
          </a:bodyPr>
          <a:lstStyle/>
          <a:p>
            <a:pPr algn="ctr"/>
            <a:r>
              <a:rPr lang="en-US" b="1" dirty="0"/>
              <a:t>Physical Layer</a:t>
            </a:r>
            <a:r>
              <a:rPr lang="en-US" dirty="0"/>
              <a:t/>
            </a:r>
            <a:br>
              <a:rPr lang="en-US" dirty="0"/>
            </a:br>
            <a:endParaRPr lang="en-US" dirty="0"/>
          </a:p>
        </p:txBody>
      </p:sp>
      <p:sp>
        <p:nvSpPr>
          <p:cNvPr id="3" name="Content Placeholder 2"/>
          <p:cNvSpPr>
            <a:spLocks noGrp="1"/>
          </p:cNvSpPr>
          <p:nvPr>
            <p:ph sz="quarter" idx="13"/>
          </p:nvPr>
        </p:nvSpPr>
        <p:spPr>
          <a:xfrm>
            <a:off x="609600" y="889635"/>
            <a:ext cx="10972800" cy="5636895"/>
          </a:xfrm>
        </p:spPr>
        <p:txBody>
          <a:bodyPr>
            <a:normAutofit fontScale="25000" lnSpcReduction="20000"/>
          </a:bodyPr>
          <a:lstStyle/>
          <a:p>
            <a:pPr marL="0" indent="0">
              <a:buNone/>
            </a:pPr>
            <a:r>
              <a:rPr lang="en-US" sz="8800" dirty="0" smtClean="0"/>
              <a:t>This is the first and  oldest layer of the OSI model.</a:t>
            </a:r>
          </a:p>
          <a:p>
            <a:pPr>
              <a:buFont typeface="Wingdings" panose="05000000000000000000" charset="0"/>
              <a:buChar char="Ø"/>
            </a:pPr>
            <a:r>
              <a:rPr lang="en-US" sz="8800" dirty="0" smtClean="0"/>
              <a:t>  Its responsible for converting and transmitting raw binary data bits(0s and1s) across a physical network medium.</a:t>
            </a:r>
          </a:p>
          <a:p>
            <a:pPr>
              <a:buFont typeface="Wingdings" panose="05000000000000000000" charset="0"/>
              <a:buChar char="Ø"/>
            </a:pPr>
            <a:r>
              <a:rPr lang="en-US" sz="8800" dirty="0" smtClean="0"/>
              <a:t> Sends individial raw data bits from one node to another with out interpreting their meanig.</a:t>
            </a:r>
          </a:p>
          <a:p>
            <a:pPr>
              <a:buFont typeface="Wingdings" panose="05000000000000000000" charset="0"/>
              <a:buChar char="Ø"/>
            </a:pPr>
            <a:r>
              <a:rPr lang="en-US" sz="8800" dirty="0" smtClean="0"/>
              <a:t> It also converts digital bits into electrical voltages, light pulses or radio frequency waves.</a:t>
            </a:r>
          </a:p>
          <a:p>
            <a:pPr>
              <a:buFont typeface="Wingdings" panose="05000000000000000000" charset="0"/>
              <a:buChar char="Ø"/>
            </a:pPr>
            <a:r>
              <a:rPr lang="en-US" sz="8800" dirty="0" smtClean="0"/>
              <a:t>manages the transmission speed (bit rate) and clock synchronization between the sender an reciever.</a:t>
            </a:r>
          </a:p>
          <a:p>
            <a:pPr>
              <a:buFont typeface="Wingdings" panose="05000000000000000000" charset="0"/>
              <a:buChar char="Ø"/>
            </a:pPr>
            <a:r>
              <a:rPr lang="en-US" sz="8800" dirty="0" smtClean="0"/>
              <a:t>controls how data flows across the medium using simplex, half-duplex and full duplex.</a:t>
            </a:r>
          </a:p>
          <a:p>
            <a:pPr>
              <a:buFont typeface="Wingdings" panose="05000000000000000000" charset="0"/>
              <a:buChar char="Ø"/>
            </a:pPr>
            <a:r>
              <a:rPr lang="en-US" sz="8800" dirty="0" smtClean="0"/>
              <a:t>Also defines how physical devices are arranged, such as in star ,bus, and many others</a:t>
            </a:r>
          </a:p>
          <a:p>
            <a:pPr>
              <a:buFont typeface="Wingdings" panose="05000000000000000000" charset="0"/>
              <a:buChar char="Ø"/>
            </a:pPr>
            <a:r>
              <a:rPr lang="en-US" sz="8800" dirty="0"/>
              <a:t>The standard protocols are governed by specifications in the Cable standards(Ethernet), wireless standards(wifi , bluetooth), and fiber optic standards.  </a:t>
            </a:r>
            <a:r>
              <a:rPr lang="en-US" dirty="0" smtClean="0"/>
              <a:t> </a:t>
            </a: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63320"/>
          </a:xfrm>
        </p:spPr>
        <p:txBody>
          <a:bodyPr/>
          <a:lstStyle/>
          <a:p>
            <a:pPr algn="ctr"/>
            <a:r>
              <a:rPr lang="en-US" altLang="en-GB" b="1" dirty="0" smtClean="0"/>
              <a:t>E</a:t>
            </a:r>
            <a:r>
              <a:rPr lang="en-GB" b="1" dirty="0" smtClean="0"/>
              <a:t>XAMPLES </a:t>
            </a:r>
            <a:r>
              <a:rPr lang="en-GB" b="1" smtClean="0"/>
              <a:t>OF PROTOCOLS UNDER PHYSICAL </a:t>
            </a:r>
            <a:r>
              <a:rPr lang="en-GB" b="1" dirty="0" smtClean="0"/>
              <a:t>LAYER </a:t>
            </a:r>
            <a:endParaRPr lang="en-US" b="1" dirty="0"/>
          </a:p>
        </p:txBody>
      </p:sp>
      <p:sp>
        <p:nvSpPr>
          <p:cNvPr id="3" name="Content Placeholder 2"/>
          <p:cNvSpPr>
            <a:spLocks noGrp="1"/>
          </p:cNvSpPr>
          <p:nvPr>
            <p:ph idx="1"/>
          </p:nvPr>
        </p:nvSpPr>
        <p:spPr/>
        <p:txBody>
          <a:bodyPr>
            <a:normAutofit fontScale="97500" lnSpcReduction="10000"/>
          </a:bodyPr>
          <a:lstStyle/>
          <a:p>
            <a:pPr marL="0" indent="0">
              <a:buNone/>
            </a:pPr>
            <a:endParaRPr lang="en-GB" dirty="0" smtClean="0"/>
          </a:p>
          <a:p>
            <a:pPr lvl="1">
              <a:buFont typeface="Wingdings" panose="05000000000000000000" charset="0"/>
              <a:buChar char="Ø"/>
            </a:pPr>
            <a:r>
              <a:rPr lang="en-US" sz="3200" b="1" dirty="0" smtClean="0"/>
              <a:t>Ethernet physical </a:t>
            </a:r>
            <a:r>
              <a:rPr lang="en-US" sz="3200" b="1" dirty="0"/>
              <a:t>standards:</a:t>
            </a:r>
            <a:r>
              <a:rPr lang="en-US" sz="3200" dirty="0"/>
              <a:t> transmit data over copper or </a:t>
            </a:r>
            <a:r>
              <a:rPr lang="en-US" sz="3200" dirty="0" smtClean="0"/>
              <a:t>fiber.</a:t>
            </a:r>
          </a:p>
          <a:p>
            <a:pPr lvl="1">
              <a:buFont typeface="Wingdings" panose="05000000000000000000" charset="0"/>
              <a:buChar char="Ø"/>
            </a:pPr>
            <a:r>
              <a:rPr lang="en-US" sz="3200" b="1" dirty="0" smtClean="0"/>
              <a:t>Wi-Fi radio standards (IEEE 802.11):</a:t>
            </a:r>
            <a:r>
              <a:rPr lang="en-US" sz="3200" dirty="0" smtClean="0"/>
              <a:t>transmit bits using radio waves.</a:t>
            </a:r>
          </a:p>
          <a:p>
            <a:pPr>
              <a:buFont typeface="Wingdings" panose="05000000000000000000" charset="0"/>
              <a:buChar char="Ø"/>
            </a:pPr>
            <a:r>
              <a:rPr lang="en-US" sz="3200" b="1" dirty="0" smtClean="0"/>
              <a:t> DSL</a:t>
            </a:r>
            <a:r>
              <a:rPr lang="en-US" sz="3200" dirty="0"/>
              <a:t> carries digital data over telephone </a:t>
            </a:r>
            <a:r>
              <a:rPr lang="en-US" sz="3200" dirty="0" smtClean="0"/>
              <a:t>lines</a:t>
            </a:r>
          </a:p>
          <a:p>
            <a:pPr lvl="1">
              <a:buFont typeface="Wingdings" panose="05000000000000000000" charset="0"/>
              <a:buChar char="Ø"/>
            </a:pPr>
            <a:r>
              <a:rPr lang="en-US" sz="3200" b="1" dirty="0" smtClean="0"/>
              <a:t>Fiber-optic </a:t>
            </a:r>
            <a:r>
              <a:rPr lang="en-US" sz="3200" b="1" dirty="0"/>
              <a:t>standards,</a:t>
            </a:r>
            <a:r>
              <a:rPr lang="en-US" sz="3200" dirty="0"/>
              <a:t>transmit data using pulses of light.</a:t>
            </a:r>
          </a:p>
          <a:p>
            <a:pPr>
              <a:buFont typeface="Wingdings" panose="05000000000000000000" charset="0"/>
              <a:buChar char="Ø"/>
            </a:pPr>
            <a:r>
              <a:rPr lang="en-US" sz="3200" b="1" dirty="0"/>
              <a:t> </a:t>
            </a:r>
            <a:r>
              <a:rPr lang="en-US" sz="3200" b="1" dirty="0" smtClean="0"/>
              <a:t>USB</a:t>
            </a:r>
            <a:r>
              <a:rPr lang="en-US" sz="3200" dirty="0"/>
              <a:t> </a:t>
            </a:r>
            <a:r>
              <a:rPr lang="en-US" sz="3200" dirty="0" smtClean="0"/>
              <a:t>defines </a:t>
            </a:r>
            <a:r>
              <a:rPr lang="en-US" sz="3200" dirty="0"/>
              <a:t>physical communication between </a:t>
            </a:r>
            <a:r>
              <a:rPr lang="en-US" sz="3200" dirty="0" smtClean="0"/>
              <a:t>device</a:t>
            </a:r>
            <a:r>
              <a:rPr lang="en-GB" sz="3200" dirty="0" smtClean="0"/>
              <a:t>    Data unit; Bits</a:t>
            </a:r>
            <a:endParaRPr lang="en-US" sz="3200" dirty="0"/>
          </a:p>
          <a:p>
            <a:pPr>
              <a:buFont typeface="Wingdings" panose="05000000000000000000" charset="0"/>
              <a:buChar char="Ø"/>
            </a:pPr>
            <a:endParaRPr lang="en-US" dirty="0"/>
          </a:p>
        </p:txBody>
      </p:sp>
      <p:sp>
        <p:nvSpPr>
          <p:cNvPr id="10" name="Rectangle 7"/>
          <p:cNvSpPr>
            <a:spLocks noChangeArrowheads="1"/>
          </p:cNvSpPr>
          <p:nvPr/>
        </p:nvSpPr>
        <p:spPr bwMode="auto">
          <a:xfrm>
            <a:off x="0" y="0"/>
            <a:ext cx="12192000" cy="1053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101568"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1300" b="1" i="0" u="none" strike="noStrike" cap="none" normalizeH="0" baseline="0" smtClean="0">
                <a:ln>
                  <a:noFill/>
                </a:ln>
                <a:solidFill>
                  <a:srgbClr val="0D0D0D"/>
                </a:solidFill>
                <a:effectLst/>
                <a:latin typeface="Segoe UI" panose="020B0502040204020203" pitchFamily="34" charset="0"/>
                <a:ea typeface="Times New Roman" panose="02020603050405020304" pitchFamily="18" charset="0"/>
                <a:cs typeface="Segoe UI" panose="020B0502040204020203" pitchFamily="34" charset="0"/>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714500"/>
          </a:xfrm>
        </p:spPr>
        <p:txBody>
          <a:bodyPr/>
          <a:lstStyle/>
          <a:p>
            <a:pPr algn="ctr"/>
            <a:r>
              <a:rPr lang="en-US" sz="5400" b="1" dirty="0"/>
              <a:t>2. Data Link Layer</a:t>
            </a:r>
            <a:r>
              <a:rPr lang="en-US" dirty="0"/>
              <a:t/>
            </a:r>
            <a:br>
              <a:rPr lang="en-US" dirty="0"/>
            </a:br>
            <a:endParaRPr lang="en-US" dirty="0"/>
          </a:p>
        </p:txBody>
      </p:sp>
      <p:sp>
        <p:nvSpPr>
          <p:cNvPr id="3" name="Content Placeholder 2"/>
          <p:cNvSpPr>
            <a:spLocks noGrp="1"/>
          </p:cNvSpPr>
          <p:nvPr>
            <p:ph idx="1"/>
          </p:nvPr>
        </p:nvSpPr>
        <p:spPr>
          <a:xfrm>
            <a:off x="609600" y="2456815"/>
            <a:ext cx="10972800" cy="3670935"/>
          </a:xfrm>
        </p:spPr>
        <p:txBody>
          <a:bodyPr>
            <a:normAutofit/>
          </a:bodyPr>
          <a:lstStyle/>
          <a:p>
            <a:pPr marL="0" indent="0">
              <a:buNone/>
            </a:pPr>
            <a:r>
              <a:rPr lang="en-US" sz="4000" dirty="0" smtClean="0"/>
              <a:t>The </a:t>
            </a:r>
            <a:r>
              <a:rPr lang="en-US" sz="4000" b="1" dirty="0" smtClean="0"/>
              <a:t>Data Link Layer</a:t>
            </a:r>
            <a:r>
              <a:rPr lang="en-US" sz="4000" dirty="0" smtClean="0"/>
              <a:t> provides reliable communication between two devices that are directly connected on the same network </a:t>
            </a:r>
            <a:r>
              <a:rPr lang="en-US" sz="4000" dirty="0"/>
              <a:t>segment.</a:t>
            </a:r>
          </a:p>
          <a:p>
            <a:pPr marL="0" indent="0">
              <a:buNone/>
            </a:pPr>
            <a:endParaRPr lang="en-US" sz="40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51535"/>
          </a:xfrm>
        </p:spPr>
        <p:txBody>
          <a:bodyPr/>
          <a:lstStyle/>
          <a:p>
            <a:pPr algn="ctr"/>
            <a:r>
              <a:rPr lang="en-US" sz="4400" b="1" dirty="0" smtClean="0"/>
              <a:t>Responsibilities</a:t>
            </a:r>
            <a:r>
              <a:rPr lang="en-US" sz="4400" dirty="0" smtClean="0"/>
              <a:t> </a:t>
            </a:r>
            <a:r>
              <a:rPr lang="en-US" sz="4400" b="1" dirty="0" smtClean="0"/>
              <a:t>of Data link layer</a:t>
            </a:r>
          </a:p>
        </p:txBody>
      </p:sp>
      <p:sp>
        <p:nvSpPr>
          <p:cNvPr id="3" name="Content Placeholder 2"/>
          <p:cNvSpPr>
            <a:spLocks noGrp="1"/>
          </p:cNvSpPr>
          <p:nvPr>
            <p:ph idx="1"/>
          </p:nvPr>
        </p:nvSpPr>
        <p:spPr>
          <a:xfrm>
            <a:off x="609600" y="1383030"/>
            <a:ext cx="10972800" cy="4744720"/>
          </a:xfrm>
        </p:spPr>
        <p:txBody>
          <a:bodyPr>
            <a:normAutofit/>
          </a:bodyPr>
          <a:lstStyle/>
          <a:p>
            <a:pPr lvl="1">
              <a:buFont typeface="Wingdings" panose="05000000000000000000" pitchFamily="2" charset="2"/>
              <a:buChar char="Ø"/>
            </a:pPr>
            <a:r>
              <a:rPr lang="en-US" sz="3200" dirty="0"/>
              <a:t>Packages bits into </a:t>
            </a:r>
            <a:r>
              <a:rPr lang="en-US" sz="3200" b="1" dirty="0"/>
              <a:t>frames</a:t>
            </a:r>
            <a:r>
              <a:rPr lang="en-US" sz="3200" dirty="0"/>
              <a:t>.</a:t>
            </a:r>
          </a:p>
          <a:p>
            <a:pPr lvl="1">
              <a:buFont typeface="Wingdings" panose="05000000000000000000" pitchFamily="2" charset="2"/>
              <a:buChar char="Ø"/>
            </a:pPr>
            <a:r>
              <a:rPr lang="en-US" sz="3200" dirty="0"/>
              <a:t>Uses </a:t>
            </a:r>
            <a:r>
              <a:rPr lang="en-US" sz="3200" b="1" dirty="0"/>
              <a:t>MAC addresses</a:t>
            </a:r>
            <a:r>
              <a:rPr lang="en-US" sz="3200" dirty="0"/>
              <a:t> to identify devices on a local network.</a:t>
            </a:r>
          </a:p>
          <a:p>
            <a:pPr lvl="1">
              <a:buFont typeface="Wingdings" panose="05000000000000000000" pitchFamily="2" charset="2"/>
              <a:buChar char="Ø"/>
            </a:pPr>
            <a:r>
              <a:rPr lang="en-US" sz="3200" dirty="0"/>
              <a:t>Detects transmission errors, commonly using checksums such as CRC.</a:t>
            </a:r>
          </a:p>
          <a:p>
            <a:pPr lvl="1">
              <a:buFont typeface="Wingdings" panose="05000000000000000000" pitchFamily="2" charset="2"/>
              <a:buChar char="Ø"/>
            </a:pPr>
            <a:r>
              <a:rPr lang="en-US" sz="3200" dirty="0"/>
              <a:t>Controls access to the shared transmission medium.</a:t>
            </a:r>
          </a:p>
          <a:p>
            <a:pPr lvl="1">
              <a:buFont typeface="Wingdings" panose="05000000000000000000" pitchFamily="2" charset="2"/>
              <a:buChar char="Ø"/>
            </a:pPr>
            <a:r>
              <a:rPr lang="en-US" sz="3200" dirty="0" smtClean="0"/>
              <a:t>Provides </a:t>
            </a:r>
            <a:r>
              <a:rPr lang="en-US" sz="3200" dirty="0"/>
              <a:t>link-level flow control in some technologies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normAutofit/>
          </a:bodyPr>
          <a:lstStyle/>
          <a:p>
            <a:r>
              <a:rPr lang="en-US" b="1" dirty="0" smtClean="0"/>
              <a:t>     Examples </a:t>
            </a:r>
            <a:r>
              <a:rPr lang="en-US" b="1" dirty="0"/>
              <a:t>of </a:t>
            </a:r>
            <a:r>
              <a:rPr lang="en-US" b="1" dirty="0" smtClean="0"/>
              <a:t>protocols under Data Link Layer </a:t>
            </a:r>
            <a:endParaRPr lang="en-US" dirty="0"/>
          </a:p>
        </p:txBody>
      </p:sp>
      <p:sp>
        <p:nvSpPr>
          <p:cNvPr id="3" name="Content Placeholder 2"/>
          <p:cNvSpPr>
            <a:spLocks noGrp="1"/>
          </p:cNvSpPr>
          <p:nvPr>
            <p:ph idx="1"/>
          </p:nvPr>
        </p:nvSpPr>
        <p:spPr>
          <a:xfrm>
            <a:off x="609600" y="1338580"/>
            <a:ext cx="10972800" cy="4789170"/>
          </a:xfrm>
        </p:spPr>
        <p:txBody>
          <a:bodyPr>
            <a:normAutofit lnSpcReduction="10000"/>
          </a:bodyPr>
          <a:lstStyle/>
          <a:p>
            <a:r>
              <a:rPr lang="en-US" b="1" dirty="0"/>
              <a:t>Ethernet (IEEE 802.3)</a:t>
            </a:r>
            <a:r>
              <a:rPr lang="en-US" dirty="0"/>
              <a:t/>
            </a:r>
            <a:br>
              <a:rPr lang="en-US" dirty="0"/>
            </a:br>
            <a:r>
              <a:rPr lang="en-US" dirty="0"/>
              <a:t>Defines how devices communicate on wired local-area networks, including Ethernet frames and MAC addressing.</a:t>
            </a:r>
          </a:p>
          <a:p>
            <a:r>
              <a:rPr lang="en-US" b="1" dirty="0"/>
              <a:t>Wi-Fi (IEEE 802.11)</a:t>
            </a:r>
            <a:r>
              <a:rPr lang="en-US" dirty="0"/>
              <a:t/>
            </a:r>
            <a:br>
              <a:rPr lang="en-US" dirty="0"/>
            </a:br>
            <a:r>
              <a:rPr lang="en-US" dirty="0"/>
              <a:t>Provides wireless LAN communication, including wireless frames and media-access mechanisms.</a:t>
            </a:r>
          </a:p>
          <a:p>
            <a:r>
              <a:rPr lang="en-US" b="1" dirty="0"/>
              <a:t>PPP (Point-to-Point Protocol)</a:t>
            </a:r>
            <a:r>
              <a:rPr lang="en-US" dirty="0"/>
              <a:t/>
            </a:r>
            <a:br>
              <a:rPr lang="en-US" dirty="0"/>
            </a:br>
            <a:r>
              <a:rPr lang="en-US" dirty="0"/>
              <a:t>Provides data-link communication over point-to-point connections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r>
              <a:rPr lang="en-US" sz="3600" b="1" dirty="0"/>
              <a:t>ARP (Address Resolution Protocol)</a:t>
            </a:r>
            <a:r>
              <a:rPr lang="en-US" sz="3600" dirty="0"/>
              <a:t/>
            </a:r>
            <a:br>
              <a:rPr lang="en-US" sz="3600" dirty="0"/>
            </a:br>
            <a:r>
              <a:rPr lang="en-US" sz="3600" dirty="0"/>
              <a:t>Maps an IPv4 address to a device's MAC address on a local network. ARP is often associated with Layer 2, although its exact OSI classification is somewhat debated.</a:t>
            </a:r>
          </a:p>
          <a:p>
            <a:pPr marL="0" indent="0">
              <a:buNone/>
            </a:pPr>
            <a:endParaRPr lang="en-US" sz="3600" b="1" dirty="0" smtClean="0"/>
          </a:p>
          <a:p>
            <a:pPr marL="0" indent="0">
              <a:buNone/>
            </a:pPr>
            <a:r>
              <a:rPr lang="en-US" sz="3600" b="1" dirty="0"/>
              <a:t> </a:t>
            </a:r>
            <a:r>
              <a:rPr lang="en-US" sz="3600" b="1" dirty="0" smtClean="0"/>
              <a:t> </a:t>
            </a:r>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80110"/>
          </a:xfrm>
        </p:spPr>
        <p:txBody>
          <a:bodyPr/>
          <a:lstStyle/>
          <a:p>
            <a:pPr algn="ctr"/>
            <a:r>
              <a:rPr lang="en-US" b="1" dirty="0"/>
              <a:t>3</a:t>
            </a:r>
            <a:r>
              <a:rPr lang="en-US" b="1" dirty="0" smtClean="0"/>
              <a:t>. Network </a:t>
            </a:r>
            <a:r>
              <a:rPr lang="en-US" b="1" dirty="0"/>
              <a:t>Layer</a:t>
            </a:r>
            <a:endParaRPr lang="en-US" dirty="0"/>
          </a:p>
        </p:txBody>
      </p:sp>
      <p:sp>
        <p:nvSpPr>
          <p:cNvPr id="3" name="Content Placeholder 2"/>
          <p:cNvSpPr>
            <a:spLocks noGrp="1"/>
          </p:cNvSpPr>
          <p:nvPr>
            <p:ph idx="1"/>
          </p:nvPr>
        </p:nvSpPr>
        <p:spPr>
          <a:xfrm>
            <a:off x="609600" y="1502410"/>
            <a:ext cx="10972800" cy="4625340"/>
          </a:xfrm>
        </p:spPr>
        <p:txBody>
          <a:bodyPr/>
          <a:lstStyle/>
          <a:p>
            <a:pPr marL="0" indent="0">
              <a:buNone/>
            </a:pPr>
            <a:r>
              <a:rPr lang="en-US" sz="4000" dirty="0"/>
              <a:t>The </a:t>
            </a:r>
            <a:r>
              <a:rPr lang="en-US" sz="4000" b="1" dirty="0"/>
              <a:t>Network Layer</a:t>
            </a:r>
            <a:r>
              <a:rPr lang="en-US" sz="4000" dirty="0"/>
              <a:t> is responsible for delivering packets between different networks. Its major functions are </a:t>
            </a:r>
            <a:r>
              <a:rPr lang="en-US" sz="4000" b="1" dirty="0"/>
              <a:t>logical addressing and routing</a:t>
            </a:r>
            <a:r>
              <a:rPr lang="en-US" sz="4000" dirty="0"/>
              <a:t>.</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62000"/>
          </a:xfrm>
        </p:spPr>
        <p:txBody>
          <a:bodyPr/>
          <a:lstStyle/>
          <a:p>
            <a:pPr algn="ctr"/>
            <a:r>
              <a:rPr lang="en-US" b="1" dirty="0" smtClean="0"/>
              <a:t>Responsibilities</a:t>
            </a:r>
            <a:r>
              <a:rPr lang="en-US" dirty="0"/>
              <a:t> </a:t>
            </a:r>
            <a:r>
              <a:rPr lang="en-US" b="1" dirty="0" smtClean="0"/>
              <a:t>of network layer</a:t>
            </a:r>
            <a:endParaRPr lang="en-US" b="1" dirty="0"/>
          </a:p>
        </p:txBody>
      </p:sp>
      <p:sp>
        <p:nvSpPr>
          <p:cNvPr id="3" name="Content Placeholder 2"/>
          <p:cNvSpPr>
            <a:spLocks noGrp="1"/>
          </p:cNvSpPr>
          <p:nvPr>
            <p:ph idx="1"/>
          </p:nvPr>
        </p:nvSpPr>
        <p:spPr/>
        <p:txBody>
          <a:bodyPr>
            <a:normAutofit fontScale="97500" lnSpcReduction="10000"/>
          </a:bodyPr>
          <a:lstStyle/>
          <a:p>
            <a:pPr lvl="1">
              <a:buFont typeface="Wingdings" panose="05000000000000000000" charset="0"/>
              <a:buChar char="Ø"/>
            </a:pPr>
            <a:r>
              <a:rPr lang="en-US" sz="3600" dirty="0"/>
              <a:t>Provides logical addressing, such as IP addresses.</a:t>
            </a:r>
          </a:p>
          <a:p>
            <a:pPr lvl="1">
              <a:buFont typeface="Wingdings" panose="05000000000000000000" charset="0"/>
              <a:buChar char="Ø"/>
            </a:pPr>
            <a:r>
              <a:rPr lang="en-US" sz="3600" dirty="0"/>
              <a:t>Determines the best route from source to destination.</a:t>
            </a:r>
          </a:p>
          <a:p>
            <a:pPr lvl="1">
              <a:buFont typeface="Wingdings" panose="05000000000000000000" charset="0"/>
              <a:buChar char="Ø"/>
            </a:pPr>
            <a:r>
              <a:rPr lang="en-US" sz="3600" dirty="0"/>
              <a:t>Forwards packets between networks.</a:t>
            </a:r>
          </a:p>
          <a:p>
            <a:pPr lvl="1">
              <a:buFont typeface="Wingdings" panose="05000000000000000000" charset="0"/>
              <a:buChar char="Ø"/>
            </a:pPr>
            <a:r>
              <a:rPr lang="en-US" sz="3600" dirty="0"/>
              <a:t>Handles packet fragmentation in protocols that support it.</a:t>
            </a:r>
          </a:p>
          <a:p>
            <a:pPr lvl="1">
              <a:buFont typeface="Wingdings" panose="05000000000000000000" charset="0"/>
              <a:buChar char="Ø"/>
            </a:pPr>
            <a:r>
              <a:rPr lang="en-US" sz="3600" dirty="0"/>
              <a:t>Provides mechanisms for reporting certain network-level errors.</a:t>
            </a:r>
          </a:p>
          <a:p>
            <a:pPr>
              <a:buFont typeface="Wingdings" panose="05000000000000000000" charset="0"/>
              <a:buChar char="Ø"/>
            </a:pPr>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a:t>
            </a:r>
            <a:r>
              <a:rPr lang="en-US" b="1" dirty="0" smtClean="0"/>
              <a:t>protocols under Network Layer</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charset="0"/>
              <a:buChar char="Ø"/>
            </a:pPr>
            <a:r>
              <a:rPr lang="en-US" b="1" dirty="0"/>
              <a:t>IP (Internet Protocol)</a:t>
            </a:r>
            <a:r>
              <a:rPr lang="en-US" dirty="0"/>
              <a:t/>
            </a:r>
            <a:br>
              <a:rPr lang="en-US" dirty="0"/>
            </a:br>
            <a:r>
              <a:rPr lang="en-US" dirty="0"/>
              <a:t>Provides logical addressing and packet delivery between networks.</a:t>
            </a:r>
            <a:endParaRPr lang="en-US" sz="2000" dirty="0"/>
          </a:p>
          <a:p>
            <a:pPr lvl="1">
              <a:buFont typeface="Wingdings" panose="05000000000000000000" charset="0"/>
              <a:buChar char="v"/>
            </a:pPr>
            <a:r>
              <a:rPr lang="en-US" b="1" dirty="0"/>
              <a:t>IPv4</a:t>
            </a:r>
            <a:r>
              <a:rPr lang="en-US" dirty="0"/>
              <a:t> uses 32-bit addresses.</a:t>
            </a:r>
            <a:endParaRPr lang="en-US" sz="1800" dirty="0"/>
          </a:p>
          <a:p>
            <a:pPr lvl="1">
              <a:buFont typeface="Wingdings" panose="05000000000000000000" charset="0"/>
              <a:buChar char="v"/>
            </a:pPr>
            <a:r>
              <a:rPr lang="en-US" b="1" dirty="0"/>
              <a:t>IPv6</a:t>
            </a:r>
            <a:r>
              <a:rPr lang="en-US" dirty="0"/>
              <a:t> uses 128-bit addresses.</a:t>
            </a:r>
            <a:endParaRPr lang="en-US" sz="1800" dirty="0"/>
          </a:p>
          <a:p>
            <a:pPr>
              <a:buFont typeface="Wingdings" panose="05000000000000000000" charset="0"/>
              <a:buChar char="Ø"/>
            </a:pPr>
            <a:r>
              <a:rPr lang="en-US" b="1" dirty="0"/>
              <a:t>ICMP (Internet Control Message Protocol)</a:t>
            </a:r>
            <a:r>
              <a:rPr lang="en-US" dirty="0"/>
              <a:t/>
            </a:r>
            <a:br>
              <a:rPr lang="en-US" dirty="0"/>
            </a:br>
            <a:r>
              <a:rPr lang="en-US" dirty="0"/>
              <a:t>Carries network-control and error-reporting messages. For example, the </a:t>
            </a:r>
            <a:r>
              <a:rPr lang="en-US" sz="1600" dirty="0"/>
              <a:t>ping</a:t>
            </a:r>
            <a:r>
              <a:rPr lang="en-US" dirty="0"/>
              <a:t> utility uses ICMP Echo messages.</a:t>
            </a:r>
            <a:endParaRPr lang="en-US" sz="2000" dirty="0"/>
          </a:p>
          <a:p>
            <a:pPr>
              <a:buFont typeface="Wingdings" panose="05000000000000000000" charset="0"/>
              <a:buChar char="Ø"/>
            </a:pPr>
            <a:r>
              <a:rPr lang="en-US" b="1" dirty="0"/>
              <a:t>OSPF (Open Shortest Path First)</a:t>
            </a:r>
            <a:r>
              <a:rPr lang="en-US" dirty="0"/>
              <a:t/>
            </a:r>
            <a:br>
              <a:rPr lang="en-US" dirty="0"/>
            </a:br>
            <a:r>
              <a:rPr lang="en-US" dirty="0"/>
              <a:t>A routing protocol used within an autonomous system to calculate routes based on link-state information.</a:t>
            </a:r>
            <a:endParaRPr lang="en-US" sz="2000" dirty="0"/>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BGP (Border Gateway Protocol)</a:t>
            </a:r>
            <a:r>
              <a:rPr lang="en-US" sz="3200" dirty="0"/>
              <a:t/>
            </a:r>
            <a:br>
              <a:rPr lang="en-US" sz="3200" dirty="0"/>
            </a:br>
            <a:r>
              <a:rPr lang="en-US" sz="3200" dirty="0"/>
              <a:t>Exchanges routing information between autonomous systems and is fundamental to Internet routing.</a:t>
            </a:r>
          </a:p>
          <a:p>
            <a:pPr>
              <a:buFont typeface="Wingdings" panose="05000000000000000000" charset="0"/>
              <a:buChar char="Ø"/>
            </a:pPr>
            <a:r>
              <a:rPr lang="en-US" sz="3200" b="1" dirty="0"/>
              <a:t>IPsec</a:t>
            </a:r>
            <a:r>
              <a:rPr lang="en-US" sz="3200" dirty="0"/>
              <a:t/>
            </a:r>
            <a:br>
              <a:rPr lang="en-US" sz="3200" dirty="0"/>
            </a:br>
            <a:r>
              <a:rPr lang="en-US" sz="3200" dirty="0"/>
              <a:t>Provides security services such as authentication and encryption for IP communications.</a:t>
            </a:r>
          </a:p>
          <a:p>
            <a:pPr marL="0" indent="0">
              <a:buFont typeface="Wingdings" panose="05000000000000000000" charset="0"/>
              <a:buNone/>
            </a:pPr>
            <a:endParaRPr lang="en-US" sz="3200" dirty="0"/>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sz="4400" b="1" dirty="0" smtClean="0"/>
              <a:t>4.  </a:t>
            </a:r>
            <a:r>
              <a:rPr lang="en-US" sz="4400" b="1" dirty="0"/>
              <a:t>Transport Layer</a:t>
            </a:r>
          </a:p>
        </p:txBody>
      </p:sp>
      <p:sp>
        <p:nvSpPr>
          <p:cNvPr id="3" name="Content Placeholder 2"/>
          <p:cNvSpPr>
            <a:spLocks noGrp="1"/>
          </p:cNvSpPr>
          <p:nvPr>
            <p:ph idx="1"/>
          </p:nvPr>
        </p:nvSpPr>
        <p:spPr/>
        <p:txBody>
          <a:bodyPr/>
          <a:lstStyle/>
          <a:p>
            <a:pPr marL="0" indent="0">
              <a:buNone/>
            </a:pPr>
            <a:r>
              <a:rPr lang="en-US" sz="4800" dirty="0" smtClean="0"/>
              <a:t>The</a:t>
            </a:r>
            <a:r>
              <a:rPr lang="en-US" sz="4800" dirty="0"/>
              <a:t> </a:t>
            </a:r>
            <a:r>
              <a:rPr lang="en-US" sz="4800" b="1" dirty="0"/>
              <a:t>Transport Layer</a:t>
            </a:r>
            <a:r>
              <a:rPr lang="en-US" sz="4800" dirty="0"/>
              <a:t> provides communication between applications running on different devices. It is responsible for </a:t>
            </a:r>
            <a:r>
              <a:rPr lang="en-US" sz="4800" b="1" dirty="0"/>
              <a:t>end-to-end delivery</a:t>
            </a:r>
            <a:r>
              <a:rPr lang="en-US" sz="4800"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GB" sz="4000" b="1" dirty="0" smtClean="0"/>
              <a:t>Responsibilities of Transport Layer</a:t>
            </a:r>
          </a:p>
        </p:txBody>
      </p:sp>
      <p:sp>
        <p:nvSpPr>
          <p:cNvPr id="3" name="Content Placeholder 2"/>
          <p:cNvSpPr>
            <a:spLocks noGrp="1"/>
          </p:cNvSpPr>
          <p:nvPr>
            <p:ph idx="1"/>
          </p:nvPr>
        </p:nvSpPr>
        <p:spPr/>
        <p:txBody>
          <a:bodyPr>
            <a:normAutofit fontScale="97500"/>
          </a:bodyPr>
          <a:lstStyle/>
          <a:p>
            <a:pPr lvl="1">
              <a:buFont typeface="Wingdings" panose="05000000000000000000" charset="0"/>
              <a:buChar char="Ø"/>
            </a:pPr>
            <a:r>
              <a:rPr lang="en-US" sz="3200" dirty="0"/>
              <a:t>Divides application data into smaller units when necessary.</a:t>
            </a:r>
          </a:p>
          <a:p>
            <a:pPr lvl="1">
              <a:buFont typeface="Wingdings" panose="05000000000000000000" charset="0"/>
              <a:buChar char="Ø"/>
            </a:pPr>
            <a:r>
              <a:rPr lang="en-US" sz="3200" dirty="0"/>
              <a:t>Reassembles data at the destination.</a:t>
            </a:r>
          </a:p>
          <a:p>
            <a:pPr lvl="1">
              <a:buFont typeface="Wingdings" panose="05000000000000000000" charset="0"/>
              <a:buChar char="Ø"/>
            </a:pPr>
            <a:r>
              <a:rPr lang="en-US" sz="3200" dirty="0"/>
              <a:t>Provides reliability when required.</a:t>
            </a:r>
          </a:p>
          <a:p>
            <a:pPr lvl="1">
              <a:buFont typeface="Wingdings" panose="05000000000000000000" charset="0"/>
              <a:buChar char="Ø"/>
            </a:pPr>
            <a:r>
              <a:rPr lang="en-US" sz="3200" dirty="0"/>
              <a:t>Performs flow control.</a:t>
            </a:r>
          </a:p>
          <a:p>
            <a:pPr lvl="1">
              <a:buFont typeface="Wingdings" panose="05000000000000000000" charset="0"/>
              <a:buChar char="Ø"/>
            </a:pPr>
            <a:r>
              <a:rPr lang="en-US" sz="3200" dirty="0"/>
              <a:t>Provides error recovery.</a:t>
            </a:r>
          </a:p>
          <a:p>
            <a:pPr lvl="1">
              <a:buFont typeface="Wingdings" panose="05000000000000000000" charset="0"/>
              <a:buChar char="Ø"/>
            </a:pPr>
            <a:r>
              <a:rPr lang="en-US" sz="3200" dirty="0"/>
              <a:t>Uses </a:t>
            </a:r>
            <a:r>
              <a:rPr lang="en-US" sz="3200" b="1" dirty="0"/>
              <a:t>port numbers</a:t>
            </a:r>
            <a:r>
              <a:rPr lang="en-US" sz="3200" dirty="0"/>
              <a:t> to deliver data to the appropriate application.</a:t>
            </a:r>
          </a:p>
          <a:p>
            <a:pPr lvl="1">
              <a:buFont typeface="Wingdings" panose="05000000000000000000" charset="0"/>
              <a:buChar char="Ø"/>
            </a:pPr>
            <a:r>
              <a:rPr lang="en-US" sz="3200" dirty="0"/>
              <a:t>Can provide congestion-control mechanisms.</a:t>
            </a:r>
          </a:p>
          <a:p>
            <a:pPr marL="0" indent="0">
              <a:buFont typeface="Wingdings" panose="05000000000000000000" charse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31520"/>
          </a:xfrm>
        </p:spPr>
        <p:txBody>
          <a:bodyPr/>
          <a:lstStyle/>
          <a:p>
            <a:pPr algn="ctr"/>
            <a:r>
              <a:rPr lang="en-US" b="1" dirty="0"/>
              <a:t>Major </a:t>
            </a:r>
            <a:r>
              <a:rPr lang="en-US" b="1" dirty="0" smtClean="0"/>
              <a:t>protocols</a:t>
            </a:r>
            <a:r>
              <a:rPr lang="en-US" dirty="0"/>
              <a:t> </a:t>
            </a:r>
            <a:r>
              <a:rPr lang="en-US" b="1" dirty="0" smtClean="0"/>
              <a:t>under Transport Layer</a:t>
            </a:r>
            <a:endParaRPr lang="en-US" b="1" dirty="0"/>
          </a:p>
        </p:txBody>
      </p:sp>
      <p:sp>
        <p:nvSpPr>
          <p:cNvPr id="3" name="Content Placeholder 2"/>
          <p:cNvSpPr>
            <a:spLocks noGrp="1"/>
          </p:cNvSpPr>
          <p:nvPr>
            <p:ph idx="1"/>
          </p:nvPr>
        </p:nvSpPr>
        <p:spPr>
          <a:xfrm>
            <a:off x="609600" y="1457960"/>
            <a:ext cx="10972800" cy="4669790"/>
          </a:xfrm>
        </p:spPr>
        <p:txBody>
          <a:bodyPr>
            <a:normAutofit fontScale="87500" lnSpcReduction="10000"/>
          </a:bodyPr>
          <a:lstStyle/>
          <a:p>
            <a:pPr marL="0" indent="0">
              <a:buNone/>
            </a:pPr>
            <a:r>
              <a:rPr lang="en-US" b="1" dirty="0" smtClean="0"/>
              <a:t>  TCP </a:t>
            </a:r>
            <a:r>
              <a:rPr lang="en-US" b="1" dirty="0"/>
              <a:t>(Transmission Control Protocol)</a:t>
            </a:r>
            <a:r>
              <a:rPr lang="en-US" dirty="0"/>
              <a:t/>
            </a:r>
            <a:br>
              <a:rPr lang="en-US" dirty="0"/>
            </a:br>
            <a:r>
              <a:rPr lang="en-US" dirty="0"/>
              <a:t>TCP provides a reliable, connection-oriented byte stream.</a:t>
            </a:r>
            <a:endParaRPr lang="en-US" sz="2000" dirty="0"/>
          </a:p>
          <a:p>
            <a:pPr marL="0" indent="0">
              <a:buNone/>
            </a:pPr>
            <a:r>
              <a:rPr lang="en-US" dirty="0" smtClean="0"/>
              <a:t> It </a:t>
            </a:r>
            <a:r>
              <a:rPr lang="en-US" dirty="0"/>
              <a:t>uses:</a:t>
            </a:r>
            <a:endParaRPr lang="en-US" sz="2000" dirty="0"/>
          </a:p>
          <a:p>
            <a:pPr lvl="1">
              <a:buFont typeface="Wingdings" panose="05000000000000000000" pitchFamily="2" charset="2"/>
              <a:buChar char="Ø"/>
            </a:pPr>
            <a:r>
              <a:rPr lang="en-US" dirty="0"/>
              <a:t>Sequence numbers</a:t>
            </a:r>
            <a:endParaRPr lang="en-US" sz="1800" dirty="0"/>
          </a:p>
          <a:p>
            <a:pPr lvl="1">
              <a:buFont typeface="Wingdings" panose="05000000000000000000" pitchFamily="2" charset="2"/>
              <a:buChar char="Ø"/>
            </a:pPr>
            <a:r>
              <a:rPr lang="en-US" dirty="0"/>
              <a:t>Acknowledgements</a:t>
            </a:r>
            <a:endParaRPr lang="en-US" sz="1800" dirty="0"/>
          </a:p>
          <a:p>
            <a:pPr lvl="1">
              <a:buFont typeface="Wingdings" panose="05000000000000000000" pitchFamily="2" charset="2"/>
              <a:buChar char="Ø"/>
            </a:pPr>
            <a:r>
              <a:rPr lang="en-US" dirty="0"/>
              <a:t>Retransmissions</a:t>
            </a:r>
            <a:endParaRPr lang="en-US" sz="1800" dirty="0"/>
          </a:p>
          <a:p>
            <a:pPr lvl="1">
              <a:buFont typeface="Wingdings" panose="05000000000000000000" pitchFamily="2" charset="2"/>
              <a:buChar char="Ø"/>
            </a:pPr>
            <a:r>
              <a:rPr lang="en-US" dirty="0"/>
              <a:t>Flow control</a:t>
            </a:r>
            <a:endParaRPr lang="en-US" sz="1800" dirty="0"/>
          </a:p>
          <a:p>
            <a:pPr lvl="1">
              <a:buFont typeface="Wingdings" panose="05000000000000000000" pitchFamily="2" charset="2"/>
              <a:buChar char="Ø"/>
            </a:pPr>
            <a:r>
              <a:rPr lang="en-US" dirty="0"/>
              <a:t>Congestion control</a:t>
            </a:r>
            <a:endParaRPr lang="en-US" sz="1800" dirty="0"/>
          </a:p>
          <a:p>
            <a:pPr marL="0" indent="0">
              <a:buNone/>
            </a:pPr>
            <a:r>
              <a:rPr lang="en-US" dirty="0" smtClean="0"/>
              <a:t>  For </a:t>
            </a:r>
            <a:r>
              <a:rPr lang="en-US" dirty="0"/>
              <a:t>example, when downloading a file, TCP helps ensure that missing data is retransmitted and that the data arrives in the correct order</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93800"/>
          </a:xfrm>
        </p:spPr>
        <p:txBody>
          <a:bodyPr/>
          <a:lstStyle/>
          <a:p>
            <a:r>
              <a:rPr lang="en-US" b="1" dirty="0"/>
              <a:t>UDP (User Datagram Protocol)</a:t>
            </a:r>
            <a:endParaRPr lang="en-US" dirty="0"/>
          </a:p>
        </p:txBody>
      </p:sp>
      <p:sp>
        <p:nvSpPr>
          <p:cNvPr id="3" name="Content Placeholder 2"/>
          <p:cNvSpPr>
            <a:spLocks noGrp="1"/>
          </p:cNvSpPr>
          <p:nvPr>
            <p:ph idx="1"/>
          </p:nvPr>
        </p:nvSpPr>
        <p:spPr>
          <a:xfrm>
            <a:off x="609600" y="1681480"/>
            <a:ext cx="10972800" cy="4446270"/>
          </a:xfrm>
        </p:spPr>
        <p:txBody>
          <a:bodyPr>
            <a:normAutofit fontScale="97500"/>
          </a:bodyPr>
          <a:lstStyle/>
          <a:p>
            <a:pPr marL="0" indent="0">
              <a:buNone/>
            </a:pPr>
            <a:r>
              <a:rPr lang="en-US" sz="3600" dirty="0"/>
              <a:t>    UDP is connectionless and has much less overhead than TCP. It does not guarantee delivery, ordering, or retransmission.</a:t>
            </a:r>
          </a:p>
          <a:p>
            <a:pPr>
              <a:buFont typeface="Wingdings" panose="05000000000000000000" charset="0"/>
              <a:buChar char="Ø"/>
            </a:pPr>
            <a:r>
              <a:rPr lang="en-US" sz="3600" dirty="0"/>
              <a:t>It is useful when low overhead and speed are more important than guaranteed delivery, such as DNS queries, streaming, and many real-time applications</a:t>
            </a:r>
            <a:r>
              <a:rPr lang="en-US" sz="3600" dirty="0" smtClean="0"/>
              <a:t>.</a:t>
            </a:r>
          </a:p>
          <a:p>
            <a:pPr>
              <a:buFont typeface="Wingdings" panose="05000000000000000000" charset="0"/>
              <a:buChar char="Ø"/>
            </a:pPr>
            <a:r>
              <a:rPr lang="en-US" sz="3600" b="1" dirty="0"/>
              <a:t>Data unit:</a:t>
            </a:r>
            <a:r>
              <a:rPr lang="en-US" sz="3600" dirty="0"/>
              <a:t> Segment (TCP) / Datagram (UDP</a:t>
            </a:r>
          </a:p>
          <a:p>
            <a:pPr>
              <a:buFont typeface="Wingdings" panose="05000000000000000000" charset="0"/>
              <a:buChar char="Ø"/>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17955"/>
          </a:xfrm>
        </p:spPr>
        <p:txBody>
          <a:bodyPr>
            <a:normAutofit/>
          </a:bodyPr>
          <a:lstStyle/>
          <a:p>
            <a:pPr algn="ctr"/>
            <a:r>
              <a:rPr lang="en-US" sz="5400" b="1" dirty="0" smtClean="0"/>
              <a:t>5. Session </a:t>
            </a:r>
            <a:r>
              <a:rPr lang="en-US" sz="5400" b="1" dirty="0"/>
              <a:t>Layer</a:t>
            </a:r>
            <a:endParaRPr lang="en-US" sz="5400" dirty="0"/>
          </a:p>
        </p:txBody>
      </p:sp>
      <p:sp>
        <p:nvSpPr>
          <p:cNvPr id="3" name="Content Placeholder 2"/>
          <p:cNvSpPr>
            <a:spLocks noGrp="1"/>
          </p:cNvSpPr>
          <p:nvPr>
            <p:ph idx="1"/>
          </p:nvPr>
        </p:nvSpPr>
        <p:spPr>
          <a:xfrm>
            <a:off x="609600" y="2009140"/>
            <a:ext cx="10972800" cy="4118610"/>
          </a:xfrm>
        </p:spPr>
        <p:txBody>
          <a:bodyPr/>
          <a:lstStyle/>
          <a:p>
            <a:pPr marL="0" indent="0">
              <a:lnSpc>
                <a:spcPct val="107000"/>
              </a:lnSpc>
              <a:spcAft>
                <a:spcPts val="0"/>
              </a:spcAft>
              <a:buNone/>
            </a:pPr>
            <a:r>
              <a:rPr lang="en-US" sz="4800" dirty="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The Session Layer manages sessions or ongoing conversations between applications.</a:t>
            </a:r>
            <a:endParaRPr lang="en-US" sz="4800" dirty="0">
              <a:latin typeface="Calibri" panose="020F0502020204030204" charset="0"/>
              <a:ea typeface="Calibri" panose="020F0502020204030204" charset="0"/>
              <a:cs typeface="Times New Roman" panose="02020603050405020304" pitchFamily="18" charset="0"/>
            </a:endParaRP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48715"/>
          </a:xfrm>
        </p:spPr>
        <p:txBody>
          <a:bodyPr/>
          <a:lstStyle/>
          <a:p>
            <a:pPr algn="ctr"/>
            <a:r>
              <a:rPr lang="en-US" b="1" dirty="0" smtClean="0"/>
              <a:t>Responsibilities of Session Layer</a:t>
            </a:r>
            <a:r>
              <a:rPr lang="en-US" dirty="0"/>
              <a:t/>
            </a:r>
            <a:br>
              <a:rPr lang="en-US" dirty="0"/>
            </a:br>
            <a:endParaRPr lang="en-US" dirty="0"/>
          </a:p>
        </p:txBody>
      </p:sp>
      <p:sp>
        <p:nvSpPr>
          <p:cNvPr id="3" name="Content Placeholder 2"/>
          <p:cNvSpPr>
            <a:spLocks noGrp="1"/>
          </p:cNvSpPr>
          <p:nvPr>
            <p:ph idx="1"/>
          </p:nvPr>
        </p:nvSpPr>
        <p:spPr>
          <a:xfrm>
            <a:off x="609600" y="1741170"/>
            <a:ext cx="10972800" cy="4386580"/>
          </a:xfrm>
        </p:spPr>
        <p:txBody>
          <a:bodyPr>
            <a:normAutofit fontScale="97500"/>
          </a:bodyPr>
          <a:lstStyle/>
          <a:p>
            <a:pPr lvl="1">
              <a:buFont typeface="Wingdings" panose="05000000000000000000" charset="0"/>
              <a:buChar char="Ø"/>
            </a:pPr>
            <a:r>
              <a:rPr lang="en-US" sz="3200" dirty="0"/>
              <a:t>Establishes communication sessions.</a:t>
            </a:r>
          </a:p>
          <a:p>
            <a:pPr lvl="1">
              <a:buFont typeface="Wingdings" panose="05000000000000000000" charset="0"/>
              <a:buChar char="Ø"/>
            </a:pPr>
            <a:r>
              <a:rPr lang="en-US" sz="3200" dirty="0"/>
              <a:t>Maintains and manages sessions.</a:t>
            </a:r>
          </a:p>
          <a:p>
            <a:pPr lvl="1">
              <a:buFont typeface="Wingdings" panose="05000000000000000000" charset="0"/>
              <a:buChar char="Ø"/>
            </a:pPr>
            <a:r>
              <a:rPr lang="en-US" sz="3200" dirty="0"/>
              <a:t>Terminates sessions.</a:t>
            </a:r>
          </a:p>
          <a:p>
            <a:pPr lvl="1">
              <a:buFont typeface="Wingdings" panose="05000000000000000000" charset="0"/>
              <a:buChar char="Ø"/>
            </a:pPr>
            <a:r>
              <a:rPr lang="en-US" sz="3200" dirty="0"/>
              <a:t>Provides synchronization points/checkpoints.</a:t>
            </a:r>
          </a:p>
          <a:p>
            <a:pPr lvl="1">
              <a:buFont typeface="Wingdings" panose="05000000000000000000" charset="0"/>
              <a:buChar char="Ø"/>
            </a:pPr>
            <a:r>
              <a:rPr lang="en-US" sz="3200" dirty="0"/>
              <a:t>Can help resume communication after an interruption.</a:t>
            </a:r>
          </a:p>
          <a:p>
            <a:pPr marL="0" indent="0">
              <a:buNone/>
            </a:pPr>
            <a:r>
              <a:rPr lang="en-US" sz="3200" dirty="0" smtClean="0"/>
              <a:t> For </a:t>
            </a:r>
            <a:r>
              <a:rPr lang="en-US" sz="3200" dirty="0"/>
              <a:t>example, a session mechanism can establish a logical conversation between two applications and manage when that conversation starts and ends.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r>
              <a:rPr lang="en-GB" b="1" dirty="0" smtClean="0"/>
              <a:t>Examples of protocols under Session Layer</a:t>
            </a:r>
            <a:endParaRPr lang="en-US" b="1"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NetBIOS</a:t>
            </a:r>
            <a:r>
              <a:rPr lang="en-US" sz="3200" dirty="0"/>
              <a:t/>
            </a:r>
            <a:br>
              <a:rPr lang="en-US" sz="3200" dirty="0"/>
            </a:br>
            <a:r>
              <a:rPr lang="en-US" sz="3200" dirty="0"/>
              <a:t>Provides session services for applications communicating over a network, historically common in Windows networking.</a:t>
            </a:r>
          </a:p>
          <a:p>
            <a:pPr>
              <a:buFont typeface="Wingdings" panose="05000000000000000000" charset="0"/>
              <a:buChar char="Ø"/>
            </a:pPr>
            <a:r>
              <a:rPr lang="en-US" sz="3200" b="1" dirty="0"/>
              <a:t>RPC (Remote Procedure Call)</a:t>
            </a:r>
            <a:r>
              <a:rPr lang="en-US" sz="3200" dirty="0"/>
              <a:t/>
            </a:r>
            <a:br>
              <a:rPr lang="en-US" sz="3200" dirty="0"/>
            </a:br>
            <a:r>
              <a:rPr lang="en-US" sz="3200" dirty="0"/>
              <a:t>Allows an application to invoke a procedure on another computer as though it were a local procedure</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Autofit/>
          </a:bodyPr>
          <a:lstStyle/>
          <a:p>
            <a:pPr>
              <a:buFont typeface="Wingdings" panose="05000000000000000000" charset="0"/>
              <a:buChar char="Ø"/>
            </a:pPr>
            <a:r>
              <a:rPr lang="en-US" sz="3200" b="1" dirty="0"/>
              <a:t>SIP (Session Initiation Protocol)</a:t>
            </a:r>
            <a:r>
              <a:rPr lang="en-US" sz="3200" dirty="0"/>
              <a:t/>
            </a:r>
            <a:br>
              <a:rPr lang="en-US" sz="3200" dirty="0"/>
            </a:br>
            <a:r>
              <a:rPr lang="en-US" sz="3200" dirty="0"/>
              <a:t>Establishes, modifies, and terminates multimedia communication sessions such as VoIP calls.</a:t>
            </a:r>
          </a:p>
          <a:p>
            <a:pPr marL="0" indent="0">
              <a:buNone/>
            </a:pPr>
            <a:r>
              <a:rPr lang="en-US" sz="3200" b="1" dirty="0"/>
              <a:t>Important note:</a:t>
            </a:r>
            <a:r>
              <a:rPr lang="en-US" sz="3200" dirty="0"/>
              <a:t> In modern TCP/IP networks, the functions of the OSI Session Layer are often implemented as part of the application layer or by application frameworks rather than as a distinct protocol layer.</a:t>
            </a:r>
          </a:p>
          <a:p>
            <a:pPr marL="0" indent="0">
              <a:buNone/>
            </a:pPr>
            <a:endParaRPr lang="en-US" sz="3200" dirty="0"/>
          </a:p>
          <a:p>
            <a:pPr marL="0" indent="0">
              <a:buNone/>
            </a:pPr>
            <a:endParaRPr lang="en-US" sz="32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82700"/>
          </a:xfrm>
        </p:spPr>
        <p:txBody>
          <a:bodyPr/>
          <a:lstStyle/>
          <a:p>
            <a:pPr algn="ctr"/>
            <a:r>
              <a:rPr lang="en-US" sz="4000" b="1" dirty="0" smtClean="0"/>
              <a:t>6. Presentation </a:t>
            </a:r>
            <a:r>
              <a:rPr lang="en-US" sz="4000" b="1" dirty="0"/>
              <a:t>Layer</a:t>
            </a:r>
            <a:r>
              <a:rPr lang="en-US" dirty="0"/>
              <a:t/>
            </a:r>
            <a:br>
              <a:rPr lang="en-US" dirty="0"/>
            </a:br>
            <a:endParaRPr lang="en-US" dirty="0"/>
          </a:p>
        </p:txBody>
      </p:sp>
      <p:sp>
        <p:nvSpPr>
          <p:cNvPr id="3" name="Content Placeholder 2"/>
          <p:cNvSpPr>
            <a:spLocks noGrp="1"/>
          </p:cNvSpPr>
          <p:nvPr>
            <p:ph idx="1"/>
          </p:nvPr>
        </p:nvSpPr>
        <p:spPr>
          <a:xfrm>
            <a:off x="609600" y="1680845"/>
            <a:ext cx="10972800" cy="4446905"/>
          </a:xfrm>
        </p:spPr>
        <p:txBody>
          <a:bodyPr>
            <a:normAutofit/>
          </a:bodyPr>
          <a:lstStyle/>
          <a:p>
            <a:pPr>
              <a:buFont typeface="Wingdings" panose="05000000000000000000" pitchFamily="2" charset="2"/>
              <a:buChar char="v"/>
            </a:pPr>
            <a:r>
              <a:rPr lang="en-US" sz="3600" dirty="0" smtClean="0"/>
              <a:t>   The</a:t>
            </a:r>
            <a:r>
              <a:rPr lang="en-US" sz="3600" dirty="0"/>
              <a:t> </a:t>
            </a:r>
            <a:r>
              <a:rPr lang="en-US" sz="3600" b="1" dirty="0"/>
              <a:t>Presentation Layer</a:t>
            </a:r>
            <a:r>
              <a:rPr lang="en-US" sz="3600" dirty="0"/>
              <a:t> ensures that data is represented in a format that the receiving application can understand.</a:t>
            </a:r>
          </a:p>
          <a:p>
            <a:pPr>
              <a:buFont typeface="Wingdings" panose="05000000000000000000" pitchFamily="2" charset="2"/>
              <a:buChar char="v"/>
            </a:pPr>
            <a:r>
              <a:rPr lang="en-US" sz="3600" dirty="0" smtClean="0"/>
              <a:t>It is also called</a:t>
            </a:r>
            <a:r>
              <a:rPr lang="en-US" sz="3600" dirty="0"/>
              <a:t> </a:t>
            </a:r>
            <a:r>
              <a:rPr lang="en-US" sz="3600" b="1" dirty="0"/>
              <a:t>translator and formatter</a:t>
            </a:r>
            <a:r>
              <a:rPr lang="en-US" sz="3600" dirty="0"/>
              <a:t> of the OSI model</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34110"/>
          </a:xfrm>
        </p:spPr>
        <p:txBody>
          <a:bodyPr/>
          <a:lstStyle/>
          <a:p>
            <a:r>
              <a:rPr lang="en-US" b="1" dirty="0" smtClean="0"/>
              <a:t>Responsibilities</a:t>
            </a:r>
            <a:r>
              <a:rPr lang="en-US" dirty="0"/>
              <a:t> </a:t>
            </a:r>
            <a:r>
              <a:rPr lang="en-US" b="1" dirty="0" smtClean="0"/>
              <a:t>of Presentation Layer</a:t>
            </a:r>
            <a:endParaRPr lang="en-US" b="1" dirty="0"/>
          </a:p>
        </p:txBody>
      </p:sp>
      <p:sp>
        <p:nvSpPr>
          <p:cNvPr id="3" name="Content Placeholder 2"/>
          <p:cNvSpPr>
            <a:spLocks noGrp="1"/>
          </p:cNvSpPr>
          <p:nvPr>
            <p:ph idx="1"/>
          </p:nvPr>
        </p:nvSpPr>
        <p:spPr>
          <a:xfrm>
            <a:off x="609600" y="1800860"/>
            <a:ext cx="10972800" cy="4326890"/>
          </a:xfrm>
        </p:spPr>
        <p:txBody>
          <a:bodyPr>
            <a:normAutofit/>
          </a:bodyPr>
          <a:lstStyle/>
          <a:p>
            <a:pPr lvl="1">
              <a:buFont typeface="Wingdings" panose="05000000000000000000" pitchFamily="2" charset="2"/>
              <a:buChar char="Ø"/>
            </a:pPr>
            <a:r>
              <a:rPr lang="en-US" sz="4400" dirty="0"/>
              <a:t>Data translation and format conversion.</a:t>
            </a:r>
          </a:p>
          <a:p>
            <a:pPr lvl="1">
              <a:buFont typeface="Wingdings" panose="05000000000000000000" pitchFamily="2" charset="2"/>
              <a:buChar char="Ø"/>
            </a:pPr>
            <a:r>
              <a:rPr lang="en-US" sz="4400" dirty="0"/>
              <a:t>Character encoding.</a:t>
            </a:r>
          </a:p>
          <a:p>
            <a:pPr lvl="1">
              <a:buFont typeface="Wingdings" panose="05000000000000000000" pitchFamily="2" charset="2"/>
              <a:buChar char="Ø"/>
            </a:pPr>
            <a:r>
              <a:rPr lang="en-US" sz="4400" dirty="0"/>
              <a:t>Data compression and decompression.</a:t>
            </a:r>
          </a:p>
          <a:p>
            <a:pPr lvl="1">
              <a:buFont typeface="Wingdings" panose="05000000000000000000" pitchFamily="2" charset="2"/>
              <a:buChar char="Ø"/>
            </a:pPr>
            <a:r>
              <a:rPr lang="en-US" sz="4400" dirty="0"/>
              <a:t>Data encryption and decryption.</a:t>
            </a:r>
          </a:p>
          <a:p>
            <a:pPr lvl="1">
              <a:buFont typeface="Wingdings" panose="05000000000000000000" pitchFamily="2" charset="2"/>
              <a:buChar char="Ø"/>
            </a:pPr>
            <a:r>
              <a:rPr lang="en-US" sz="4400" dirty="0"/>
              <a:t>Serialization and representation of data.</a:t>
            </a:r>
          </a:p>
          <a:p>
            <a:pPr marL="0" indent="0">
              <a:buNone/>
            </a:pPr>
            <a:endParaRPr lang="en-US" sz="44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36345"/>
          </a:xfrm>
        </p:spPr>
        <p:txBody>
          <a:bodyPr>
            <a:normAutofit fontScale="90000"/>
          </a:bodyPr>
          <a:lstStyle/>
          <a:p>
            <a:r>
              <a:rPr lang="en-US" sz="4000" b="1" dirty="0" smtClean="0"/>
              <a:t>Examples</a:t>
            </a:r>
            <a:r>
              <a:rPr lang="en-US" sz="4000" b="1" dirty="0"/>
              <a:t> </a:t>
            </a:r>
            <a:r>
              <a:rPr lang="en-US" sz="4000" b="1" dirty="0" smtClean="0"/>
              <a:t>of Protocols under Presentation Layer</a:t>
            </a:r>
            <a:endParaRPr lang="en-US" sz="4000" b="1" dirty="0"/>
          </a:p>
        </p:txBody>
      </p:sp>
      <p:sp>
        <p:nvSpPr>
          <p:cNvPr id="3" name="Content Placeholder 2"/>
          <p:cNvSpPr>
            <a:spLocks noGrp="1"/>
          </p:cNvSpPr>
          <p:nvPr>
            <p:ph idx="1"/>
          </p:nvPr>
        </p:nvSpPr>
        <p:spPr>
          <a:xfrm>
            <a:off x="609600" y="1785620"/>
            <a:ext cx="10972800" cy="4342130"/>
          </a:xfrm>
        </p:spPr>
        <p:txBody>
          <a:bodyPr>
            <a:normAutofit/>
          </a:bodyPr>
          <a:lstStyle/>
          <a:p>
            <a:pPr>
              <a:buFont typeface="Wingdings" panose="05000000000000000000" charset="0"/>
              <a:buChar char="Ø"/>
            </a:pPr>
            <a:r>
              <a:rPr lang="en-US" sz="3200" b="1" dirty="0"/>
              <a:t>TLS (Transport Layer Security)</a:t>
            </a:r>
            <a:r>
              <a:rPr lang="en-US" sz="3200" dirty="0"/>
              <a:t/>
            </a:r>
            <a:br>
              <a:rPr lang="en-US" sz="3200" dirty="0"/>
            </a:br>
            <a:r>
              <a:rPr lang="en-US" sz="3200" dirty="0"/>
              <a:t>Provides encryption, authentication, and integrity protection for network communications. Although commonly associated conceptually with the Presentation/Session functions of OSI, TLS actually operates across the boundary between application and transport layers in practical TCP/IP networking.</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JPEG/PNG</a:t>
            </a:r>
            <a:r>
              <a:rPr lang="en-US" sz="3200" dirty="0"/>
              <a:t/>
            </a:r>
            <a:br>
              <a:rPr lang="en-US" sz="3200" dirty="0"/>
            </a:br>
            <a:r>
              <a:rPr lang="en-US" sz="3200" dirty="0"/>
              <a:t>Define standardized representations for images.</a:t>
            </a:r>
          </a:p>
          <a:p>
            <a:pPr>
              <a:buFont typeface="Wingdings" panose="05000000000000000000" charset="0"/>
              <a:buChar char="Ø"/>
            </a:pPr>
            <a:r>
              <a:rPr lang="en-US" sz="3200" b="1" dirty="0"/>
              <a:t>ASCII/UTF-8</a:t>
            </a:r>
            <a:r>
              <a:rPr lang="en-US" sz="3200" dirty="0"/>
              <a:t/>
            </a:r>
            <a:br>
              <a:rPr lang="en-US" sz="3200" dirty="0"/>
            </a:br>
            <a:r>
              <a:rPr lang="en-US" sz="3200" dirty="0"/>
              <a:t>Define ways of representing characters as bytes.</a:t>
            </a:r>
          </a:p>
          <a:p>
            <a:pPr>
              <a:buFont typeface="Wingdings" panose="05000000000000000000" charset="0"/>
              <a:buChar char="Ø"/>
            </a:pPr>
            <a:r>
              <a:rPr lang="en-US" sz="3200" b="1" dirty="0"/>
              <a:t>Data serialization formats such as JSON and XML</a:t>
            </a:r>
            <a:r>
              <a:rPr lang="en-US" sz="3200" dirty="0"/>
              <a:t> can also perform presentation-like functions, although they are generally considered application-layer technologies in the TCP/IP model.</a:t>
            </a:r>
          </a:p>
          <a:p>
            <a:pPr marL="0" indent="0">
              <a:buNone/>
            </a:pPr>
            <a:r>
              <a:rPr lang="en-US" sz="3200" b="1" dirty="0" smtClean="0"/>
              <a:t>  Data </a:t>
            </a:r>
            <a:r>
              <a:rPr lang="en-US" sz="3200" b="1" dirty="0"/>
              <a:t>unit:</a:t>
            </a:r>
            <a:r>
              <a:rPr lang="en-US" sz="3200" dirty="0"/>
              <a:t> Data</a:t>
            </a:r>
          </a:p>
          <a:p>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7. Application </a:t>
            </a:r>
            <a:r>
              <a:rPr lang="en-US" b="1" dirty="0"/>
              <a:t>Layer</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4000" dirty="0" smtClean="0"/>
              <a:t>The</a:t>
            </a:r>
            <a:r>
              <a:rPr lang="en-US" sz="4000" dirty="0"/>
              <a:t> </a:t>
            </a:r>
            <a:r>
              <a:rPr lang="en-US" sz="4000" b="1" dirty="0"/>
              <a:t>Application Layer</a:t>
            </a:r>
            <a:r>
              <a:rPr lang="en-US" sz="4000" dirty="0"/>
              <a:t> is the highest OSI layer. It provides network services directly to applications and users.</a:t>
            </a:r>
          </a:p>
          <a:p>
            <a:r>
              <a:rPr lang="en-US" sz="4000" dirty="0"/>
              <a:t>It does </a:t>
            </a:r>
            <a:r>
              <a:rPr lang="en-US" sz="4000" b="1" dirty="0"/>
              <a:t>not</a:t>
            </a:r>
            <a:r>
              <a:rPr lang="en-US" sz="4000" dirty="0"/>
              <a:t> mean the application itself; rather, it defines the protocols applications use to communicate over a network</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Responsibilities of Application Layer</a:t>
            </a:r>
            <a:endParaRPr lang="en-US" dirty="0"/>
          </a:p>
        </p:txBody>
      </p:sp>
      <p:sp>
        <p:nvSpPr>
          <p:cNvPr id="3" name="Content Placeholder 2"/>
          <p:cNvSpPr>
            <a:spLocks noGrp="1"/>
          </p:cNvSpPr>
          <p:nvPr>
            <p:ph idx="1"/>
          </p:nvPr>
        </p:nvSpPr>
        <p:spPr/>
        <p:txBody>
          <a:bodyPr>
            <a:normAutofit/>
          </a:bodyPr>
          <a:lstStyle/>
          <a:p>
            <a:pPr lvl="1">
              <a:buFont typeface="Wingdings" panose="05000000000000000000" charset="0"/>
              <a:buChar char="Ø"/>
            </a:pPr>
            <a:r>
              <a:rPr lang="en-US" sz="4000" dirty="0"/>
              <a:t>Provides network services to applications.</a:t>
            </a:r>
          </a:p>
          <a:p>
            <a:pPr lvl="1">
              <a:buFont typeface="Wingdings" panose="05000000000000000000" charset="0"/>
              <a:buChar char="Ø"/>
            </a:pPr>
            <a:r>
              <a:rPr lang="en-US" sz="4000" dirty="0"/>
              <a:t>Enables resource sharing.</a:t>
            </a:r>
          </a:p>
          <a:p>
            <a:pPr lvl="1">
              <a:buFont typeface="Wingdings" panose="05000000000000000000" charset="0"/>
              <a:buChar char="Ø"/>
            </a:pPr>
            <a:r>
              <a:rPr lang="en-US" sz="4000" dirty="0"/>
              <a:t>Provides services such as web access, email, file transfer, and name resolution.</a:t>
            </a:r>
          </a:p>
          <a:p>
            <a:pPr lvl="1">
              <a:buFont typeface="Wingdings" panose="05000000000000000000" charset="0"/>
              <a:buChar char="Ø"/>
            </a:pPr>
            <a:r>
              <a:rPr lang="en-US" sz="4000" dirty="0"/>
              <a:t>Defines application-level requests and responses.</a:t>
            </a:r>
          </a:p>
          <a:p>
            <a:pPr>
              <a:buFont typeface="Wingdings" panose="05000000000000000000" charset="0"/>
              <a:buChar char="Ø"/>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31520"/>
          </a:xfrm>
        </p:spPr>
        <p:txBody>
          <a:bodyPr/>
          <a:lstStyle/>
          <a:p>
            <a:r>
              <a:rPr lang="en-US" b="1" dirty="0"/>
              <a:t>Examples of </a:t>
            </a:r>
            <a:r>
              <a:rPr lang="en-US" b="1" dirty="0" smtClean="0"/>
              <a:t>protocols under Application Layer</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HTTP (Hypertext Transfer Protocol)</a:t>
            </a:r>
            <a:r>
              <a:rPr lang="en-US" sz="3200" dirty="0"/>
              <a:t/>
            </a:r>
            <a:br>
              <a:rPr lang="en-US" sz="3200" dirty="0"/>
            </a:br>
            <a:r>
              <a:rPr lang="en-US" sz="3200" dirty="0"/>
              <a:t>Used to transfer web resources between clients and servers.</a:t>
            </a:r>
          </a:p>
          <a:p>
            <a:pPr>
              <a:buFont typeface="Wingdings" panose="05000000000000000000" charset="0"/>
              <a:buChar char="Ø"/>
            </a:pPr>
            <a:r>
              <a:rPr lang="en-US" sz="3200" b="1" dirty="0"/>
              <a:t>HTTPS</a:t>
            </a:r>
            <a:r>
              <a:rPr lang="en-US" sz="3200" dirty="0"/>
              <a:t/>
            </a:r>
            <a:br>
              <a:rPr lang="en-US" sz="3200" dirty="0"/>
            </a:br>
            <a:r>
              <a:rPr lang="en-US" sz="3200" dirty="0"/>
              <a:t>HTTP carried over a secure connection, typically using TLS.</a:t>
            </a:r>
          </a:p>
          <a:p>
            <a:pPr>
              <a:buFont typeface="Wingdings" panose="05000000000000000000" charset="0"/>
              <a:buChar char="Ø"/>
            </a:pPr>
            <a:r>
              <a:rPr lang="en-US" sz="3200" b="1" dirty="0"/>
              <a:t>FTP (File Transfer Protocol)</a:t>
            </a:r>
            <a:r>
              <a:rPr lang="en-US" sz="3200" dirty="0"/>
              <a:t/>
            </a:r>
            <a:br>
              <a:rPr lang="en-US" sz="3200" dirty="0"/>
            </a:br>
            <a:r>
              <a:rPr lang="en-US" sz="3200" dirty="0"/>
              <a:t>Used for transferring files between </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GB" sz="4000" dirty="0" smtClean="0"/>
              <a:t> </a:t>
            </a:r>
            <a:r>
              <a:rPr lang="en-US" sz="4000" b="1" dirty="0"/>
              <a:t>SMTP (Simple Mail Transfer Protocol)</a:t>
            </a:r>
            <a:r>
              <a:rPr lang="en-US" sz="4000" dirty="0"/>
              <a:t/>
            </a:r>
            <a:br>
              <a:rPr lang="en-US" sz="4000" dirty="0"/>
            </a:br>
            <a:r>
              <a:rPr lang="en-US" sz="4000" dirty="0"/>
              <a:t>Used primarily to send and relay email.</a:t>
            </a:r>
          </a:p>
          <a:p>
            <a:pPr>
              <a:buFont typeface="Wingdings" panose="05000000000000000000" charset="0"/>
              <a:buChar char="Ø"/>
            </a:pPr>
            <a:r>
              <a:rPr lang="en-US" sz="4000" b="1" dirty="0"/>
              <a:t>DNS (Domain Name System)</a:t>
            </a:r>
            <a:r>
              <a:rPr lang="en-US" sz="4000" dirty="0"/>
              <a:t/>
            </a:r>
            <a:br>
              <a:rPr lang="en-US" sz="4000" dirty="0"/>
            </a:br>
            <a:r>
              <a:rPr lang="en-US" sz="4000" dirty="0"/>
              <a:t>Translates domain names such as example.com into IP addresses and performs other name-related functions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SSH (Secure Shell)</a:t>
            </a:r>
            <a:r>
              <a:rPr lang="en-US" sz="3200" dirty="0"/>
              <a:t/>
            </a:r>
            <a:br>
              <a:rPr lang="en-US" sz="3200" dirty="0"/>
            </a:br>
            <a:r>
              <a:rPr lang="en-US" sz="3200" dirty="0"/>
              <a:t>Provides secure remote login and command execution.</a:t>
            </a:r>
          </a:p>
          <a:p>
            <a:pPr>
              <a:buFont typeface="Wingdings" panose="05000000000000000000" charset="0"/>
              <a:buChar char="Ø"/>
            </a:pPr>
            <a:r>
              <a:rPr lang="en-US" sz="3200" b="1" dirty="0"/>
              <a:t>DHCP (Dynamic Host Configuration Protocol)</a:t>
            </a:r>
            <a:r>
              <a:rPr lang="en-US" sz="3200" dirty="0"/>
              <a:t/>
            </a:r>
            <a:br>
              <a:rPr lang="en-US" sz="3200" dirty="0"/>
            </a:br>
            <a:r>
              <a:rPr lang="en-US" sz="3200" dirty="0"/>
              <a:t>Automatically provides hosts with network configuration such as IP addresses, subnet information, and default gateways.</a:t>
            </a:r>
          </a:p>
          <a:p>
            <a:pPr marL="0" indent="0">
              <a:buNone/>
            </a:pPr>
            <a:r>
              <a:rPr lang="en-US" sz="3200" b="1" dirty="0"/>
              <a:t> </a:t>
            </a:r>
            <a:endParaRPr lang="en-US" sz="3200" dirty="0"/>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GB" b="1"/>
              <a:t>TRANSMISSION CONTROL PROTOCOL/INTERNET PROTOCOL</a:t>
            </a:r>
          </a:p>
        </p:txBody>
      </p:sp>
      <p:sp>
        <p:nvSpPr>
          <p:cNvPr id="3" name="Subtitle 2"/>
          <p:cNvSpPr>
            <a:spLocks noGrp="1"/>
          </p:cNvSpPr>
          <p:nvPr>
            <p:ph type="subTitle" idx="1"/>
          </p:nvPr>
        </p:nvSpPr>
        <p:spPr/>
        <p:txBody>
          <a:bodyPr/>
          <a:lstStyle/>
          <a:p>
            <a:r>
              <a:rPr lang="en-US" altLang="en-GB" sz="7200" b="1"/>
              <a:t>TCP/IP</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9745"/>
            <a:ext cx="10515600" cy="1743710"/>
          </a:xfrm>
        </p:spPr>
        <p:txBody>
          <a:bodyPr>
            <a:noAutofit/>
          </a:bodyPr>
          <a:lstStyle/>
          <a:p>
            <a:pPr algn="ctr"/>
            <a:r>
              <a:rPr lang="en-US" sz="3200" dirty="0" smtClean="0"/>
              <a:t> </a:t>
            </a:r>
            <a:r>
              <a:rPr lang="en-US" sz="8000" b="1" dirty="0" smtClean="0"/>
              <a:t>TCP/IP</a:t>
            </a:r>
          </a:p>
        </p:txBody>
      </p:sp>
      <p:sp>
        <p:nvSpPr>
          <p:cNvPr id="3" name="Content Placeholder 2"/>
          <p:cNvSpPr>
            <a:spLocks noGrp="1"/>
          </p:cNvSpPr>
          <p:nvPr>
            <p:ph idx="1"/>
          </p:nvPr>
        </p:nvSpPr>
        <p:spPr>
          <a:xfrm>
            <a:off x="609600" y="2242820"/>
            <a:ext cx="10972800" cy="3884930"/>
          </a:xfrm>
        </p:spPr>
        <p:txBody>
          <a:bodyPr>
            <a:normAutofit/>
          </a:bodyPr>
          <a:lstStyle/>
          <a:p>
            <a:pPr marL="0" indent="0">
              <a:buNone/>
            </a:pPr>
            <a:endParaRPr lang="en-US" sz="3200" dirty="0" smtClean="0"/>
          </a:p>
          <a:p>
            <a:pPr marL="0" indent="0">
              <a:buNone/>
            </a:pPr>
            <a:r>
              <a:rPr lang="en-US" sz="3200" dirty="0"/>
              <a:t>  The networking framework used as the foundation of the modern Internet. It describes how data is communicated between devices by dividing networking functions into four layers.</a:t>
            </a:r>
          </a:p>
          <a:p>
            <a:pPr marL="0" indent="0">
              <a:buNone/>
            </a:pPr>
            <a:r>
              <a:rPr lang="en-US" sz="3200" dirty="0"/>
              <a:t>   Unlike the seven-layer OSI model, the traditional TCP/IP model has four layers: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LAYERS UNDER TCP/IP MODEL INCLUDE;</a:t>
            </a:r>
            <a:endParaRPr lang="en-US" b="1" dirty="0"/>
          </a:p>
        </p:txBody>
      </p:sp>
      <p:sp>
        <p:nvSpPr>
          <p:cNvPr id="3" name="Content Placeholder 2"/>
          <p:cNvSpPr>
            <a:spLocks noGrp="1"/>
          </p:cNvSpPr>
          <p:nvPr>
            <p:ph idx="1"/>
          </p:nvPr>
        </p:nvSpPr>
        <p:spPr/>
        <p:txBody>
          <a:bodyPr/>
          <a:lstStyle/>
          <a:p>
            <a:pPr marL="1200150" lvl="1" indent="-742950">
              <a:buFont typeface="+mj-lt"/>
              <a:buAutoNum type="arabicPeriod"/>
            </a:pPr>
            <a:r>
              <a:rPr lang="en-US" sz="4400" dirty="0"/>
              <a:t>Application Layer</a:t>
            </a:r>
          </a:p>
          <a:p>
            <a:pPr marL="1200150" lvl="1" indent="-742950">
              <a:buFont typeface="+mj-lt"/>
              <a:buAutoNum type="arabicPeriod"/>
            </a:pPr>
            <a:r>
              <a:rPr lang="en-US" sz="4400" dirty="0"/>
              <a:t>Transport Layer</a:t>
            </a:r>
          </a:p>
          <a:p>
            <a:pPr marL="1200150" lvl="1" indent="-742950">
              <a:buFont typeface="+mj-lt"/>
              <a:buAutoNum type="arabicPeriod"/>
            </a:pPr>
            <a:r>
              <a:rPr lang="en-US" sz="4400" dirty="0"/>
              <a:t>Internet Layer</a:t>
            </a:r>
          </a:p>
          <a:p>
            <a:pPr marL="1200150" lvl="1" indent="-742950">
              <a:buFont typeface="+mj-lt"/>
              <a:buAutoNum type="arabicPeriod"/>
            </a:pPr>
            <a:r>
              <a:rPr lang="en-US" sz="4400" dirty="0"/>
              <a:t>Network Access Layer</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337310"/>
          </a:xfrm>
        </p:spPr>
        <p:txBody>
          <a:bodyPr/>
          <a:lstStyle/>
          <a:p>
            <a:pPr algn="ctr"/>
            <a:r>
              <a:rPr lang="en-US" sz="4000" b="1" dirty="0"/>
              <a:t>1. Application </a:t>
            </a:r>
            <a:r>
              <a:rPr lang="en-US" sz="4000" b="1" dirty="0" smtClean="0"/>
              <a:t>Layer</a:t>
            </a:r>
          </a:p>
        </p:txBody>
      </p:sp>
      <p:sp>
        <p:nvSpPr>
          <p:cNvPr id="3" name="Content Placeholder 2"/>
          <p:cNvSpPr>
            <a:spLocks noGrp="1"/>
          </p:cNvSpPr>
          <p:nvPr>
            <p:ph idx="1"/>
          </p:nvPr>
        </p:nvSpPr>
        <p:spPr>
          <a:xfrm>
            <a:off x="609600" y="1955800"/>
            <a:ext cx="10972800" cy="4171950"/>
          </a:xfrm>
        </p:spPr>
        <p:txBody>
          <a:bodyPr>
            <a:normAutofit/>
          </a:bodyPr>
          <a:lstStyle/>
          <a:p>
            <a:pPr marL="0" indent="0">
              <a:buNone/>
            </a:pPr>
            <a:r>
              <a:rPr lang="en-US" sz="4000" dirty="0"/>
              <a:t>The </a:t>
            </a:r>
            <a:r>
              <a:rPr lang="en-US" sz="4000" b="1" dirty="0"/>
              <a:t>Application Layer</a:t>
            </a:r>
            <a:r>
              <a:rPr lang="en-US" sz="4000" dirty="0"/>
              <a:t> is the top layer of the TCP/IP model. It provides network services directly to applications and combines the functions of the </a:t>
            </a:r>
            <a:r>
              <a:rPr lang="en-US" sz="4000" b="1" dirty="0"/>
              <a:t>Application, Presentation, </a:t>
            </a:r>
            <a:endParaRPr lang="en-US" sz="40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60500"/>
          </a:xfrm>
        </p:spPr>
        <p:txBody>
          <a:bodyPr/>
          <a:lstStyle/>
          <a:p>
            <a:pPr algn="ctr"/>
            <a:r>
              <a:rPr lang="en-US" sz="4400" b="1" dirty="0" smtClean="0"/>
              <a:t>Responsibilities for TCP/IP MODEL</a:t>
            </a:r>
            <a:r>
              <a:rPr lang="en-US" sz="4400" dirty="0"/>
              <a:t/>
            </a:r>
            <a:br>
              <a:rPr lang="en-US" sz="4400" dirty="0"/>
            </a:br>
            <a:endParaRPr lang="en-US" sz="4400" dirty="0"/>
          </a:p>
        </p:txBody>
      </p:sp>
      <p:sp>
        <p:nvSpPr>
          <p:cNvPr id="3" name="Content Placeholder 2"/>
          <p:cNvSpPr>
            <a:spLocks noGrp="1"/>
          </p:cNvSpPr>
          <p:nvPr>
            <p:ph idx="1"/>
          </p:nvPr>
        </p:nvSpPr>
        <p:spPr>
          <a:xfrm>
            <a:off x="609600" y="1532255"/>
            <a:ext cx="10972800" cy="4595495"/>
          </a:xfrm>
        </p:spPr>
        <p:txBody>
          <a:bodyPr>
            <a:normAutofit/>
          </a:bodyPr>
          <a:lstStyle/>
          <a:p>
            <a:pPr lvl="1">
              <a:buFont typeface="Wingdings" panose="05000000000000000000" charset="0"/>
              <a:buChar char="Ø"/>
            </a:pPr>
            <a:r>
              <a:rPr lang="en-US" sz="3000" dirty="0"/>
              <a:t>Provides services that network applications use to communicate.</a:t>
            </a:r>
          </a:p>
          <a:p>
            <a:pPr lvl="1">
              <a:buFont typeface="Wingdings" panose="05000000000000000000" charset="0"/>
              <a:buChar char="Ø"/>
            </a:pPr>
            <a:r>
              <a:rPr lang="en-US" sz="3000" dirty="0"/>
              <a:t>Defines the format and meaning of application-level messages.</a:t>
            </a:r>
          </a:p>
          <a:p>
            <a:pPr lvl="1">
              <a:buFont typeface="Wingdings" panose="05000000000000000000" charset="0"/>
              <a:buChar char="Ø"/>
            </a:pPr>
            <a:r>
              <a:rPr lang="en-US" sz="3000" dirty="0"/>
              <a:t>Handles data representation and, in some cases, encryption and compression.</a:t>
            </a:r>
          </a:p>
          <a:p>
            <a:pPr lvl="1">
              <a:buFont typeface="Wingdings" panose="05000000000000000000" charset="0"/>
              <a:buChar char="Ø"/>
            </a:pPr>
            <a:r>
              <a:rPr lang="en-US" sz="3000" dirty="0"/>
              <a:t>Establishes and manages application-level communication.</a:t>
            </a:r>
          </a:p>
          <a:p>
            <a:pPr lvl="1">
              <a:buFont typeface="Wingdings" panose="05000000000000000000" charset="0"/>
              <a:buChar char="Ø"/>
            </a:pPr>
            <a:r>
              <a:rPr lang="en-US" sz="3000" dirty="0"/>
              <a:t>Provides services such as web browsing, email, file transfer, and name resolution.</a:t>
            </a:r>
          </a:p>
          <a:p>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b="1" dirty="0"/>
              <a:t>FOREXAMPLE</a:t>
            </a:r>
          </a:p>
        </p:txBody>
      </p:sp>
      <p:sp>
        <p:nvSpPr>
          <p:cNvPr id="3" name="Content Placeholder 2"/>
          <p:cNvSpPr>
            <a:spLocks noGrp="1"/>
          </p:cNvSpPr>
          <p:nvPr>
            <p:ph idx="1"/>
          </p:nvPr>
        </p:nvSpPr>
        <p:spPr>
          <a:xfrm>
            <a:off x="609600" y="1279525"/>
            <a:ext cx="10972800" cy="4848225"/>
          </a:xfrm>
        </p:spPr>
        <p:txBody>
          <a:bodyPr>
            <a:normAutofit/>
          </a:bodyPr>
          <a:lstStyle/>
          <a:p>
            <a:pPr marL="0" indent="0">
              <a:buNone/>
            </a:pPr>
            <a:r>
              <a:rPr lang="en-US" sz="3600" dirty="0" smtClean="0"/>
              <a:t>  When </a:t>
            </a:r>
            <a:r>
              <a:rPr lang="en-US" sz="3600" dirty="0"/>
              <a:t>you type a website address into a browser, </a:t>
            </a:r>
            <a:r>
              <a:rPr lang="en-US" sz="3600" b="1" dirty="0"/>
              <a:t>HTTP/HTTPS</a:t>
            </a:r>
            <a:r>
              <a:rPr lang="en-US" sz="3600" dirty="0"/>
              <a:t> operates at the Application Layer to define the request and response between your browser and the web server.</a:t>
            </a:r>
          </a:p>
          <a:p>
            <a:pPr marL="0" indent="0">
              <a:buNone/>
            </a:pPr>
            <a:r>
              <a:rPr lang="en-US" sz="3600" b="1" dirty="0" smtClean="0"/>
              <a:t>  Data </a:t>
            </a:r>
            <a:r>
              <a:rPr lang="en-US" sz="3600" b="1" dirty="0"/>
              <a:t>unit:</a:t>
            </a:r>
            <a:r>
              <a:rPr lang="en-US" sz="3600" dirty="0"/>
              <a:t> Message/Data</a:t>
            </a:r>
          </a:p>
          <a:p>
            <a:pPr marL="0" indent="0">
              <a:buNone/>
            </a:pPr>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45870"/>
          </a:xfrm>
        </p:spPr>
        <p:txBody>
          <a:bodyPr/>
          <a:lstStyle/>
          <a:p>
            <a:r>
              <a:rPr lang="en-GB" dirty="0" smtClean="0"/>
              <a:t>PROTOCOLS UNDER TCP/IP MODEL</a:t>
            </a:r>
            <a:endParaRPr lang="en-US" dirty="0"/>
          </a:p>
        </p:txBody>
      </p:sp>
      <p:graphicFrame>
        <p:nvGraphicFramePr>
          <p:cNvPr id="4" name="Content Placeholder 3"/>
          <p:cNvGraphicFramePr>
            <a:graphicFrameLocks noGrp="1"/>
          </p:cNvGraphicFramePr>
          <p:nvPr>
            <p:ph idx="1"/>
            <p:custDataLst>
              <p:tags r:id="rId1"/>
            </p:custDataLst>
          </p:nvPr>
        </p:nvGraphicFramePr>
        <p:xfrm>
          <a:off x="685800" y="1807210"/>
          <a:ext cx="10820400" cy="4794885"/>
        </p:xfrm>
        <a:graphic>
          <a:graphicData uri="http://schemas.openxmlformats.org/drawingml/2006/table">
            <a:tbl>
              <a:tblPr firstRow="1" bandRow="1">
                <a:tableStyleId>{5C22544A-7EE6-4342-B048-85BDC9FD1C3A}</a:tableStyleId>
              </a:tblPr>
              <a:tblGrid>
                <a:gridCol w="3606800"/>
                <a:gridCol w="3606800"/>
                <a:gridCol w="3606800"/>
              </a:tblGrid>
              <a:tr h="779145">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Full name</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What it does</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r h="777875">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Hypertext Transfer 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Transfers web pages and other web resources between clients and servers.</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r h="901700">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HTTPS</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HTTP Secure</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Provides HTTP communication protected by TLS encryption and authentication.</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r h="77914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FTP</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File Transfer 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Transfers files between computers.</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r h="77787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SMTP</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Simple Mail Transfer 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Sends and relays email messages.</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r h="77914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POP3</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Post Office Protocol version 3</a:t>
                      </a:r>
                      <a:endParaRPr lang="en-US" sz="180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Downloads email messages from a mail server to a client.</a:t>
                      </a:r>
                      <a:endParaRPr lang="en-US" sz="1800" dirty="0">
                        <a:effectLst/>
                        <a:latin typeface="Calibri" panose="020F0502020204030204" charset="0"/>
                        <a:ea typeface="Calibri" panose="020F0502020204030204" charset="0"/>
                        <a:cs typeface="Times New Roman" panose="02020603050405020304" pitchFamily="18" charset="0"/>
                      </a:endParaRPr>
                    </a:p>
                  </a:txBody>
                  <a:tcPr marL="9801" marR="9801" marT="9525" marB="9525"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graphicFrame>
        <p:nvGraphicFramePr>
          <p:cNvPr id="4" name="Content Placeholder 3"/>
          <p:cNvGraphicFramePr>
            <a:graphicFrameLocks noGrp="1"/>
          </p:cNvGraphicFramePr>
          <p:nvPr>
            <p:ph idx="1"/>
          </p:nvPr>
        </p:nvGraphicFramePr>
        <p:xfrm>
          <a:off x="838200" y="365124"/>
          <a:ext cx="10515600" cy="6188937"/>
        </p:xfrm>
        <a:graphic>
          <a:graphicData uri="http://schemas.openxmlformats.org/drawingml/2006/table">
            <a:tbl>
              <a:tblPr firstRow="1" bandRow="1">
                <a:tableStyleId>{5C22544A-7EE6-4342-B048-85BDC9FD1C3A}</a:tableStyleId>
              </a:tblPr>
              <a:tblGrid>
                <a:gridCol w="3505200"/>
                <a:gridCol w="3505200"/>
                <a:gridCol w="3505200"/>
              </a:tblGrid>
              <a:tr h="810391">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Full name</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What it does</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810391">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IMAP</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Internet Message Access Protocol</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Allows clients to access and manage email stored on a mail server.</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93369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DNS</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Domain Name System</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Converts domain names such as </a:t>
                      </a:r>
                      <a:r>
                        <a:rPr lang="en-US" sz="1800" dirty="0">
                          <a:effectLst/>
                          <a:latin typeface="var(--type-code-font-family)"/>
                          <a:ea typeface="Times New Roman" panose="02020603050405020304" pitchFamily="18" charset="0"/>
                          <a:cs typeface="Courier New" panose="02070309020205020404" pitchFamily="49" charset="0"/>
                        </a:rPr>
                        <a:t>example.com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into IP addresses and performs other DNS lookups.</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124331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DHCP</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Dynamic Host Configuration Protocol</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Automatically provides devices with IP configuration such as an IP address, subnet information, and gateway.</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810391">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SSH</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Secure Shell</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secure remote login and command execution.</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93369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Telnet</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Teletype Network</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remote terminal access, but without the encryption provided by SSH.</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r h="64706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SNMP</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Simple Network Management Protocol</a:t>
                      </a:r>
                      <a:endParaRPr lang="en-US" sz="180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Allows network devices to be monitored and managed.</a:t>
                      </a:r>
                      <a:endParaRPr lang="en-US" sz="1800" dirty="0">
                        <a:effectLst/>
                        <a:latin typeface="Calibri" panose="020F0502020204030204" charset="0"/>
                        <a:ea typeface="Calibri" panose="020F0502020204030204" charset="0"/>
                        <a:cs typeface="Times New Roman" panose="02020603050405020304" pitchFamily="18" charset="0"/>
                      </a:endParaRPr>
                    </a:p>
                  </a:txBody>
                  <a:tcPr marL="9525" marR="9525" marT="9525" marB="9525"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65505"/>
          </a:xfrm>
        </p:spPr>
        <p:txBody>
          <a:bodyPr/>
          <a:lstStyle/>
          <a:p>
            <a:pPr algn="ctr"/>
            <a:r>
              <a:rPr lang="en-US" sz="4000" b="1" dirty="0"/>
              <a:t>2. Transport </a:t>
            </a:r>
            <a:r>
              <a:rPr lang="en-US" sz="4000" b="1" dirty="0" smtClean="0"/>
              <a:t>Layer</a:t>
            </a:r>
            <a:endParaRPr lang="en-US" sz="4000"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3600" dirty="0" smtClean="0"/>
              <a:t>  The</a:t>
            </a:r>
            <a:r>
              <a:rPr lang="en-US" sz="3600" dirty="0"/>
              <a:t> </a:t>
            </a:r>
            <a:r>
              <a:rPr lang="en-US" sz="3600" b="1" dirty="0"/>
              <a:t>Transport Layer</a:t>
            </a:r>
            <a:r>
              <a:rPr lang="en-US" sz="3600" dirty="0"/>
              <a:t> provides </a:t>
            </a:r>
            <a:r>
              <a:rPr lang="en-US" sz="3600" b="1" dirty="0"/>
              <a:t>end-to-end communication between applications</a:t>
            </a:r>
            <a:r>
              <a:rPr lang="en-US" sz="3600" dirty="0"/>
              <a:t> running on different devices.</a:t>
            </a:r>
          </a:p>
          <a:p>
            <a:pPr marL="0" indent="0">
              <a:buNone/>
            </a:pPr>
            <a:r>
              <a:rPr lang="en-US" sz="3600" dirty="0"/>
              <a:t> </a:t>
            </a:r>
            <a:r>
              <a:rPr lang="en-US" sz="3600" dirty="0" smtClean="0"/>
              <a:t> It </a:t>
            </a:r>
            <a:r>
              <a:rPr lang="en-US" sz="3600" dirty="0"/>
              <a:t>is responsible for determining how application data is delivered from one process to another.</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059815"/>
          </a:xfrm>
        </p:spPr>
        <p:txBody>
          <a:bodyPr/>
          <a:lstStyle/>
          <a:p>
            <a:pPr algn="ctr"/>
            <a:r>
              <a:rPr lang="en-US" b="1" dirty="0" smtClean="0"/>
              <a:t>Responsibilities</a:t>
            </a:r>
            <a:r>
              <a:rPr lang="en-US" dirty="0" smtClean="0"/>
              <a:t> </a:t>
            </a:r>
            <a:r>
              <a:rPr lang="en-US" b="1" dirty="0" smtClean="0"/>
              <a:t>under Transport Layer</a:t>
            </a:r>
            <a:endParaRPr lang="en-US" b="1" dirty="0"/>
          </a:p>
        </p:txBody>
      </p:sp>
      <p:sp>
        <p:nvSpPr>
          <p:cNvPr id="3" name="Content Placeholder 2"/>
          <p:cNvSpPr>
            <a:spLocks noGrp="1"/>
          </p:cNvSpPr>
          <p:nvPr>
            <p:ph idx="1"/>
          </p:nvPr>
        </p:nvSpPr>
        <p:spPr>
          <a:xfrm>
            <a:off x="826770" y="1450975"/>
            <a:ext cx="10813415" cy="5051425"/>
          </a:xfrm>
        </p:spPr>
        <p:txBody>
          <a:bodyPr>
            <a:noAutofit/>
          </a:bodyPr>
          <a:lstStyle/>
          <a:p>
            <a:pPr lvl="1">
              <a:buFont typeface="Wingdings" panose="05000000000000000000" pitchFamily="2" charset="2"/>
              <a:buChar char="Ø"/>
            </a:pPr>
            <a:r>
              <a:rPr lang="en-US" sz="2800" dirty="0"/>
              <a:t>Provides end-to-end communication.</a:t>
            </a:r>
          </a:p>
          <a:p>
            <a:pPr lvl="1">
              <a:buFont typeface="Wingdings" panose="05000000000000000000" pitchFamily="2" charset="2"/>
              <a:buChar char="Ø"/>
            </a:pPr>
            <a:r>
              <a:rPr lang="en-US" sz="2800" dirty="0"/>
              <a:t>Breaks application data into smaller units when necessary.</a:t>
            </a:r>
          </a:p>
          <a:p>
            <a:pPr lvl="1">
              <a:buFont typeface="Wingdings" panose="05000000000000000000" pitchFamily="2" charset="2"/>
              <a:buChar char="Ø"/>
            </a:pPr>
            <a:r>
              <a:rPr lang="en-US" sz="2800" dirty="0"/>
              <a:t>Reassembles data at the destination.</a:t>
            </a:r>
          </a:p>
          <a:p>
            <a:pPr lvl="1">
              <a:buFont typeface="Wingdings" panose="05000000000000000000" pitchFamily="2" charset="2"/>
              <a:buChar char="Ø"/>
            </a:pPr>
            <a:r>
              <a:rPr lang="en-US" sz="2800" dirty="0"/>
              <a:t>Uses </a:t>
            </a:r>
            <a:r>
              <a:rPr lang="en-US" sz="2800" b="1" dirty="0"/>
              <a:t>port numbers</a:t>
            </a:r>
            <a:r>
              <a:rPr lang="en-US" sz="2800" dirty="0"/>
              <a:t> to identify applications.</a:t>
            </a:r>
          </a:p>
          <a:p>
            <a:pPr lvl="1">
              <a:buFont typeface="Wingdings" panose="05000000000000000000" pitchFamily="2" charset="2"/>
              <a:buChar char="Ø"/>
            </a:pPr>
            <a:r>
              <a:rPr lang="en-US" sz="2800" dirty="0"/>
              <a:t>Provides reliable delivery when required.</a:t>
            </a:r>
          </a:p>
          <a:p>
            <a:pPr lvl="1">
              <a:buFont typeface="Wingdings" panose="05000000000000000000" pitchFamily="2" charset="2"/>
              <a:buChar char="Ø"/>
            </a:pPr>
            <a:r>
              <a:rPr lang="en-US" sz="2800" dirty="0"/>
              <a:t>Performs error detection and recovery.</a:t>
            </a:r>
          </a:p>
          <a:p>
            <a:pPr lvl="1">
              <a:buFont typeface="Wingdings" panose="05000000000000000000" pitchFamily="2" charset="2"/>
              <a:buChar char="Ø"/>
            </a:pPr>
            <a:r>
              <a:rPr lang="en-US" sz="2800" dirty="0"/>
              <a:t>Provides flow control.</a:t>
            </a:r>
          </a:p>
          <a:p>
            <a:pPr lvl="1">
              <a:buFont typeface="Wingdings" panose="05000000000000000000" pitchFamily="2" charset="2"/>
              <a:buChar char="Ø"/>
            </a:pPr>
            <a:r>
              <a:rPr lang="en-US" sz="2800" dirty="0"/>
              <a:t>TCP also provides congestion control</a:t>
            </a:r>
            <a:r>
              <a:rPr lang="en-US" sz="2800" dirty="0" smtClean="0"/>
              <a:t>.</a:t>
            </a:r>
          </a:p>
          <a:p>
            <a:pPr lvl="1">
              <a:buFont typeface="Wingdings" panose="05000000000000000000" pitchFamily="2" charset="2"/>
              <a:buChar char="Ø"/>
            </a:pPr>
            <a:r>
              <a:rPr lang="en-US" sz="2800" dirty="0" smtClean="0"/>
              <a:t> Can </a:t>
            </a:r>
            <a:r>
              <a:rPr lang="en-US" sz="2800" dirty="0"/>
              <a:t>provide either connection-oriented or connectionless communication</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sz="4000" b="1" dirty="0"/>
              <a:t>Major </a:t>
            </a:r>
            <a:r>
              <a:rPr lang="en-US" sz="4000" b="1" dirty="0" smtClean="0"/>
              <a:t>protocols for Transport Layer</a:t>
            </a:r>
          </a:p>
        </p:txBody>
      </p:sp>
      <p:sp>
        <p:nvSpPr>
          <p:cNvPr id="3" name="Content Placeholder 2"/>
          <p:cNvSpPr>
            <a:spLocks noGrp="1"/>
          </p:cNvSpPr>
          <p:nvPr>
            <p:ph idx="1"/>
          </p:nvPr>
        </p:nvSpPr>
        <p:spPr/>
        <p:txBody>
          <a:bodyPr/>
          <a:lstStyle/>
          <a:p>
            <a:pPr marL="0" indent="0">
              <a:buNone/>
            </a:pPr>
            <a:r>
              <a:rPr lang="en-US" sz="4400" b="1" dirty="0" smtClean="0"/>
              <a:t>     1.TCP </a:t>
            </a:r>
            <a:endParaRPr lang="en-US" sz="4400" b="1" dirty="0"/>
          </a:p>
          <a:p>
            <a:pPr marL="0" indent="0">
              <a:buFont typeface="Wingdings" panose="05000000000000000000" pitchFamily="2" charset="2"/>
              <a:buNone/>
            </a:pPr>
            <a:r>
              <a:rPr lang="en-US" sz="4400" dirty="0"/>
              <a:t>    Its a </a:t>
            </a:r>
            <a:r>
              <a:rPr lang="en-US" sz="4400" b="1" dirty="0"/>
              <a:t>connection-oriented and reliable</a:t>
            </a:r>
            <a:r>
              <a:rPr lang="en-US" sz="4400" dirty="0"/>
              <a:t> transport protocol.</a:t>
            </a:r>
          </a:p>
          <a:p>
            <a:pPr marL="0" indent="0">
              <a:buNone/>
            </a:pPr>
            <a:r>
              <a:rPr lang="en-US" sz="4400" dirty="0" smtClean="0">
                <a:sym typeface="+mn-ea"/>
              </a:rPr>
              <a:t> It </a:t>
            </a:r>
            <a:r>
              <a:rPr lang="en-US" sz="4400" dirty="0">
                <a:sym typeface="+mn-ea"/>
              </a:rPr>
              <a:t>provides:</a:t>
            </a:r>
            <a:endParaRPr lang="en-US" sz="4400" dirty="0"/>
          </a:p>
          <a:p>
            <a:pPr lvl="1">
              <a:buFont typeface="Wingdings" panose="05000000000000000000" pitchFamily="2" charset="2"/>
              <a:buChar char="Ø"/>
            </a:pPr>
            <a:r>
              <a:rPr lang="en-US" sz="2400" dirty="0">
                <a:sym typeface="+mn-ea"/>
              </a:rPr>
              <a:t>Reliable delivery.</a:t>
            </a:r>
            <a:endParaRPr lang="en-US" sz="2400" dirty="0"/>
          </a:p>
          <a:p>
            <a:pPr lvl="1">
              <a:buFont typeface="Wingdings" panose="05000000000000000000" pitchFamily="2" charset="2"/>
              <a:buChar char="Ø"/>
            </a:pPr>
            <a:r>
              <a:rPr lang="en-US" sz="2400" dirty="0">
                <a:sym typeface="+mn-ea"/>
              </a:rPr>
              <a:t>Correct ordering of data.</a:t>
            </a:r>
            <a:endParaRPr lang="en-US" sz="2400" dirty="0"/>
          </a:p>
          <a:p>
            <a:pPr marL="0" indent="0">
              <a:buFont typeface="Wingdings" panose="05000000000000000000" pitchFamily="2" charset="2"/>
              <a:buNone/>
            </a:pPr>
            <a:endParaRPr lang="en-US" sz="4400" dirty="0"/>
          </a:p>
          <a:p>
            <a:pPr>
              <a:buFont typeface="Wingdings" panose="05000000000000000000" pitchFamily="2" charset="2"/>
              <a:buChar char="Ø"/>
            </a:pPr>
            <a:endParaRPr lang="en-US" sz="4400" dirty="0"/>
          </a:p>
          <a:p>
            <a:pPr marL="0" indent="0">
              <a:buNone/>
            </a:pPr>
            <a:r>
              <a:rPr lang="en-GB" dirty="0" smtClean="0"/>
              <a:t>  </a:t>
            </a: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a:xfrm>
            <a:off x="838200" y="1026795"/>
            <a:ext cx="10515600" cy="4211320"/>
          </a:xfrm>
        </p:spPr>
        <p:txBody>
          <a:bodyPr/>
          <a:lstStyle/>
          <a:p>
            <a:pPr>
              <a:buFont typeface="Wingdings" panose="05000000000000000000" charset="0"/>
              <a:buChar char="Ø"/>
            </a:pPr>
            <a:r>
              <a:rPr lang="en-US" sz="4000" dirty="0"/>
              <a:t>Error detection</a:t>
            </a:r>
          </a:p>
          <a:p>
            <a:pPr>
              <a:buFont typeface="Wingdings" panose="05000000000000000000" charset="0"/>
              <a:buChar char="Ø"/>
            </a:pPr>
            <a:r>
              <a:rPr lang="en-US" sz="4000" dirty="0"/>
              <a:t>Retransmission of lost data</a:t>
            </a:r>
          </a:p>
          <a:p>
            <a:pPr>
              <a:buFont typeface="Wingdings" panose="05000000000000000000" charset="0"/>
              <a:buChar char="Ø"/>
            </a:pPr>
            <a:r>
              <a:rPr lang="en-US" sz="4000" dirty="0"/>
              <a:t>Flow control.</a:t>
            </a:r>
          </a:p>
          <a:p>
            <a:pPr>
              <a:buFont typeface="Wingdings" panose="05000000000000000000" charset="0"/>
              <a:buChar char="Ø"/>
            </a:pPr>
            <a:r>
              <a:rPr lang="en-US" sz="4000" dirty="0"/>
              <a:t>Congestion control.</a:t>
            </a:r>
          </a:p>
          <a:p>
            <a:pPr>
              <a:buFont typeface="Wingdings" panose="05000000000000000000" charset="0"/>
              <a:buChar char="Ø"/>
            </a:pPr>
            <a:r>
              <a:rPr lang="en-US" sz="4000" dirty="0"/>
              <a:t>Connection establishment and termination.</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a:xfrm>
            <a:off x="609600" y="1174750"/>
            <a:ext cx="10972800" cy="3761105"/>
          </a:xfrm>
        </p:spPr>
        <p:txBody>
          <a:bodyPr>
            <a:normAutofit/>
          </a:bodyPr>
          <a:lstStyle/>
          <a:p>
            <a:pPr>
              <a:buFont typeface="Wingdings" panose="05000000000000000000" pitchFamily="2" charset="2"/>
              <a:buChar char="v"/>
            </a:pPr>
            <a:r>
              <a:rPr lang="en-US" sz="3600" dirty="0">
                <a:sym typeface="+mn-ea"/>
              </a:rPr>
              <a:t>TCP establishes a connection using a </a:t>
            </a:r>
            <a:r>
              <a:rPr lang="en-US" sz="3600" b="1" dirty="0">
                <a:sym typeface="+mn-ea"/>
              </a:rPr>
              <a:t>three-way handshake</a:t>
            </a:r>
            <a:r>
              <a:rPr lang="en-US" sz="3600" dirty="0">
                <a:sym typeface="+mn-ea"/>
              </a:rPr>
              <a:t>:</a:t>
            </a:r>
            <a:endParaRPr lang="en-US" sz="3600" dirty="0"/>
          </a:p>
          <a:p>
            <a:pPr marL="0" indent="0">
              <a:buNone/>
            </a:pPr>
            <a:r>
              <a:rPr lang="en-US" sz="3600" b="1" dirty="0">
                <a:sym typeface="+mn-ea"/>
              </a:rPr>
              <a:t> </a:t>
            </a:r>
            <a:r>
              <a:rPr lang="en-US" sz="3600" b="1" dirty="0" smtClean="0">
                <a:sym typeface="+mn-ea"/>
              </a:rPr>
              <a:t>    SYN </a:t>
            </a:r>
            <a:r>
              <a:rPr lang="en-US" sz="3600" b="1" dirty="0">
                <a:sym typeface="+mn-ea"/>
              </a:rPr>
              <a:t>→ SYN-ACK → ACK</a:t>
            </a:r>
            <a:endParaRPr lang="en-US" sz="3600" dirty="0"/>
          </a:p>
          <a:p>
            <a:pPr marL="0" indent="0">
              <a:buNone/>
            </a:pPr>
            <a:r>
              <a:rPr lang="en-US" sz="3600" dirty="0">
                <a:sym typeface="+mn-ea"/>
              </a:rPr>
              <a:t> </a:t>
            </a:r>
            <a:r>
              <a:rPr lang="en-US" sz="3600" dirty="0" smtClean="0">
                <a:sym typeface="+mn-ea"/>
              </a:rPr>
              <a:t>    For </a:t>
            </a:r>
            <a:r>
              <a:rPr lang="en-US" sz="3600" dirty="0">
                <a:sym typeface="+mn-ea"/>
              </a:rPr>
              <a:t>example, HTTPS commonly uses TCP as its underlying transport</a:t>
            </a:r>
            <a:endParaRPr lang="en-US" sz="3600" dirty="0"/>
          </a:p>
          <a:p>
            <a:pPr>
              <a:buFont typeface="Wingdings" panose="05000000000000000000" pitchFamily="2" charset="2"/>
              <a:buChar char="v"/>
            </a:pPr>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29895"/>
            <a:ext cx="10972800" cy="5697855"/>
          </a:xfrm>
        </p:spPr>
        <p:txBody>
          <a:bodyPr/>
          <a:lstStyle/>
          <a:p>
            <a:r>
              <a:rPr lang="en-US" altLang="en-GB"/>
              <a:t>SYN(Synchronise): Enables the client to send a packet with a random sequence number to the server to request a connection and synchronise the communication.</a:t>
            </a:r>
          </a:p>
          <a:p>
            <a:r>
              <a:rPr lang="en-US" altLang="en-GB"/>
              <a:t>SYN-ACK( </a:t>
            </a:r>
            <a:r>
              <a:rPr lang="en-US" altLang="en-GB">
                <a:sym typeface="+mn-ea"/>
              </a:rPr>
              <a:t>Synchronise-Acknowledgement): The server  recieves the request approves the connection,sends back a packet that acknowledge the client’s sequence number while sending its own sequence number  to  synchronize.</a:t>
            </a:r>
          </a:p>
          <a:p>
            <a:r>
              <a:rPr lang="en-US" altLang="en-GB"/>
              <a:t> ACK (</a:t>
            </a:r>
            <a:r>
              <a:rPr lang="en-US" altLang="en-GB">
                <a:sym typeface="+mn-ea"/>
              </a:rPr>
              <a:t>Acknowledgement): The client recieves the server’s approval and sends a final packet back to Acknowlodge the server’s sequence number, completing the secure connection. </a:t>
            </a:r>
            <a:endParaRPr lang="en-US" altLang="en-GB"/>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6050"/>
            <a:ext cx="10972800" cy="1028065"/>
          </a:xfrm>
        </p:spPr>
        <p:txBody>
          <a:bodyPr/>
          <a:lstStyle/>
          <a:p>
            <a:pPr algn="ctr"/>
            <a:r>
              <a:rPr lang="en-US" b="1" dirty="0" smtClean="0"/>
              <a:t>2. UDP (User </a:t>
            </a:r>
            <a:r>
              <a:rPr lang="en-US" b="1" dirty="0"/>
              <a:t>Datagram Protocol)</a:t>
            </a:r>
            <a:endParaRPr lang="en-US" dirty="0"/>
          </a:p>
        </p:txBody>
      </p:sp>
      <p:sp>
        <p:nvSpPr>
          <p:cNvPr id="3" name="Content Placeholder 2"/>
          <p:cNvSpPr>
            <a:spLocks noGrp="1"/>
          </p:cNvSpPr>
          <p:nvPr>
            <p:ph idx="1"/>
          </p:nvPr>
        </p:nvSpPr>
        <p:spPr>
          <a:xfrm>
            <a:off x="609600" y="1382395"/>
            <a:ext cx="10972800" cy="4522470"/>
          </a:xfrm>
        </p:spPr>
        <p:txBody>
          <a:bodyPr/>
          <a:lstStyle/>
          <a:p>
            <a:pPr marL="0" indent="0">
              <a:buNone/>
            </a:pPr>
            <a:r>
              <a:rPr lang="en-US" dirty="0" smtClean="0"/>
              <a:t> UDP </a:t>
            </a:r>
            <a:r>
              <a:rPr lang="en-US" dirty="0"/>
              <a:t>is a </a:t>
            </a:r>
            <a:r>
              <a:rPr lang="en-US" b="1" dirty="0"/>
              <a:t>connectionless</a:t>
            </a:r>
            <a:r>
              <a:rPr lang="en-US" dirty="0"/>
              <a:t> transport protocol with low overhead.</a:t>
            </a:r>
          </a:p>
          <a:p>
            <a:pPr marL="0" indent="0">
              <a:buNone/>
            </a:pPr>
            <a:r>
              <a:rPr lang="en-US" dirty="0" smtClean="0"/>
              <a:t>   It </a:t>
            </a:r>
            <a:r>
              <a:rPr lang="en-US" dirty="0"/>
              <a:t>does not guarantee:</a:t>
            </a:r>
          </a:p>
          <a:p>
            <a:pPr marL="971550" lvl="1" indent="-514350">
              <a:buFont typeface="+mj-lt"/>
              <a:buAutoNum type="romanUcPeriod"/>
            </a:pPr>
            <a:r>
              <a:rPr lang="en-US" sz="2800" dirty="0"/>
              <a:t>Delivery</a:t>
            </a:r>
          </a:p>
          <a:p>
            <a:pPr marL="971550" lvl="1" indent="-514350">
              <a:buFont typeface="+mj-lt"/>
              <a:buAutoNum type="romanUcPeriod"/>
            </a:pPr>
            <a:r>
              <a:rPr lang="en-US" sz="2800" dirty="0"/>
              <a:t>Ordering</a:t>
            </a:r>
          </a:p>
          <a:p>
            <a:pPr marL="971550" lvl="1" indent="-514350">
              <a:buFont typeface="+mj-lt"/>
              <a:buAutoNum type="romanUcPeriod"/>
            </a:pPr>
            <a:r>
              <a:rPr lang="en-US" sz="2800" dirty="0"/>
              <a:t>Retransmission</a:t>
            </a:r>
          </a:p>
          <a:p>
            <a:pPr marL="0" indent="0">
              <a:buNone/>
            </a:pPr>
            <a:r>
              <a:rPr lang="en-US" dirty="0" smtClean="0"/>
              <a:t>  UDP </a:t>
            </a:r>
            <a:r>
              <a:rPr lang="en-US" dirty="0"/>
              <a:t>is useful when speed and low overhead are more important than guaranteed delivery.</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UDP include</a:t>
            </a:r>
            <a:r>
              <a:rPr lang="en-US" b="1" dirty="0" smtClean="0"/>
              <a:t>:</a:t>
            </a:r>
            <a:endParaRPr lang="en-US" b="1"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Ø"/>
            </a:pPr>
            <a:r>
              <a:rPr lang="en-US" sz="4000" dirty="0"/>
              <a:t>DNS queries</a:t>
            </a:r>
          </a:p>
          <a:p>
            <a:pPr lvl="1">
              <a:buFont typeface="Wingdings" panose="05000000000000000000" pitchFamily="2" charset="2"/>
              <a:buChar char="Ø"/>
            </a:pPr>
            <a:r>
              <a:rPr lang="en-US" sz="4000" dirty="0"/>
              <a:t>Real-time voice/video</a:t>
            </a:r>
          </a:p>
          <a:p>
            <a:pPr lvl="1">
              <a:buFont typeface="Wingdings" panose="05000000000000000000" pitchFamily="2" charset="2"/>
              <a:buChar char="Ø"/>
            </a:pPr>
            <a:r>
              <a:rPr lang="en-US" sz="4000" dirty="0"/>
              <a:t>Online </a:t>
            </a:r>
            <a:r>
              <a:rPr lang="en-US" sz="4000" dirty="0" smtClean="0"/>
              <a:t>gaming</a:t>
            </a:r>
          </a:p>
          <a:p>
            <a:pPr lvl="1">
              <a:buFont typeface="Wingdings" panose="05000000000000000000" pitchFamily="2" charset="2"/>
              <a:buChar char="Ø"/>
            </a:pPr>
            <a:r>
              <a:rPr lang="en-US" sz="4000" dirty="0" smtClean="0"/>
              <a:t>Streaming </a:t>
            </a:r>
            <a:r>
              <a:rPr lang="en-US" sz="4000" dirty="0"/>
              <a:t>applications</a:t>
            </a:r>
            <a:endParaRPr lang="en-US" sz="4000" b="1"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372870"/>
          </a:xfrm>
        </p:spPr>
        <p:txBody>
          <a:bodyPr/>
          <a:lstStyle/>
          <a:p>
            <a:r>
              <a:rPr lang="en-US" b="1" dirty="0"/>
              <a:t>3.SCTP</a:t>
            </a:r>
            <a:r>
              <a:rPr lang="en-US" b="1" u="sng" dirty="0"/>
              <a:t> </a:t>
            </a:r>
            <a:r>
              <a:rPr lang="en-US" b="1" dirty="0"/>
              <a:t/>
            </a:r>
            <a:br>
              <a:rPr lang="en-US" b="1" dirty="0"/>
            </a:br>
            <a:r>
              <a:rPr lang="en-US" b="1" dirty="0"/>
              <a:t> (Stream Control Transmission Protocol)</a:t>
            </a:r>
            <a:endParaRPr lang="en-US" dirty="0"/>
          </a:p>
        </p:txBody>
      </p:sp>
      <p:sp>
        <p:nvSpPr>
          <p:cNvPr id="3" name="Content Placeholder 2"/>
          <p:cNvSpPr>
            <a:spLocks noGrp="1"/>
          </p:cNvSpPr>
          <p:nvPr>
            <p:ph idx="1"/>
          </p:nvPr>
        </p:nvSpPr>
        <p:spPr>
          <a:xfrm>
            <a:off x="609600" y="2054860"/>
            <a:ext cx="10972800" cy="4072890"/>
          </a:xfrm>
        </p:spPr>
        <p:txBody>
          <a:bodyPr>
            <a:normAutofit/>
          </a:bodyPr>
          <a:lstStyle/>
          <a:p>
            <a:pPr marL="0" indent="0">
              <a:buNone/>
            </a:pPr>
            <a:r>
              <a:rPr lang="en-US" dirty="0" smtClean="0"/>
              <a:t>   </a:t>
            </a:r>
            <a:r>
              <a:rPr lang="en-US" sz="4000" dirty="0" smtClean="0"/>
              <a:t>SCTP </a:t>
            </a:r>
            <a:r>
              <a:rPr lang="en-US" sz="4000" dirty="0"/>
              <a:t>is a reliable, message-oriented transport protocol. It supports features such as </a:t>
            </a:r>
            <a:r>
              <a:rPr lang="en-US" sz="4000" b="1" dirty="0"/>
              <a:t>multistreaming</a:t>
            </a:r>
            <a:r>
              <a:rPr lang="en-US" sz="4000" dirty="0"/>
              <a:t> and </a:t>
            </a:r>
            <a:r>
              <a:rPr lang="en-US" sz="4000" b="1" dirty="0"/>
              <a:t>multihoming</a:t>
            </a:r>
            <a:r>
              <a:rPr lang="en-US" sz="4000" dirty="0"/>
              <a:t> and is used in specialized networking applications.</a:t>
            </a:r>
          </a:p>
          <a:p>
            <a:pPr marL="0" indent="0">
              <a:buNone/>
            </a:pPr>
            <a:r>
              <a:rPr lang="en-US" sz="4000" dirty="0" smtClean="0"/>
              <a:t>     Data </a:t>
            </a:r>
            <a:r>
              <a:rPr lang="en-US" sz="4000" dirty="0"/>
              <a:t>unit</a:t>
            </a:r>
            <a:r>
              <a:rPr lang="en-US" sz="4000" b="1" dirty="0"/>
              <a:t>:</a:t>
            </a:r>
            <a:r>
              <a:rPr lang="en-US" sz="4000" dirty="0"/>
              <a:t> Segment (TCP) / Datagram (UDP)</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dirty="0"/>
              <a:t>3. Internet </a:t>
            </a:r>
            <a:r>
              <a:rPr lang="en-US" sz="4800" b="1" dirty="0" smtClean="0"/>
              <a:t>Layer</a:t>
            </a:r>
            <a:endParaRPr lang="en-US" sz="4800" b="1" dirty="0"/>
          </a:p>
        </p:txBody>
      </p:sp>
      <p:sp>
        <p:nvSpPr>
          <p:cNvPr id="3" name="Content Placeholder 2"/>
          <p:cNvSpPr>
            <a:spLocks noGrp="1"/>
          </p:cNvSpPr>
          <p:nvPr>
            <p:ph idx="1"/>
          </p:nvPr>
        </p:nvSpPr>
        <p:spPr>
          <a:xfrm>
            <a:off x="609600" y="1576705"/>
            <a:ext cx="10972800" cy="4551045"/>
          </a:xfrm>
        </p:spPr>
        <p:txBody>
          <a:bodyPr/>
          <a:lstStyle/>
          <a:p>
            <a:pPr marL="0" indent="0">
              <a:buNone/>
            </a:pPr>
            <a:r>
              <a:rPr lang="en-US" dirty="0" smtClean="0"/>
              <a:t>  </a:t>
            </a:r>
            <a:r>
              <a:rPr lang="en-US" sz="4000" dirty="0" smtClean="0"/>
              <a:t> The</a:t>
            </a:r>
            <a:r>
              <a:rPr lang="en-US" sz="4000" dirty="0"/>
              <a:t> Internet Layer is responsible primarily for logical addressing and routing packets between different networks.</a:t>
            </a:r>
          </a:p>
          <a:p>
            <a:pPr marL="0" indent="0">
              <a:buNone/>
            </a:pPr>
            <a:r>
              <a:rPr lang="en-US" sz="4000" dirty="0" smtClean="0"/>
              <a:t>   It </a:t>
            </a:r>
            <a:r>
              <a:rPr lang="en-US" sz="4000" dirty="0"/>
              <a:t>corresponds broadly to the Network Layer (Layer 3) of the OSI model</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Responsibilities</a:t>
            </a:r>
            <a:r>
              <a:rPr lang="en-US" dirty="0" smtClean="0"/>
              <a:t> </a:t>
            </a:r>
            <a:r>
              <a:rPr lang="en-US" b="1" dirty="0" smtClean="0"/>
              <a:t>for Internet Layer</a:t>
            </a:r>
            <a:endParaRPr lang="en-US" b="1"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Ø"/>
            </a:pPr>
            <a:r>
              <a:rPr lang="en-US" sz="3200" dirty="0"/>
              <a:t>Provides logical addressing.</a:t>
            </a:r>
          </a:p>
          <a:p>
            <a:pPr lvl="1">
              <a:buFont typeface="Wingdings" panose="05000000000000000000" pitchFamily="2" charset="2"/>
              <a:buChar char="Ø"/>
            </a:pPr>
            <a:r>
              <a:rPr lang="en-US" sz="3200" dirty="0"/>
              <a:t>Determines how packets travel between networks.</a:t>
            </a:r>
          </a:p>
          <a:p>
            <a:pPr lvl="1">
              <a:buFont typeface="Wingdings" panose="05000000000000000000" pitchFamily="2" charset="2"/>
              <a:buChar char="Ø"/>
            </a:pPr>
            <a:r>
              <a:rPr lang="en-US" sz="3200" dirty="0"/>
              <a:t>Routes packets from source to destination.</a:t>
            </a:r>
          </a:p>
          <a:p>
            <a:pPr lvl="1">
              <a:buFont typeface="Wingdings" panose="05000000000000000000" pitchFamily="2" charset="2"/>
              <a:buChar char="Ø"/>
            </a:pPr>
            <a:r>
              <a:rPr lang="en-US" sz="3200" dirty="0"/>
              <a:t>Forwards packets through routers.</a:t>
            </a:r>
          </a:p>
          <a:p>
            <a:pPr lvl="1">
              <a:buFont typeface="Wingdings" panose="05000000000000000000" pitchFamily="2" charset="2"/>
              <a:buChar char="Ø"/>
            </a:pPr>
            <a:r>
              <a:rPr lang="en-US" sz="3200" dirty="0"/>
              <a:t>Provides packet fragmentation/reassembly mechanisms where applicable.</a:t>
            </a:r>
          </a:p>
          <a:p>
            <a:pPr lvl="1">
              <a:buFont typeface="Wingdings" panose="05000000000000000000" pitchFamily="2" charset="2"/>
              <a:buChar char="Ø"/>
            </a:pPr>
            <a:r>
              <a:rPr lang="en-US" sz="3200" dirty="0"/>
              <a:t>Provides network-level error and diagnostic information through supporting protocols.</a:t>
            </a:r>
          </a:p>
          <a:p>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a:t>
            </a:r>
            <a:r>
              <a:rPr lang="en-US" b="1" dirty="0" smtClean="0"/>
              <a:t>protocols under Internet Layer</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 </a:t>
            </a:r>
            <a:r>
              <a:rPr lang="en-US" sz="4200" b="1" dirty="0" smtClean="0"/>
              <a:t>IP (Internet Protocol)</a:t>
            </a:r>
            <a:endParaRPr lang="en-US" sz="4200" dirty="0"/>
          </a:p>
          <a:p>
            <a:pPr marL="0" indent="0">
              <a:buNone/>
            </a:pPr>
            <a:r>
              <a:rPr lang="en-US" dirty="0" smtClean="0"/>
              <a:t> IP </a:t>
            </a:r>
            <a:r>
              <a:rPr lang="en-US" dirty="0"/>
              <a:t>is the most important protocol at this </a:t>
            </a:r>
            <a:r>
              <a:rPr lang="en-US" dirty="0" smtClean="0"/>
              <a:t>layer.</a:t>
            </a:r>
          </a:p>
          <a:p>
            <a:pPr marL="0" indent="0">
              <a:buNone/>
            </a:pPr>
            <a:r>
              <a:rPr lang="en-US" dirty="0" smtClean="0"/>
              <a:t>There </a:t>
            </a:r>
            <a:r>
              <a:rPr lang="en-US" dirty="0"/>
              <a:t>are two major versions:</a:t>
            </a:r>
          </a:p>
          <a:p>
            <a:pPr>
              <a:buFont typeface="Wingdings" panose="05000000000000000000" pitchFamily="2" charset="2"/>
              <a:buChar char="Ø"/>
            </a:pPr>
            <a:r>
              <a:rPr lang="en-US" b="1" dirty="0" smtClean="0"/>
              <a:t> IPv4</a:t>
            </a:r>
            <a:endParaRPr lang="en-US" dirty="0"/>
          </a:p>
          <a:p>
            <a:pPr marL="0" indent="0">
              <a:buNone/>
            </a:pPr>
            <a:r>
              <a:rPr lang="en-US" dirty="0" smtClean="0"/>
              <a:t> Uses</a:t>
            </a:r>
            <a:r>
              <a:rPr lang="en-US" dirty="0"/>
              <a:t> </a:t>
            </a:r>
            <a:r>
              <a:rPr lang="en-US" b="1" dirty="0"/>
              <a:t>32-bit addresses</a:t>
            </a:r>
            <a:r>
              <a:rPr lang="en-US" dirty="0"/>
              <a:t>, for example:</a:t>
            </a:r>
          </a:p>
          <a:p>
            <a:pPr marL="0" indent="0">
              <a:buNone/>
            </a:pPr>
            <a:r>
              <a:rPr lang="en-US" dirty="0" smtClean="0"/>
              <a:t> 192.168.1.10</a:t>
            </a:r>
            <a:endParaRPr lang="en-US" dirty="0"/>
          </a:p>
          <a:p>
            <a:pPr marL="0" indent="0">
              <a:buNone/>
            </a:pPr>
            <a:r>
              <a:rPr lang="en-US" dirty="0"/>
              <a:t> </a:t>
            </a:r>
            <a:r>
              <a:rPr lang="en-US" dirty="0" smtClean="0"/>
              <a:t>IPv4 </a:t>
            </a:r>
            <a:r>
              <a:rPr lang="en-US" dirty="0"/>
              <a:t>provides addressing and routing of packets across interconnected networks.</a:t>
            </a:r>
          </a:p>
          <a:p>
            <a:pPr>
              <a:buFont typeface="Wingdings" panose="05000000000000000000" pitchFamily="2" charset="2"/>
              <a:buChar char="Ø"/>
            </a:pPr>
            <a:r>
              <a:rPr lang="en-US" b="1" dirty="0"/>
              <a:t>IPv6</a:t>
            </a:r>
            <a:endParaRPr lang="en-US" dirty="0"/>
          </a:p>
          <a:p>
            <a:pPr marL="0" indent="0">
              <a:buNone/>
            </a:pPr>
            <a:r>
              <a:rPr lang="en-US" dirty="0" smtClean="0"/>
              <a:t> Uses</a:t>
            </a:r>
            <a:r>
              <a:rPr lang="en-US" dirty="0"/>
              <a:t> </a:t>
            </a:r>
            <a:r>
              <a:rPr lang="en-US" b="1" dirty="0"/>
              <a:t>128-bit addresses</a:t>
            </a:r>
            <a:r>
              <a:rPr lang="en-US" dirty="0"/>
              <a:t>, for example:</a:t>
            </a:r>
          </a:p>
          <a:p>
            <a:pPr marL="0" indent="0">
              <a:buNone/>
            </a:pPr>
            <a:r>
              <a:rPr lang="en-US" dirty="0" smtClean="0"/>
              <a:t> 2001:db8</a:t>
            </a:r>
            <a:r>
              <a:rPr lang="en-US" dirty="0"/>
              <a:t>::1</a:t>
            </a:r>
          </a:p>
          <a:p>
            <a:pPr marL="0" indent="0">
              <a:buNone/>
            </a:pPr>
            <a:r>
              <a:rPr lang="en-US" dirty="0" smtClean="0"/>
              <a:t> IPv6 </a:t>
            </a:r>
            <a:r>
              <a:rPr lang="en-US" dirty="0"/>
              <a:t>was developed partly to provide a vastly larger address space than IPv4</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43944"/>
            <a:ext cx="10972800" cy="862885"/>
          </a:xfrm>
        </p:spPr>
        <p:txBody>
          <a:bodyPr>
            <a:normAutofit fontScale="90000"/>
          </a:bodyPr>
          <a:lstStyle/>
          <a:p>
            <a:r>
              <a:rPr lang="en-US" b="1" dirty="0" smtClean="0"/>
              <a:t>   </a:t>
            </a:r>
            <a:r>
              <a:rPr lang="en-US" dirty="0"/>
              <a:t/>
            </a:r>
            <a:br>
              <a:rPr lang="en-US" dirty="0"/>
            </a:br>
            <a:r>
              <a:rPr lang="en-US" dirty="0"/>
              <a:t> </a:t>
            </a:r>
            <a:r>
              <a:rPr lang="en-US" b="1" dirty="0" smtClean="0"/>
              <a:t>ICMP (Internet </a:t>
            </a:r>
            <a:r>
              <a:rPr lang="en-US" b="1" dirty="0"/>
              <a:t>Control Message </a:t>
            </a:r>
            <a:r>
              <a:rPr lang="en-US" b="1" dirty="0" smtClean="0"/>
              <a:t>Protocol)</a:t>
            </a:r>
            <a:br>
              <a:rPr lang="en-US" b="1" dirty="0" smtClean="0"/>
            </a:br>
            <a:endParaRPr lang="en-US" dirty="0"/>
          </a:p>
        </p:txBody>
      </p:sp>
      <p:sp>
        <p:nvSpPr>
          <p:cNvPr id="3" name="Content Placeholder 2"/>
          <p:cNvSpPr>
            <a:spLocks noGrp="1"/>
          </p:cNvSpPr>
          <p:nvPr>
            <p:ph idx="1"/>
          </p:nvPr>
        </p:nvSpPr>
        <p:spPr>
          <a:xfrm>
            <a:off x="764147" y="1506829"/>
            <a:ext cx="10972800" cy="4350464"/>
          </a:xfrm>
        </p:spPr>
        <p:txBody>
          <a:bodyPr/>
          <a:lstStyle/>
          <a:p>
            <a:pPr marL="0" indent="0">
              <a:buNone/>
            </a:pPr>
            <a:r>
              <a:rPr lang="en-US" sz="2800" b="1" dirty="0" smtClean="0"/>
              <a:t>   </a:t>
            </a:r>
            <a:r>
              <a:rPr lang="en-US" sz="2800" dirty="0" smtClean="0"/>
              <a:t>ICMP is used to send error reports and diagnostic/control messages related to IP communication. </a:t>
            </a:r>
          </a:p>
          <a:p>
            <a:pPr marL="0" indent="0">
              <a:buNone/>
            </a:pPr>
            <a:r>
              <a:rPr lang="en-US" sz="2800" dirty="0" smtClean="0"/>
              <a:t>      For example, the ping command commonly uses </a:t>
            </a:r>
            <a:r>
              <a:rPr lang="en-US" sz="2800" b="1" dirty="0" smtClean="0"/>
              <a:t>ICMP Echo </a:t>
            </a:r>
            <a:r>
              <a:rPr lang="en-US" sz="2800" dirty="0" smtClean="0"/>
              <a:t>Request and Echo Reply messages to test reachability.</a:t>
            </a:r>
          </a:p>
          <a:p>
            <a:pPr marL="0" indent="0">
              <a:buNone/>
            </a:pPr>
            <a:r>
              <a:rPr lang="en-US" sz="2800" dirty="0" smtClean="0"/>
              <a:t> ICMPv6</a:t>
            </a:r>
          </a:p>
          <a:p>
            <a:pPr marL="0" indent="0">
              <a:buNone/>
            </a:pPr>
            <a:r>
              <a:rPr lang="en-US" sz="2800" dirty="0" smtClean="0"/>
              <a:t> ICMPv6 performs similar functions for IPv6 and also plays an important role in IPv6 network operation, including functions used by Neighbor Discovery</a:t>
            </a:r>
            <a:endParaRPr lang="en-US" sz="28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t>
            </a:r>
            <a:r>
              <a:rPr lang="en-US" b="1" dirty="0" smtClean="0"/>
              <a:t> IGMP — Internet Group Management Protocol</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sz="4000" dirty="0" smtClean="0"/>
              <a:t> IGMP </a:t>
            </a:r>
            <a:r>
              <a:rPr lang="en-US" sz="4000" dirty="0"/>
              <a:t>is used by IPv4 hosts and routers to manage </a:t>
            </a:r>
            <a:r>
              <a:rPr lang="en-US" sz="4000" b="1" dirty="0"/>
              <a:t>multicast group membership</a:t>
            </a:r>
            <a:r>
              <a:rPr lang="en-US" sz="4000" dirty="0"/>
              <a:t>.</a:t>
            </a:r>
          </a:p>
          <a:p>
            <a:pPr marL="0" indent="0">
              <a:buNone/>
            </a:pPr>
            <a:r>
              <a:rPr lang="en-US" sz="4000" dirty="0" smtClean="0"/>
              <a:t> For </a:t>
            </a:r>
            <a:r>
              <a:rPr lang="en-US" sz="4000" dirty="0"/>
              <a:t>example, it helps routers determine which local hosts want to receive multicast traffic.</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IPsec — Internet Protocol Security</a:t>
            </a:r>
            <a:endParaRPr lang="en-US" dirty="0"/>
          </a:p>
        </p:txBody>
      </p:sp>
      <p:sp>
        <p:nvSpPr>
          <p:cNvPr id="3" name="Content Placeholder 2"/>
          <p:cNvSpPr>
            <a:spLocks noGrp="1"/>
          </p:cNvSpPr>
          <p:nvPr>
            <p:ph idx="1"/>
          </p:nvPr>
        </p:nvSpPr>
        <p:spPr/>
        <p:txBody>
          <a:bodyPr/>
          <a:lstStyle/>
          <a:p>
            <a:pPr marL="0" indent="0">
              <a:buNone/>
            </a:pPr>
            <a:endParaRPr lang="en-US" sz="1600" dirty="0"/>
          </a:p>
          <a:p>
            <a:pPr marL="0" indent="0">
              <a:buNone/>
            </a:pPr>
            <a:r>
              <a:rPr lang="en-US" dirty="0" smtClean="0"/>
              <a:t> IPsec </a:t>
            </a:r>
            <a:r>
              <a:rPr lang="en-US" dirty="0"/>
              <a:t>provides security for IP communication, including:</a:t>
            </a:r>
            <a:endParaRPr lang="en-US" sz="2000" dirty="0"/>
          </a:p>
          <a:p>
            <a:pPr lvl="1">
              <a:buFont typeface="Wingdings" panose="05000000000000000000" pitchFamily="2" charset="2"/>
              <a:buChar char="Ø"/>
            </a:pPr>
            <a:r>
              <a:rPr lang="en-US" dirty="0"/>
              <a:t>Authentication</a:t>
            </a:r>
            <a:endParaRPr lang="en-US" sz="1800" dirty="0"/>
          </a:p>
          <a:p>
            <a:pPr lvl="1">
              <a:buFont typeface="Wingdings" panose="05000000000000000000" pitchFamily="2" charset="2"/>
              <a:buChar char="Ø"/>
            </a:pPr>
            <a:r>
              <a:rPr lang="en-US" dirty="0"/>
              <a:t>Integrity protection</a:t>
            </a:r>
            <a:endParaRPr lang="en-US" sz="1800" dirty="0"/>
          </a:p>
          <a:p>
            <a:pPr lvl="1">
              <a:buFont typeface="Wingdings" panose="05000000000000000000" pitchFamily="2" charset="2"/>
              <a:buChar char="Ø"/>
            </a:pPr>
            <a:r>
              <a:rPr lang="en-US" dirty="0"/>
              <a:t>Confidentiality/encryption</a:t>
            </a:r>
            <a:endParaRPr lang="en-US" sz="1800" dirty="0"/>
          </a:p>
          <a:p>
            <a:pPr marL="0" indent="0">
              <a:buNone/>
            </a:pPr>
            <a:r>
              <a:rPr lang="en-US" dirty="0" smtClean="0"/>
              <a:t> It </a:t>
            </a:r>
            <a:r>
              <a:rPr lang="en-US" dirty="0"/>
              <a:t>is commonly used in </a:t>
            </a:r>
            <a:r>
              <a:rPr lang="en-US" b="1" dirty="0"/>
              <a:t>VPNs</a:t>
            </a:r>
            <a:r>
              <a:rPr lang="en-US" dirty="0"/>
              <a:t> and other secure IP communications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 </a:t>
            </a:r>
            <a:r>
              <a:rPr lang="en-US" b="1" dirty="0" smtClean="0"/>
              <a:t>protocols</a:t>
            </a:r>
            <a:endParaRPr lang="en-US" dirty="0"/>
          </a:p>
        </p:txBody>
      </p:sp>
      <p:sp>
        <p:nvSpPr>
          <p:cNvPr id="3" name="Content Placeholder 2"/>
          <p:cNvSpPr>
            <a:spLocks noGrp="1"/>
          </p:cNvSpPr>
          <p:nvPr>
            <p:ph idx="1"/>
          </p:nvPr>
        </p:nvSpPr>
        <p:spPr/>
        <p:txBody>
          <a:bodyPr/>
          <a:lstStyle/>
          <a:p>
            <a:pPr marL="0" indent="0">
              <a:buNone/>
            </a:pPr>
            <a:r>
              <a:rPr lang="en-US" dirty="0" smtClean="0"/>
              <a:t> Routing </a:t>
            </a:r>
            <a:r>
              <a:rPr lang="en-US" dirty="0"/>
              <a:t>protocols help routers learn and exchange information about available paths.</a:t>
            </a:r>
            <a:endParaRPr lang="en-US" sz="2000" dirty="0"/>
          </a:p>
          <a:p>
            <a:pPr marL="0" indent="0">
              <a:buNone/>
            </a:pPr>
            <a:r>
              <a:rPr lang="en-US" dirty="0" smtClean="0"/>
              <a:t> Examples </a:t>
            </a:r>
            <a:r>
              <a:rPr lang="en-US" dirty="0"/>
              <a:t>include:</a:t>
            </a:r>
            <a:endParaRPr lang="en-US" sz="2000" dirty="0"/>
          </a:p>
          <a:p>
            <a:pPr lvl="1">
              <a:buFont typeface="Wingdings" panose="05000000000000000000" pitchFamily="2" charset="2"/>
              <a:buChar char="Ø"/>
            </a:pPr>
            <a:r>
              <a:rPr lang="en-US" b="1" dirty="0"/>
              <a:t>OSPF</a:t>
            </a:r>
            <a:r>
              <a:rPr lang="en-US" dirty="0"/>
              <a:t> — calculates routes within an autonomous system using link-state information.</a:t>
            </a:r>
            <a:endParaRPr lang="en-US" sz="1800" dirty="0"/>
          </a:p>
          <a:p>
            <a:pPr lvl="1">
              <a:buFont typeface="Wingdings" panose="05000000000000000000" pitchFamily="2" charset="2"/>
              <a:buChar char="Ø"/>
            </a:pPr>
            <a:r>
              <a:rPr lang="en-US" b="1" dirty="0"/>
              <a:t>RIP</a:t>
            </a:r>
            <a:r>
              <a:rPr lang="en-US" dirty="0"/>
              <a:t> — uses a distance-vector approach based on hop count.</a:t>
            </a:r>
            <a:endParaRPr lang="en-US" sz="1800" dirty="0"/>
          </a:p>
          <a:p>
            <a:pPr lvl="1">
              <a:buFont typeface="Wingdings" panose="05000000000000000000" pitchFamily="2" charset="2"/>
              <a:buChar char="Ø"/>
            </a:pPr>
            <a:r>
              <a:rPr lang="en-US" b="1" dirty="0"/>
              <a:t>BGP</a:t>
            </a:r>
            <a:r>
              <a:rPr lang="en-US" dirty="0"/>
              <a:t> — exchanges routing information between autonomous systems and is fundamental to Internet routing.</a:t>
            </a:r>
            <a:endParaRPr lang="en-US" sz="1800" dirty="0"/>
          </a:p>
          <a:p>
            <a:pPr marL="0" indent="0">
              <a:buNone/>
            </a:pPr>
            <a:r>
              <a:rPr lang="en-US" b="1" dirty="0" smtClean="0"/>
              <a:t> Data </a:t>
            </a:r>
            <a:r>
              <a:rPr lang="en-US" b="1" dirty="0"/>
              <a:t>unit:</a:t>
            </a:r>
            <a:r>
              <a:rPr lang="en-US" dirty="0"/>
              <a:t> Packet/Datagram</a:t>
            </a:r>
            <a:endParaRPr lang="en-US" sz="2000" dirty="0"/>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Network Access </a:t>
            </a:r>
            <a:r>
              <a:rPr lang="en-US" b="1" dirty="0" smtClean="0"/>
              <a:t>Layer</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smtClean="0"/>
              <a:t> The</a:t>
            </a:r>
            <a:r>
              <a:rPr lang="en-US" sz="3600" dirty="0"/>
              <a:t> Network Access Layer, also called the Link Layer or Network Interface Layer, is the lowest layer of the traditional TCP/IP model.</a:t>
            </a:r>
          </a:p>
          <a:p>
            <a:pPr marL="0" indent="0">
              <a:buNone/>
            </a:pPr>
            <a:r>
              <a:rPr lang="en-US" sz="3600" dirty="0" smtClean="0"/>
              <a:t> It </a:t>
            </a:r>
            <a:r>
              <a:rPr lang="en-US" sz="3600" dirty="0"/>
              <a:t>combines functions corresponding roughly to the Data Link and Physical layers of the OSI model.</a:t>
            </a:r>
          </a:p>
          <a:p>
            <a:pPr marL="0" indent="0">
              <a:buNone/>
            </a:pPr>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Responsibilities under Network Access Layer</a:t>
            </a:r>
            <a:endParaRPr lang="en-US" dirty="0"/>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US" sz="2800" dirty="0"/>
              <a:t>Provides communication over the local network.</a:t>
            </a:r>
          </a:p>
          <a:p>
            <a:pPr marL="914400" lvl="1" indent="-457200">
              <a:buFont typeface="+mj-lt"/>
              <a:buAutoNum type="arabicPeriod"/>
            </a:pPr>
            <a:r>
              <a:rPr lang="en-US" sz="2800" dirty="0"/>
              <a:t>Packages IP packets into frames.</a:t>
            </a:r>
          </a:p>
          <a:p>
            <a:pPr marL="914400" lvl="1" indent="-457200">
              <a:buFont typeface="+mj-lt"/>
              <a:buAutoNum type="arabicPeriod"/>
            </a:pPr>
            <a:r>
              <a:rPr lang="en-US" sz="2800" dirty="0"/>
              <a:t>Uses physical or hardware addresses such as MAC addresses.</a:t>
            </a:r>
          </a:p>
          <a:p>
            <a:pPr marL="914400" lvl="1" indent="-457200">
              <a:buFont typeface="+mj-lt"/>
              <a:buAutoNum type="arabicPeriod"/>
            </a:pPr>
            <a:r>
              <a:rPr lang="en-US" sz="2800" dirty="0"/>
              <a:t>Controls access to the transmission medium.</a:t>
            </a:r>
          </a:p>
          <a:p>
            <a:pPr marL="914400" lvl="1" indent="-457200">
              <a:buFont typeface="+mj-lt"/>
              <a:buAutoNum type="arabicPeriod"/>
            </a:pPr>
            <a:r>
              <a:rPr lang="en-US" sz="2800" dirty="0"/>
              <a:t>Detects errors in frames.</a:t>
            </a:r>
          </a:p>
          <a:p>
            <a:pPr marL="914400" lvl="1" indent="-457200">
              <a:buFont typeface="+mj-lt"/>
              <a:buAutoNum type="arabicPeriod"/>
            </a:pPr>
            <a:r>
              <a:rPr lang="en-US" sz="2800" dirty="0"/>
              <a:t>Defines how data is transmitted over the physical </a:t>
            </a:r>
            <a:r>
              <a:rPr lang="en-US" sz="2800" dirty="0" smtClean="0"/>
              <a:t>medium. </a:t>
            </a:r>
          </a:p>
          <a:p>
            <a:pPr marL="914400" lvl="1" indent="-457200">
              <a:buFont typeface="+mj-lt"/>
              <a:buAutoNum type="arabicPeriod"/>
            </a:pPr>
            <a:r>
              <a:rPr lang="en-US" sz="2800" dirty="0" smtClean="0"/>
              <a:t>Handles </a:t>
            </a:r>
            <a:r>
              <a:rPr lang="en-US" sz="2800" dirty="0"/>
              <a:t>physical signaling through copper, fiber, or radio</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protocols and </a:t>
            </a:r>
            <a:r>
              <a:rPr lang="en-US" b="1" dirty="0" smtClean="0"/>
              <a:t>technologies</a:t>
            </a:r>
            <a:endParaRPr lang="en-US" dirty="0"/>
          </a:p>
        </p:txBody>
      </p:sp>
      <p:sp>
        <p:nvSpPr>
          <p:cNvPr id="3" name="Content Placeholder 2"/>
          <p:cNvSpPr>
            <a:spLocks noGrp="1"/>
          </p:cNvSpPr>
          <p:nvPr>
            <p:ph idx="1"/>
          </p:nvPr>
        </p:nvSpPr>
        <p:spPr/>
        <p:txBody>
          <a:bodyPr/>
          <a:lstStyle/>
          <a:p>
            <a:pPr marL="0" indent="0">
              <a:buNone/>
            </a:pPr>
            <a:r>
              <a:rPr lang="en-US" b="1" dirty="0"/>
              <a:t> </a:t>
            </a:r>
            <a:r>
              <a:rPr lang="en-US" b="1" dirty="0" smtClean="0"/>
              <a:t> Ethernet </a:t>
            </a:r>
            <a:r>
              <a:rPr lang="en-US" b="1" dirty="0"/>
              <a:t>— IEEE 802.3</a:t>
            </a:r>
            <a:endParaRPr lang="en-US" sz="1600" dirty="0"/>
          </a:p>
          <a:p>
            <a:pPr marL="0" indent="0">
              <a:buNone/>
            </a:pPr>
            <a:r>
              <a:rPr lang="en-US" dirty="0" smtClean="0"/>
              <a:t>  Ethernet </a:t>
            </a:r>
            <a:r>
              <a:rPr lang="en-US" dirty="0"/>
              <a:t>is widely used for wired LANs.</a:t>
            </a:r>
            <a:endParaRPr lang="en-US" sz="2000" dirty="0"/>
          </a:p>
          <a:p>
            <a:pPr marL="0" indent="0">
              <a:buNone/>
            </a:pPr>
            <a:r>
              <a:rPr lang="en-US" dirty="0" smtClean="0"/>
              <a:t>  It </a:t>
            </a:r>
            <a:r>
              <a:rPr lang="en-US" dirty="0"/>
              <a:t>defines:</a:t>
            </a:r>
            <a:endParaRPr lang="en-US" sz="2000" dirty="0"/>
          </a:p>
          <a:p>
            <a:pPr lvl="1">
              <a:buFont typeface="Wingdings" panose="05000000000000000000" pitchFamily="2" charset="2"/>
              <a:buChar char="Ø"/>
            </a:pPr>
            <a:r>
              <a:rPr lang="en-US" dirty="0"/>
              <a:t>Ethernet frames.</a:t>
            </a:r>
            <a:endParaRPr lang="en-US" sz="1800" dirty="0"/>
          </a:p>
          <a:p>
            <a:pPr lvl="1">
              <a:buFont typeface="Wingdings" panose="05000000000000000000" pitchFamily="2" charset="2"/>
              <a:buChar char="Ø"/>
            </a:pPr>
            <a:r>
              <a:rPr lang="en-US" dirty="0"/>
              <a:t>MAC addressing.</a:t>
            </a:r>
            <a:endParaRPr lang="en-US" sz="1800" dirty="0"/>
          </a:p>
          <a:p>
            <a:pPr lvl="1">
              <a:buFont typeface="Wingdings" panose="05000000000000000000" pitchFamily="2" charset="2"/>
              <a:buChar char="Ø"/>
            </a:pPr>
            <a:r>
              <a:rPr lang="en-US" dirty="0"/>
              <a:t>Physical transmission standards.</a:t>
            </a:r>
            <a:endParaRPr lang="en-US" sz="1800" dirty="0"/>
          </a:p>
          <a:p>
            <a:pPr lvl="1">
              <a:buFont typeface="Wingdings" panose="05000000000000000000" pitchFamily="2" charset="2"/>
              <a:buChar char="Ø"/>
            </a:pPr>
            <a:r>
              <a:rPr lang="en-US" dirty="0"/>
              <a:t>Methods for communicating over wired networks.</a:t>
            </a:r>
            <a:endParaRPr lang="en-US" sz="1800" dirty="0"/>
          </a:p>
          <a:p>
            <a:pPr marL="0" indent="0">
              <a:buNone/>
            </a:pPr>
            <a:r>
              <a:rPr lang="en-US" dirty="0"/>
              <a:t> </a:t>
            </a:r>
            <a:r>
              <a:rPr lang="en-US" dirty="0" smtClean="0"/>
              <a:t>For </a:t>
            </a:r>
            <a:r>
              <a:rPr lang="en-US" dirty="0"/>
              <a:t>example, a computer connected to a switch using an Ethernet cable uses Ethernet at the Network Access Layer.</a:t>
            </a:r>
            <a:endParaRPr lang="en-US" sz="2000" dirty="0"/>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Wi-Fi — IEEE 802.11</a:t>
            </a:r>
            <a:endParaRPr lang="en-US" dirty="0"/>
          </a:p>
        </p:txBody>
      </p:sp>
      <p:sp>
        <p:nvSpPr>
          <p:cNvPr id="3" name="Content Placeholder 2"/>
          <p:cNvSpPr>
            <a:spLocks noGrp="1"/>
          </p:cNvSpPr>
          <p:nvPr>
            <p:ph idx="1"/>
          </p:nvPr>
        </p:nvSpPr>
        <p:spPr/>
        <p:txBody>
          <a:bodyPr/>
          <a:lstStyle/>
          <a:p>
            <a:pPr marL="0" indent="0">
              <a:buNone/>
            </a:pPr>
            <a:r>
              <a:rPr lang="en-US" sz="1600" dirty="0" smtClean="0"/>
              <a:t> </a:t>
            </a:r>
            <a:r>
              <a:rPr lang="en-US" sz="3200" dirty="0" smtClean="0"/>
              <a:t>Wi-Fi </a:t>
            </a:r>
            <a:r>
              <a:rPr lang="en-US" sz="3200" dirty="0"/>
              <a:t>provides wireless LAN communication.</a:t>
            </a:r>
          </a:p>
          <a:p>
            <a:pPr marL="0" indent="0">
              <a:buNone/>
            </a:pPr>
            <a:r>
              <a:rPr lang="en-US" sz="3200" dirty="0" smtClean="0"/>
              <a:t> It </a:t>
            </a:r>
            <a:r>
              <a:rPr lang="en-US" sz="3200" dirty="0"/>
              <a:t>defines:</a:t>
            </a:r>
          </a:p>
          <a:p>
            <a:pPr lvl="1">
              <a:buFont typeface="Wingdings" panose="05000000000000000000" pitchFamily="2" charset="2"/>
              <a:buChar char="Ø"/>
            </a:pPr>
            <a:r>
              <a:rPr lang="en-US" sz="3200" dirty="0"/>
              <a:t>Wireless frames.</a:t>
            </a:r>
          </a:p>
          <a:p>
            <a:pPr lvl="1">
              <a:buFont typeface="Wingdings" panose="05000000000000000000" pitchFamily="2" charset="2"/>
              <a:buChar char="Ø"/>
            </a:pPr>
            <a:r>
              <a:rPr lang="en-US" sz="3200" dirty="0"/>
              <a:t>MAC addressing.</a:t>
            </a:r>
          </a:p>
          <a:p>
            <a:pPr lvl="1">
              <a:buFont typeface="Wingdings" panose="05000000000000000000" pitchFamily="2" charset="2"/>
              <a:buChar char="Ø"/>
            </a:pPr>
            <a:r>
              <a:rPr lang="en-US" sz="3200" dirty="0"/>
              <a:t>Wireless channel access.</a:t>
            </a:r>
          </a:p>
          <a:p>
            <a:pPr marL="0" indent="0">
              <a:buNone/>
            </a:pPr>
            <a:r>
              <a:rPr lang="en-US" sz="3200" dirty="0" smtClean="0"/>
              <a:t> Radio </a:t>
            </a:r>
            <a:r>
              <a:rPr lang="en-US" sz="3200" dirty="0"/>
              <a:t>transmission mechanisms</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a:t>PPP — Point-to-Point </a:t>
            </a:r>
            <a:r>
              <a:rPr lang="en-US" sz="4800" b="1" dirty="0" smtClean="0"/>
              <a:t>Protocol</a:t>
            </a:r>
            <a:endParaRPr lang="en-US" sz="4800" dirty="0"/>
          </a:p>
        </p:txBody>
      </p:sp>
      <p:sp>
        <p:nvSpPr>
          <p:cNvPr id="3" name="Content Placeholder 2"/>
          <p:cNvSpPr>
            <a:spLocks noGrp="1"/>
          </p:cNvSpPr>
          <p:nvPr>
            <p:ph idx="1"/>
          </p:nvPr>
        </p:nvSpPr>
        <p:spPr/>
        <p:txBody>
          <a:bodyPr/>
          <a:lstStyle/>
          <a:p>
            <a:pPr marL="0" indent="0">
              <a:buNone/>
            </a:pPr>
            <a:r>
              <a:rPr lang="en-US" sz="4000" dirty="0"/>
              <a:t>PPP provides data-link communication over </a:t>
            </a:r>
            <a:r>
              <a:rPr lang="en-US" sz="4000" b="1" dirty="0"/>
              <a:t>point-to-point connections</a:t>
            </a:r>
            <a:r>
              <a:rPr lang="en-US" sz="4000" dirty="0"/>
              <a:t>. It has historically been used for connections such as dial-up and some WAN links.</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ARP — Address Resolution </a:t>
            </a:r>
            <a:r>
              <a:rPr lang="en-US" b="1" dirty="0" smtClean="0"/>
              <a:t>Protocol</a:t>
            </a:r>
            <a:endParaRPr lang="en-US" dirty="0"/>
          </a:p>
        </p:txBody>
      </p:sp>
      <p:sp>
        <p:nvSpPr>
          <p:cNvPr id="3" name="Content Placeholder 2"/>
          <p:cNvSpPr>
            <a:spLocks noGrp="1"/>
          </p:cNvSpPr>
          <p:nvPr>
            <p:ph idx="1"/>
          </p:nvPr>
        </p:nvSpPr>
        <p:spPr/>
        <p:txBody>
          <a:bodyPr/>
          <a:lstStyle/>
          <a:p>
            <a:pPr marL="0" indent="0">
              <a:buNone/>
            </a:pPr>
            <a:r>
              <a:rPr lang="en-US" dirty="0" smtClean="0"/>
              <a:t> </a:t>
            </a:r>
            <a:r>
              <a:rPr lang="en-US" sz="3000" dirty="0" smtClean="0"/>
              <a:t>ARP </a:t>
            </a:r>
            <a:r>
              <a:rPr lang="en-US" sz="3000" dirty="0"/>
              <a:t>is used in IPv4 networks to discover the </a:t>
            </a:r>
            <a:r>
              <a:rPr lang="en-US" sz="3000" b="1" dirty="0"/>
              <a:t>MAC address associated with a known IPv4 address</a:t>
            </a:r>
            <a:r>
              <a:rPr lang="en-US" sz="3000" dirty="0"/>
              <a:t> on the local network.</a:t>
            </a:r>
          </a:p>
          <a:p>
            <a:pPr marL="0" indent="0">
              <a:buNone/>
            </a:pPr>
            <a:r>
              <a:rPr lang="en-US" sz="3000" dirty="0" smtClean="0"/>
              <a:t>  For </a:t>
            </a:r>
            <a:r>
              <a:rPr lang="en-US" sz="3000" dirty="0"/>
              <a:t>example:</a:t>
            </a:r>
          </a:p>
          <a:p>
            <a:pPr marL="0" indent="0">
              <a:buNone/>
            </a:pPr>
            <a:r>
              <a:rPr lang="en-US" sz="3000" dirty="0" smtClean="0"/>
              <a:t> "</a:t>
            </a:r>
            <a:r>
              <a:rPr lang="en-US" sz="3000" dirty="0"/>
              <a:t>Who has </a:t>
            </a:r>
            <a:r>
              <a:rPr lang="en-US" sz="3000" dirty="0" smtClean="0"/>
              <a:t>192.168.1.20?"</a:t>
            </a:r>
            <a:endParaRPr lang="en-US" sz="3000" dirty="0"/>
          </a:p>
          <a:p>
            <a:pPr marL="0" indent="0">
              <a:buNone/>
            </a:pPr>
            <a:r>
              <a:rPr lang="en-US" sz="3000" dirty="0" smtClean="0"/>
              <a:t> The </a:t>
            </a:r>
            <a:r>
              <a:rPr lang="en-US" sz="3000" dirty="0"/>
              <a:t>device with that IP address can respond with its MAC address.</a:t>
            </a:r>
          </a:p>
          <a:p>
            <a:pPr marL="0" indent="0">
              <a:buNone/>
            </a:pPr>
            <a:r>
              <a:rPr lang="en-US" sz="3000" dirty="0" smtClean="0"/>
              <a:t>  ARP </a:t>
            </a:r>
            <a:r>
              <a:rPr lang="en-US" sz="3000" dirty="0"/>
              <a:t>is commonly associated with the TCP/IP Network Access/Link layer, although its exact placement in the OSI model is sometimes debated.</a:t>
            </a:r>
          </a:p>
          <a:p>
            <a:pPr marL="0" indent="0">
              <a:buNone/>
            </a:pPr>
            <a:r>
              <a:rPr lang="en-US" sz="3000" b="1" dirty="0" smtClean="0"/>
              <a:t>   Data </a:t>
            </a:r>
            <a:r>
              <a:rPr lang="en-US" sz="3000" b="1" dirty="0"/>
              <a:t>unit:</a:t>
            </a:r>
            <a:r>
              <a:rPr lang="en-US" sz="3000" dirty="0"/>
              <a:t> Frame</a:t>
            </a:r>
          </a:p>
          <a:p>
            <a:pPr marL="0" indent="0">
              <a:buNone/>
            </a:pPr>
            <a:endParaRPr lang="en-US"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Summary</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The TCP/IP model can be remembered as:</a:t>
            </a:r>
            <a:endParaRPr lang="en-US" sz="2000" dirty="0"/>
          </a:p>
          <a:p>
            <a:pPr marL="0" indent="0">
              <a:buNone/>
            </a:pPr>
            <a:r>
              <a:rPr lang="en-US" b="1" dirty="0"/>
              <a:t>Application → Transport → Internet → Network Access</a:t>
            </a:r>
            <a:endParaRPr lang="en-US" sz="2000" dirty="0"/>
          </a:p>
          <a:p>
            <a:pPr lvl="1"/>
            <a:r>
              <a:rPr lang="en-US" sz="2600" b="1" dirty="0"/>
              <a:t>Application Layer:</a:t>
            </a:r>
            <a:r>
              <a:rPr lang="en-US" sz="2600" dirty="0"/>
              <a:t> Provides services used by network applications. Examples: HTTP, HTTPS, DNS, FTP, SMTP, SSH.</a:t>
            </a:r>
          </a:p>
          <a:p>
            <a:pPr lvl="1"/>
            <a:r>
              <a:rPr lang="en-US" sz="2600" b="1" dirty="0"/>
              <a:t>Transport Layer:</a:t>
            </a:r>
            <a:r>
              <a:rPr lang="en-US" sz="2600" dirty="0"/>
              <a:t> Provides end-to-end communication and uses ports. Examples: TCP, UDP, SCTP.</a:t>
            </a:r>
          </a:p>
          <a:p>
            <a:pPr lvl="1"/>
            <a:r>
              <a:rPr lang="en-US" sz="2600" b="1" dirty="0"/>
              <a:t>Internet Layer:</a:t>
            </a:r>
            <a:r>
              <a:rPr lang="en-US" sz="2600" dirty="0"/>
              <a:t> Provides IP addressing and routing. Examples: IPv4, IPv6, ICMP, IGMP, IPsec, OSPF, </a:t>
            </a:r>
            <a:r>
              <a:rPr lang="en-US" sz="2600" dirty="0" smtClean="0"/>
              <a:t>BGP.</a:t>
            </a:r>
          </a:p>
          <a:p>
            <a:pPr lvl="1"/>
            <a:r>
              <a:rPr lang="en-US" sz="2600" b="1" dirty="0" smtClean="0"/>
              <a:t>Network </a:t>
            </a:r>
            <a:r>
              <a:rPr lang="en-US" sz="2600" b="1" dirty="0"/>
              <a:t>Access Layer:</a:t>
            </a:r>
            <a:r>
              <a:rPr lang="en-US" sz="2600" dirty="0"/>
              <a:t> Handles local-network communication, framing, MAC addressing, and physical transmission. Examples: Ethernet, Wi-Fi, PPP, ARP</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 </a:t>
            </a:r>
          </a:p>
          <a:p>
            <a:pPr marL="0" indent="0">
              <a:buNone/>
            </a:pPr>
            <a:r>
              <a:rPr lang="en-US" sz="3600" dirty="0" smtClean="0"/>
              <a:t>The </a:t>
            </a:r>
            <a:r>
              <a:rPr lang="en-US" sz="3600" dirty="0"/>
              <a:t>key idea is that each layer performs a specific networking function while cooperating with the layers above and below it, allowing data to travel from an application on one device to an application on another device across potentially many interconnected networks.</a:t>
            </a:r>
          </a:p>
          <a:p>
            <a:endParaRPr lang="en-US" sz="3600" dirty="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075055"/>
          </a:xfrm>
        </p:spPr>
        <p:txBody>
          <a:bodyPr/>
          <a:lstStyle/>
          <a:p>
            <a:pPr algn="ctr"/>
            <a:r>
              <a:rPr lang="en-US" altLang="en-GB" b="1"/>
              <a:t>Where the TCP/IP Model is Applied</a:t>
            </a:r>
            <a:r>
              <a:rPr lang="en-US" altLang="en-GB"/>
              <a:t/>
            </a:r>
            <a:br>
              <a:rPr lang="en-US" altLang="en-GB"/>
            </a:br>
            <a:r>
              <a:rPr lang="en-US" altLang="en-GB"/>
              <a:t> </a:t>
            </a:r>
          </a:p>
        </p:txBody>
      </p:sp>
      <p:sp>
        <p:nvSpPr>
          <p:cNvPr id="3" name="Content Placeholder 2"/>
          <p:cNvSpPr>
            <a:spLocks noGrp="1"/>
          </p:cNvSpPr>
          <p:nvPr>
            <p:ph idx="1"/>
          </p:nvPr>
        </p:nvSpPr>
        <p:spPr>
          <a:xfrm>
            <a:off x="609600" y="1487805"/>
            <a:ext cx="10972800" cy="4639945"/>
          </a:xfrm>
        </p:spPr>
        <p:txBody>
          <a:bodyPr/>
          <a:lstStyle/>
          <a:p>
            <a:pPr marL="0" indent="0" algn="l">
              <a:buFont typeface="Wingdings" panose="05000000000000000000" charset="0"/>
              <a:buNone/>
            </a:pPr>
            <a:r>
              <a:rPr lang="en-US" altLang="en-GB">
                <a:sym typeface="+mn-ea"/>
              </a:rPr>
              <a:t> </a:t>
            </a:r>
            <a:r>
              <a:rPr lang="en-US" altLang="en-GB" sz="2800">
                <a:sym typeface="+mn-ea"/>
              </a:rPr>
              <a:t>TCP/IP is used extensively in</a:t>
            </a:r>
            <a:r>
              <a:rPr lang="en-US" altLang="en-US" sz="2800">
                <a:sym typeface="+mn-ea"/>
              </a:rPr>
              <a:t> </a:t>
            </a:r>
            <a:r>
              <a:rPr lang="en-US" altLang="en-GB" sz="2800">
                <a:sym typeface="+mn-ea"/>
              </a:rPr>
              <a:t>actual network communication.</a:t>
            </a:r>
            <a:br>
              <a:rPr lang="en-US" altLang="en-GB" sz="2800">
                <a:sym typeface="+mn-ea"/>
              </a:rPr>
            </a:br>
            <a:r>
              <a:rPr lang="en-US" altLang="en-GB" sz="2800"/>
              <a:t>The Internet.</a:t>
            </a:r>
          </a:p>
          <a:p>
            <a:pPr algn="l">
              <a:buFont typeface="Wingdings" panose="05000000000000000000" charset="0"/>
              <a:buChar char="Ø"/>
            </a:pPr>
            <a:r>
              <a:rPr lang="en-US" altLang="en-GB" sz="2400"/>
              <a:t>Web communication.</a:t>
            </a:r>
          </a:p>
          <a:p>
            <a:pPr algn="l">
              <a:buFont typeface="Wingdings" panose="05000000000000000000" charset="0"/>
              <a:buChar char="Ø"/>
            </a:pPr>
            <a:r>
              <a:rPr lang="en-US" altLang="en-GB" sz="2400"/>
              <a:t>Email.</a:t>
            </a:r>
          </a:p>
          <a:p>
            <a:pPr algn="l">
              <a:buFont typeface="Wingdings" panose="05000000000000000000" charset="0"/>
              <a:buChar char="Ø"/>
            </a:pPr>
            <a:r>
              <a:rPr lang="en-US" altLang="en-GB" sz="2400"/>
              <a:t>File transfers.</a:t>
            </a:r>
          </a:p>
          <a:p>
            <a:pPr algn="l">
              <a:buFont typeface="Wingdings" panose="05000000000000000000" charset="0"/>
              <a:buChar char="Ø"/>
            </a:pPr>
            <a:r>
              <a:rPr lang="en-US" altLang="en-GB" sz="2400"/>
              <a:t>Cloud computing.</a:t>
            </a:r>
          </a:p>
          <a:p>
            <a:pPr algn="l">
              <a:buFont typeface="Wingdings" panose="05000000000000000000" charset="0"/>
              <a:buChar char="Ø"/>
            </a:pPr>
            <a:r>
              <a:rPr lang="en-US" altLang="en-GB" sz="2400"/>
              <a:t>Enterprise networks.</a:t>
            </a:r>
          </a:p>
          <a:p>
            <a:pPr algn="l">
              <a:buFont typeface="Wingdings" panose="05000000000000000000" charset="0"/>
              <a:buChar char="Ø"/>
            </a:pPr>
            <a:r>
              <a:rPr lang="en-US" altLang="en-GB" sz="2400"/>
              <a:t>Wireless networking.</a:t>
            </a:r>
          </a:p>
          <a:p>
            <a:pPr algn="l">
              <a:buFont typeface="Wingdings" panose="05000000000000000000" charset="0"/>
              <a:buChar char="Ø"/>
            </a:pPr>
            <a:r>
              <a:rPr lang="en-US" altLang="en-GB" sz="2400"/>
              <a:t>Virtual private networks.</a:t>
            </a:r>
          </a:p>
          <a:p>
            <a:pPr algn="l">
              <a:buFont typeface="Wingdings" panose="05000000000000000000" charset="0"/>
              <a:buChar char="Ø"/>
            </a:pPr>
            <a:r>
              <a:rPr lang="en-US" altLang="en-GB" sz="2400"/>
              <a:t>Data-center networking.</a:t>
            </a:r>
          </a:p>
          <a:p>
            <a:pPr marL="0" indent="0" algn="l">
              <a:buFont typeface="Wingdings" panose="05000000000000000000" charset="0"/>
              <a:buNone/>
            </a:pPr>
            <a:endParaRPr lang="en-US" altLang="en-GB" sz="2400"/>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t>SIMILARITIES 0SI AND TCP/IP</a:t>
            </a:r>
          </a:p>
        </p:txBody>
      </p:sp>
      <p:sp>
        <p:nvSpPr>
          <p:cNvPr id="3" name="Content Placeholder 2"/>
          <p:cNvSpPr>
            <a:spLocks noGrp="1"/>
          </p:cNvSpPr>
          <p:nvPr>
            <p:ph idx="1"/>
          </p:nvPr>
        </p:nvSpPr>
        <p:spPr/>
        <p:txBody>
          <a:bodyPr/>
          <a:lstStyle/>
          <a:p>
            <a:pPr>
              <a:buFont typeface="Wingdings" panose="05000000000000000000" charset="0"/>
              <a:buChar char="Ø"/>
            </a:pPr>
            <a:r>
              <a:rPr lang="en-US" altLang="en-GB"/>
              <a:t>Both use layers to organise network communication</a:t>
            </a:r>
          </a:p>
          <a:p>
            <a:pPr>
              <a:buFont typeface="Wingdings" panose="05000000000000000000" charset="0"/>
              <a:buChar char="Ø"/>
            </a:pPr>
            <a:r>
              <a:rPr lang="en-US" altLang="en-GB"/>
              <a:t>Both have Application, Transport and Network communication</a:t>
            </a:r>
          </a:p>
          <a:p>
            <a:pPr>
              <a:buFont typeface="Wingdings" panose="05000000000000000000" charset="0"/>
              <a:buChar char="Ø"/>
            </a:pPr>
            <a:r>
              <a:rPr lang="en-US" altLang="en-GB"/>
              <a:t>Both describe how data move from one.</a:t>
            </a:r>
          </a:p>
          <a:p>
            <a:pPr>
              <a:buFont typeface="Wingdings" panose="05000000000000000000" charset="0"/>
              <a:buChar char="Ø"/>
            </a:pPr>
            <a:r>
              <a:rPr lang="en-US" altLang="en-GB"/>
              <a:t>Both help with network design , trouble shooting and understand protocols.</a:t>
            </a:r>
          </a:p>
          <a:p>
            <a:pPr>
              <a:buFont typeface="Wingdings" panose="05000000000000000000" charset="0"/>
              <a:buChar char="Ø"/>
            </a:pPr>
            <a:r>
              <a:rPr lang="en-US" altLang="en-GB"/>
              <a:t>The transport layer in both models provides end to end communication.</a:t>
            </a:r>
          </a:p>
          <a:p>
            <a:pPr>
              <a:buFont typeface="Wingdings" panose="05000000000000000000" charset="0"/>
              <a:buChar char="Ø"/>
            </a:pPr>
            <a:endParaRPr lang="en-US" altLang="en-GB"/>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t>DIFFERENCES BETWEEN OSI AND TCP/IP</a:t>
            </a:r>
          </a:p>
        </p:txBody>
      </p:sp>
      <p:graphicFrame>
        <p:nvGraphicFramePr>
          <p:cNvPr id="4" name="Table 3"/>
          <p:cNvGraphicFramePr/>
          <p:nvPr>
            <p:custDataLst>
              <p:tags r:id="rId1"/>
            </p:custDataLst>
          </p:nvPr>
        </p:nvGraphicFramePr>
        <p:xfrm>
          <a:off x="1344930" y="1824990"/>
          <a:ext cx="9815830" cy="3848100"/>
        </p:xfrm>
        <a:graphic>
          <a:graphicData uri="http://schemas.openxmlformats.org/drawingml/2006/table">
            <a:tbl>
              <a:tblPr firstRow="1" bandRow="1">
                <a:tableStyleId>{5C22544A-7EE6-4342-B048-85BDC9FD1C3A}</a:tableStyleId>
              </a:tblPr>
              <a:tblGrid>
                <a:gridCol w="4907915"/>
                <a:gridCol w="4907915"/>
              </a:tblGrid>
              <a:tr h="641350">
                <a:tc>
                  <a:txBody>
                    <a:bodyPr/>
                    <a:lstStyle/>
                    <a:p>
                      <a:pPr>
                        <a:buNone/>
                      </a:pPr>
                      <a:r>
                        <a:rPr lang="en-US" altLang="en-GB"/>
                        <a:t>OSI</a:t>
                      </a:r>
                    </a:p>
                  </a:txBody>
                  <a:tcPr/>
                </a:tc>
                <a:tc>
                  <a:txBody>
                    <a:bodyPr/>
                    <a:lstStyle/>
                    <a:p>
                      <a:pPr>
                        <a:buNone/>
                      </a:pPr>
                      <a:r>
                        <a:rPr lang="en-US" altLang="en-GB"/>
                        <a:t>TCP/IP</a:t>
                      </a:r>
                    </a:p>
                  </a:txBody>
                  <a:tcPr/>
                </a:tc>
              </a:tr>
              <a:tr h="641350">
                <a:tc>
                  <a:txBody>
                    <a:bodyPr/>
                    <a:lstStyle/>
                    <a:p>
                      <a:pPr>
                        <a:buNone/>
                      </a:pPr>
                      <a:r>
                        <a:rPr lang="en-US" altLang="en-GB"/>
                        <a:t>Has 7 layers</a:t>
                      </a:r>
                    </a:p>
                  </a:txBody>
                  <a:tcPr/>
                </a:tc>
                <a:tc>
                  <a:txBody>
                    <a:bodyPr/>
                    <a:lstStyle/>
                    <a:p>
                      <a:pPr>
                        <a:buNone/>
                      </a:pPr>
                      <a:r>
                        <a:rPr lang="en-US" altLang="en-GB"/>
                        <a:t>Has 4 layers</a:t>
                      </a:r>
                    </a:p>
                  </a:txBody>
                  <a:tcPr/>
                </a:tc>
              </a:tr>
              <a:tr h="641350">
                <a:tc>
                  <a:txBody>
                    <a:bodyPr/>
                    <a:lstStyle/>
                    <a:p>
                      <a:pPr>
                        <a:buNone/>
                      </a:pPr>
                      <a:r>
                        <a:rPr lang="en-US" altLang="en-GB"/>
                        <a:t>Separates application pressentation annd session</a:t>
                      </a:r>
                    </a:p>
                  </a:txBody>
                  <a:tcPr/>
                </a:tc>
                <a:tc>
                  <a:txBody>
                    <a:bodyPr/>
                    <a:lstStyle/>
                    <a:p>
                      <a:pPr>
                        <a:buNone/>
                      </a:pPr>
                      <a:r>
                        <a:rPr lang="en-US" altLang="en-GB"/>
                        <a:t>Combines them into the application layer.</a:t>
                      </a:r>
                    </a:p>
                  </a:txBody>
                  <a:tcPr/>
                </a:tc>
              </a:tr>
              <a:tr h="641350">
                <a:tc>
                  <a:txBody>
                    <a:bodyPr/>
                    <a:lstStyle/>
                    <a:p>
                      <a:pPr>
                        <a:buNone/>
                      </a:pPr>
                      <a:r>
                        <a:rPr lang="en-US" altLang="en-GB"/>
                        <a:t>Separates physical and data link </a:t>
                      </a:r>
                    </a:p>
                  </a:txBody>
                  <a:tcPr/>
                </a:tc>
                <a:tc>
                  <a:txBody>
                    <a:bodyPr/>
                    <a:lstStyle/>
                    <a:p>
                      <a:pPr>
                        <a:buNone/>
                      </a:pPr>
                      <a:r>
                        <a:rPr lang="en-US" altLang="en-GB"/>
                        <a:t>Combines them into Network.</a:t>
                      </a:r>
                    </a:p>
                  </a:txBody>
                  <a:tcPr/>
                </a:tc>
              </a:tr>
              <a:tr h="641350">
                <a:tc>
                  <a:txBody>
                    <a:bodyPr/>
                    <a:lstStyle/>
                    <a:p>
                      <a:pPr>
                        <a:buNone/>
                      </a:pPr>
                      <a:r>
                        <a:rPr lang="en-US" altLang="en-GB"/>
                        <a:t>Primarily a conceptual model </a:t>
                      </a:r>
                    </a:p>
                  </a:txBody>
                  <a:tcPr/>
                </a:tc>
                <a:tc>
                  <a:txBody>
                    <a:bodyPr/>
                    <a:lstStyle/>
                    <a:p>
                      <a:pPr>
                        <a:buNone/>
                      </a:pPr>
                      <a:r>
                        <a:rPr lang="en-US" altLang="en-GB"/>
                        <a:t>Protocol architecture used by the internet</a:t>
                      </a:r>
                    </a:p>
                  </a:txBody>
                  <a:tcPr/>
                </a:tc>
              </a:tr>
              <a:tr h="641350">
                <a:tc>
                  <a:txBody>
                    <a:bodyPr/>
                    <a:lstStyle/>
                    <a:p>
                      <a:pPr>
                        <a:buNone/>
                      </a:pPr>
                      <a:r>
                        <a:rPr lang="en-US" altLang="en-GB"/>
                        <a:t>Designed as a general network refference frame work.</a:t>
                      </a:r>
                    </a:p>
                  </a:txBody>
                  <a:tcPr/>
                </a:tc>
                <a:tc>
                  <a:txBody>
                    <a:bodyPr/>
                    <a:lstStyle/>
                    <a:p>
                      <a:pPr>
                        <a:buNone/>
                      </a:pPr>
                      <a:r>
                        <a:rPr lang="en-US" altLang="en-GB"/>
                        <a:t>envolved from the protocols used to build interconnected networks.</a:t>
                      </a:r>
                    </a:p>
                  </a:txBody>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dirty="0"/>
              <a:t>Overall </a:t>
            </a:r>
            <a:r>
              <a:rPr lang="en-US" altLang="en-GB" b="1" dirty="0" err="1" smtClean="0"/>
              <a:t>Comparision</a:t>
            </a:r>
            <a:endParaRPr lang="en-US" altLang="en-GB" b="1" dirty="0"/>
          </a:p>
        </p:txBody>
      </p:sp>
      <p:graphicFrame>
        <p:nvGraphicFramePr>
          <p:cNvPr id="4" name="Table 3"/>
          <p:cNvGraphicFramePr/>
          <p:nvPr>
            <p:custDataLst>
              <p:tags r:id="rId1"/>
            </p:custDataLst>
            <p:extLst>
              <p:ext uri="{D42A27DB-BD31-4B8C-83A1-F6EECF244321}">
                <p14:modId xmlns:p14="http://schemas.microsoft.com/office/powerpoint/2010/main" val="961200272"/>
              </p:ext>
            </p:extLst>
          </p:nvPr>
        </p:nvGraphicFramePr>
        <p:xfrm>
          <a:off x="763905" y="1104265"/>
          <a:ext cx="10574655" cy="5541645"/>
        </p:xfrm>
        <a:graphic>
          <a:graphicData uri="http://schemas.openxmlformats.org/drawingml/2006/table">
            <a:tbl>
              <a:tblPr>
                <a:tableStyleId>{5940675A-B579-460E-94D1-54222C63F5DA}</a:tableStyleId>
              </a:tblPr>
              <a:tblGrid>
                <a:gridCol w="3584575"/>
                <a:gridCol w="3495040"/>
                <a:gridCol w="3495040"/>
              </a:tblGrid>
              <a:tr h="615315">
                <a:tc>
                  <a:txBody>
                    <a:bodyPr/>
                    <a:lstStyle/>
                    <a:p>
                      <a:pPr marL="40005" indent="0" algn="ctr">
                        <a:lnSpc>
                          <a:spcPct val="107000"/>
                        </a:lnSpc>
                        <a:spcBef>
                          <a:spcPct val="0"/>
                        </a:spcBef>
                        <a:spcAft>
                          <a:spcPct val="0"/>
                        </a:spcAft>
                      </a:pPr>
                      <a:r>
                        <a:rPr sz="2000" dirty="0"/>
                        <a:t>Aspect</a:t>
                      </a:r>
                    </a:p>
                  </a:txBody>
                  <a:tcPr marL="9525" marR="9525" marT="9525" marB="9525" anchor="ctr"/>
                </a:tc>
                <a:tc>
                  <a:txBody>
                    <a:bodyPr/>
                    <a:lstStyle/>
                    <a:p>
                      <a:pPr marL="40005" indent="0" algn="ctr">
                        <a:lnSpc>
                          <a:spcPct val="107000"/>
                        </a:lnSpc>
                        <a:spcBef>
                          <a:spcPct val="0"/>
                        </a:spcBef>
                        <a:spcAft>
                          <a:spcPct val="0"/>
                        </a:spcAft>
                      </a:pPr>
                      <a:r>
                        <a:rPr sz="2000"/>
                        <a:t>OSI</a:t>
                      </a:r>
                    </a:p>
                  </a:txBody>
                  <a:tcPr marL="9525" marR="9525" marT="9525" marB="9525" anchor="ctr"/>
                </a:tc>
                <a:tc>
                  <a:txBody>
                    <a:bodyPr/>
                    <a:lstStyle/>
                    <a:p>
                      <a:pPr marL="40005" indent="0" algn="ctr">
                        <a:lnSpc>
                          <a:spcPct val="107000"/>
                        </a:lnSpc>
                        <a:spcBef>
                          <a:spcPct val="0"/>
                        </a:spcBef>
                        <a:spcAft>
                          <a:spcPct val="0"/>
                        </a:spcAft>
                      </a:pPr>
                      <a:r>
                        <a:rPr sz="2000"/>
                        <a:t>TCP/IP</a:t>
                      </a:r>
                    </a:p>
                  </a:txBody>
                  <a:tcPr marL="9525" marR="9525" marT="9525" marB="9525" anchor="ctr"/>
                </a:tc>
              </a:tr>
              <a:tr h="392430">
                <a:tc>
                  <a:txBody>
                    <a:bodyPr/>
                    <a:lstStyle/>
                    <a:p>
                      <a:pPr marL="40005" indent="0">
                        <a:lnSpc>
                          <a:spcPct val="107000"/>
                        </a:lnSpc>
                        <a:spcBef>
                          <a:spcPct val="0"/>
                        </a:spcBef>
                        <a:spcAft>
                          <a:spcPct val="0"/>
                        </a:spcAft>
                      </a:pPr>
                      <a:r>
                        <a:rPr sz="2000" dirty="0"/>
                        <a:t>Layers</a:t>
                      </a:r>
                    </a:p>
                  </a:txBody>
                  <a:tcPr marL="9525" marR="9525" marT="9525" marB="9525" anchor="ctr"/>
                </a:tc>
                <a:tc>
                  <a:txBody>
                    <a:bodyPr/>
                    <a:lstStyle/>
                    <a:p>
                      <a:pPr marL="40005" indent="0">
                        <a:lnSpc>
                          <a:spcPct val="107000"/>
                        </a:lnSpc>
                        <a:spcBef>
                          <a:spcPct val="0"/>
                        </a:spcBef>
                        <a:spcAft>
                          <a:spcPct val="0"/>
                        </a:spcAft>
                      </a:pPr>
                      <a:r>
                        <a:rPr sz="2000"/>
                        <a:t>7</a:t>
                      </a:r>
                    </a:p>
                  </a:txBody>
                  <a:tcPr marL="9525" marR="9525" marT="9525" marB="9525" anchor="ctr"/>
                </a:tc>
                <a:tc>
                  <a:txBody>
                    <a:bodyPr/>
                    <a:lstStyle/>
                    <a:p>
                      <a:pPr marL="40005" indent="0">
                        <a:lnSpc>
                          <a:spcPct val="107000"/>
                        </a:lnSpc>
                        <a:spcBef>
                          <a:spcPct val="0"/>
                        </a:spcBef>
                        <a:spcAft>
                          <a:spcPct val="0"/>
                        </a:spcAft>
                      </a:pPr>
                      <a:r>
                        <a:rPr sz="2000"/>
                        <a:t>4 traditionally</a:t>
                      </a:r>
                    </a:p>
                  </a:txBody>
                  <a:tcPr marL="9525" marR="9525" marT="9525" marB="9525" anchor="ctr"/>
                </a:tc>
              </a:tr>
              <a:tr h="392430">
                <a:tc>
                  <a:txBody>
                    <a:bodyPr/>
                    <a:lstStyle/>
                    <a:p>
                      <a:pPr marL="40005" indent="0">
                        <a:lnSpc>
                          <a:spcPct val="107000"/>
                        </a:lnSpc>
                        <a:spcBef>
                          <a:spcPct val="0"/>
                        </a:spcBef>
                        <a:spcAft>
                          <a:spcPct val="0"/>
                        </a:spcAft>
                      </a:pPr>
                      <a:r>
                        <a:rPr sz="2000"/>
                        <a:t>Nature</a:t>
                      </a:r>
                    </a:p>
                  </a:txBody>
                  <a:tcPr marL="9525" marR="9525" marT="9525" marB="9525" anchor="ctr"/>
                </a:tc>
                <a:tc>
                  <a:txBody>
                    <a:bodyPr/>
                    <a:lstStyle/>
                    <a:p>
                      <a:pPr marL="40005" indent="0">
                        <a:lnSpc>
                          <a:spcPct val="107000"/>
                        </a:lnSpc>
                        <a:spcBef>
                          <a:spcPct val="0"/>
                        </a:spcBef>
                        <a:spcAft>
                          <a:spcPct val="0"/>
                        </a:spcAft>
                      </a:pPr>
                      <a:r>
                        <a:rPr sz="2000"/>
                        <a:t>Reference model</a:t>
                      </a:r>
                    </a:p>
                  </a:txBody>
                  <a:tcPr marL="9525" marR="9525" marT="9525" marB="9525" anchor="ctr"/>
                </a:tc>
                <a:tc>
                  <a:txBody>
                    <a:bodyPr/>
                    <a:lstStyle/>
                    <a:p>
                      <a:pPr marL="40005" indent="0">
                        <a:lnSpc>
                          <a:spcPct val="107000"/>
                        </a:lnSpc>
                        <a:spcBef>
                          <a:spcPct val="0"/>
                        </a:spcBef>
                        <a:spcAft>
                          <a:spcPct val="0"/>
                        </a:spcAft>
                      </a:pPr>
                      <a:r>
                        <a:rPr sz="2000"/>
                        <a:t>Protocol architecture/model</a:t>
                      </a:r>
                    </a:p>
                  </a:txBody>
                  <a:tcPr marL="9525" marR="9525" marT="9525" marB="9525" anchor="ctr"/>
                </a:tc>
              </a:tr>
              <a:tr h="670560">
                <a:tc>
                  <a:txBody>
                    <a:bodyPr/>
                    <a:lstStyle/>
                    <a:p>
                      <a:pPr marL="40005" indent="0">
                        <a:lnSpc>
                          <a:spcPct val="107000"/>
                        </a:lnSpc>
                        <a:spcBef>
                          <a:spcPct val="0"/>
                        </a:spcBef>
                        <a:spcAft>
                          <a:spcPct val="0"/>
                        </a:spcAft>
                      </a:pPr>
                      <a:r>
                        <a:rPr sz="2000" dirty="0"/>
                        <a:t>Main purpose</a:t>
                      </a:r>
                    </a:p>
                  </a:txBody>
                  <a:tcPr marL="9525" marR="9525" marT="9525" marB="9525" anchor="ctr"/>
                </a:tc>
                <a:tc>
                  <a:txBody>
                    <a:bodyPr/>
                    <a:lstStyle/>
                    <a:p>
                      <a:pPr marL="40005" indent="0">
                        <a:lnSpc>
                          <a:spcPct val="107000"/>
                        </a:lnSpc>
                        <a:spcBef>
                          <a:spcPct val="0"/>
                        </a:spcBef>
                        <a:spcAft>
                          <a:spcPct val="0"/>
                        </a:spcAft>
                      </a:pPr>
                      <a:r>
                        <a:rPr sz="2000" dirty="0"/>
                        <a:t>Explain and standardize networking concepts</a:t>
                      </a:r>
                    </a:p>
                  </a:txBody>
                  <a:tcPr marL="9525" marR="9525" marT="9525" marB="9525" anchor="ctr"/>
                </a:tc>
                <a:tc>
                  <a:txBody>
                    <a:bodyPr/>
                    <a:lstStyle/>
                    <a:p>
                      <a:pPr marL="40005" indent="0">
                        <a:lnSpc>
                          <a:spcPct val="107000"/>
                        </a:lnSpc>
                        <a:spcBef>
                          <a:spcPct val="0"/>
                        </a:spcBef>
                        <a:spcAft>
                          <a:spcPct val="0"/>
                        </a:spcAft>
                      </a:pPr>
                      <a:r>
                        <a:rPr sz="2000"/>
                        <a:t>Enable practical network communication</a:t>
                      </a:r>
                    </a:p>
                  </a:txBody>
                  <a:tcPr marL="9525" marR="9525" marT="9525" marB="9525" anchor="ctr"/>
                </a:tc>
              </a:tr>
              <a:tr h="670560">
                <a:tc>
                  <a:txBody>
                    <a:bodyPr/>
                    <a:lstStyle/>
                    <a:p>
                      <a:pPr marL="40005" indent="0">
                        <a:lnSpc>
                          <a:spcPct val="107000"/>
                        </a:lnSpc>
                        <a:spcBef>
                          <a:spcPct val="0"/>
                        </a:spcBef>
                        <a:spcAft>
                          <a:spcPct val="0"/>
                        </a:spcAft>
                      </a:pPr>
                      <a:r>
                        <a:rPr sz="2000" dirty="0"/>
                        <a:t>Use today</a:t>
                      </a:r>
                    </a:p>
                  </a:txBody>
                  <a:tcPr marL="9525" marR="9525" marT="9525" marB="9525" anchor="ctr"/>
                </a:tc>
                <a:tc>
                  <a:txBody>
                    <a:bodyPr/>
                    <a:lstStyle/>
                    <a:p>
                      <a:pPr marL="40005" indent="0">
                        <a:lnSpc>
                          <a:spcPct val="107000"/>
                        </a:lnSpc>
                        <a:spcBef>
                          <a:spcPct val="0"/>
                        </a:spcBef>
                        <a:spcAft>
                          <a:spcPct val="0"/>
                        </a:spcAft>
                      </a:pPr>
                      <a:r>
                        <a:rPr sz="2000" dirty="0"/>
                        <a:t>Education, troubleshooting, conceptual design</a:t>
                      </a:r>
                    </a:p>
                  </a:txBody>
                  <a:tcPr marL="9525" marR="9525" marT="9525" marB="9525" anchor="ctr"/>
                </a:tc>
                <a:tc>
                  <a:txBody>
                    <a:bodyPr/>
                    <a:lstStyle/>
                    <a:p>
                      <a:pPr marL="40005" indent="0">
                        <a:lnSpc>
                          <a:spcPct val="107000"/>
                        </a:lnSpc>
                        <a:spcBef>
                          <a:spcPct val="0"/>
                        </a:spcBef>
                        <a:spcAft>
                          <a:spcPct val="0"/>
                        </a:spcAft>
                      </a:pPr>
                      <a:r>
                        <a:rPr sz="2000"/>
                        <a:t>Actual Internet and network communication</a:t>
                      </a:r>
                    </a:p>
                  </a:txBody>
                  <a:tcPr marL="9525" marR="9525" marT="9525" marB="9525" anchor="ctr"/>
                </a:tc>
              </a:tr>
              <a:tr h="670560">
                <a:tc>
                  <a:txBody>
                    <a:bodyPr/>
                    <a:lstStyle/>
                    <a:p>
                      <a:pPr marL="40005" indent="0">
                        <a:lnSpc>
                          <a:spcPct val="107000"/>
                        </a:lnSpc>
                        <a:spcBef>
                          <a:spcPct val="0"/>
                        </a:spcBef>
                        <a:spcAft>
                          <a:spcPct val="0"/>
                        </a:spcAft>
                      </a:pPr>
                      <a:r>
                        <a:rPr sz="2000" dirty="0"/>
                        <a:t>Application/Presentation/Session</a:t>
                      </a:r>
                    </a:p>
                  </a:txBody>
                  <a:tcPr marL="9525" marR="9525" marT="9525" marB="9525" anchor="ctr"/>
                </a:tc>
                <a:tc>
                  <a:txBody>
                    <a:bodyPr/>
                    <a:lstStyle/>
                    <a:p>
                      <a:pPr marL="40005" indent="0">
                        <a:lnSpc>
                          <a:spcPct val="107000"/>
                        </a:lnSpc>
                        <a:spcBef>
                          <a:spcPct val="0"/>
                        </a:spcBef>
                        <a:spcAft>
                          <a:spcPct val="0"/>
                        </a:spcAft>
                      </a:pPr>
                      <a:r>
                        <a:rPr sz="2000" dirty="0"/>
                        <a:t>Separate</a:t>
                      </a:r>
                    </a:p>
                  </a:txBody>
                  <a:tcPr marL="9525" marR="9525" marT="9525" marB="9525" anchor="ctr"/>
                </a:tc>
                <a:tc>
                  <a:txBody>
                    <a:bodyPr/>
                    <a:lstStyle/>
                    <a:p>
                      <a:pPr marL="40005" indent="0">
                        <a:lnSpc>
                          <a:spcPct val="107000"/>
                        </a:lnSpc>
                        <a:spcBef>
                          <a:spcPct val="0"/>
                        </a:spcBef>
                        <a:spcAft>
                          <a:spcPct val="0"/>
                        </a:spcAft>
                      </a:pPr>
                      <a:r>
                        <a:rPr sz="2000"/>
                        <a:t>Combined</a:t>
                      </a:r>
                    </a:p>
                  </a:txBody>
                  <a:tcPr marL="9525" marR="9525" marT="9525" marB="9525" anchor="ctr"/>
                </a:tc>
              </a:tr>
              <a:tr h="392430">
                <a:tc>
                  <a:txBody>
                    <a:bodyPr/>
                    <a:lstStyle/>
                    <a:p>
                      <a:pPr marL="40005" indent="0">
                        <a:lnSpc>
                          <a:spcPct val="107000"/>
                        </a:lnSpc>
                        <a:spcBef>
                          <a:spcPct val="0"/>
                        </a:spcBef>
                        <a:spcAft>
                          <a:spcPct val="0"/>
                        </a:spcAft>
                      </a:pPr>
                      <a:r>
                        <a:rPr sz="2000"/>
                        <a:t>Data Link/Physical</a:t>
                      </a:r>
                    </a:p>
                  </a:txBody>
                  <a:tcPr marL="9525" marR="9525" marT="9525" marB="9525" anchor="ctr"/>
                </a:tc>
                <a:tc>
                  <a:txBody>
                    <a:bodyPr/>
                    <a:lstStyle/>
                    <a:p>
                      <a:pPr marL="40005" indent="0">
                        <a:lnSpc>
                          <a:spcPct val="107000"/>
                        </a:lnSpc>
                        <a:spcBef>
                          <a:spcPct val="0"/>
                        </a:spcBef>
                        <a:spcAft>
                          <a:spcPct val="0"/>
                        </a:spcAft>
                      </a:pPr>
                      <a:r>
                        <a:rPr sz="2000"/>
                        <a:t>Separate</a:t>
                      </a:r>
                    </a:p>
                  </a:txBody>
                  <a:tcPr marL="9525" marR="9525" marT="9525" marB="9525" anchor="ctr"/>
                </a:tc>
                <a:tc>
                  <a:txBody>
                    <a:bodyPr/>
                    <a:lstStyle/>
                    <a:p>
                      <a:pPr marL="40005" indent="0">
                        <a:lnSpc>
                          <a:spcPct val="107000"/>
                        </a:lnSpc>
                        <a:spcBef>
                          <a:spcPct val="0"/>
                        </a:spcBef>
                        <a:spcAft>
                          <a:spcPct val="0"/>
                        </a:spcAft>
                      </a:pPr>
                      <a:r>
                        <a:rPr sz="2000" dirty="0"/>
                        <a:t>Combined in traditional model</a:t>
                      </a:r>
                    </a:p>
                  </a:txBody>
                  <a:tcPr marL="9525" marR="9525" marT="9525" marB="9525" anchor="ctr"/>
                </a:tc>
              </a:tr>
              <a:tr h="670560">
                <a:tc>
                  <a:txBody>
                    <a:bodyPr/>
                    <a:lstStyle/>
                    <a:p>
                      <a:pPr marL="40005" indent="0">
                        <a:lnSpc>
                          <a:spcPct val="107000"/>
                        </a:lnSpc>
                        <a:spcBef>
                          <a:spcPct val="0"/>
                        </a:spcBef>
                        <a:spcAft>
                          <a:spcPct val="0"/>
                        </a:spcAft>
                      </a:pPr>
                      <a:r>
                        <a:rPr sz="2000" dirty="0"/>
                        <a:t>Protocol relationship</a:t>
                      </a:r>
                    </a:p>
                  </a:txBody>
                  <a:tcPr marL="9525" marR="9525" marT="9525" marB="9525" anchor="ctr"/>
                </a:tc>
                <a:tc>
                  <a:txBody>
                    <a:bodyPr/>
                    <a:lstStyle/>
                    <a:p>
                      <a:pPr marL="40005" indent="0">
                        <a:lnSpc>
                          <a:spcPct val="107000"/>
                        </a:lnSpc>
                        <a:spcBef>
                          <a:spcPct val="0"/>
                        </a:spcBef>
                        <a:spcAft>
                          <a:spcPct val="0"/>
                        </a:spcAft>
                      </a:pPr>
                      <a:r>
                        <a:rPr sz="2000"/>
                        <a:t>Protocol-independent</a:t>
                      </a:r>
                    </a:p>
                  </a:txBody>
                  <a:tcPr marL="9525" marR="9525" marT="9525" marB="9525" anchor="ctr"/>
                </a:tc>
                <a:tc>
                  <a:txBody>
                    <a:bodyPr/>
                    <a:lstStyle/>
                    <a:p>
                      <a:pPr marL="40005" indent="0">
                        <a:lnSpc>
                          <a:spcPct val="107000"/>
                        </a:lnSpc>
                        <a:spcBef>
                          <a:spcPct val="0"/>
                        </a:spcBef>
                        <a:spcAft>
                          <a:spcPct val="0"/>
                        </a:spcAft>
                      </a:pPr>
                      <a:r>
                        <a:rPr sz="2000" dirty="0"/>
                        <a:t>Closely tied to TCP/IP protocols</a:t>
                      </a:r>
                    </a:p>
                  </a:txBody>
                  <a:tcPr marL="9525" marR="9525" marT="9525" marB="9525" anchor="ctr"/>
                </a:tc>
              </a:tr>
              <a:tr h="392430">
                <a:tc>
                  <a:txBody>
                    <a:bodyPr/>
                    <a:lstStyle/>
                    <a:p>
                      <a:pPr marL="40005" indent="0">
                        <a:lnSpc>
                          <a:spcPct val="107000"/>
                        </a:lnSpc>
                        <a:spcBef>
                          <a:spcPct val="0"/>
                        </a:spcBef>
                        <a:spcAft>
                          <a:spcPct val="0"/>
                        </a:spcAft>
                      </a:pPr>
                      <a:r>
                        <a:rPr sz="2000"/>
                        <a:t>Internet use</a:t>
                      </a:r>
                    </a:p>
                  </a:txBody>
                  <a:tcPr marL="9525" marR="9525" marT="9525" marB="9525" anchor="ctr"/>
                </a:tc>
                <a:tc>
                  <a:txBody>
                    <a:bodyPr/>
                    <a:lstStyle/>
                    <a:p>
                      <a:pPr marL="40005" indent="0">
                        <a:lnSpc>
                          <a:spcPct val="107000"/>
                        </a:lnSpc>
                        <a:spcBef>
                          <a:spcPct val="0"/>
                        </a:spcBef>
                        <a:spcAft>
                          <a:spcPct val="0"/>
                        </a:spcAft>
                      </a:pPr>
                      <a:r>
                        <a:rPr sz="2000"/>
                        <a:t>Reference framework</a:t>
                      </a:r>
                    </a:p>
                  </a:txBody>
                  <a:tcPr marL="9525" marR="9525" marT="9525" marB="9525" anchor="ctr"/>
                </a:tc>
                <a:tc>
                  <a:txBody>
                    <a:bodyPr/>
                    <a:lstStyle/>
                    <a:p>
                      <a:pPr marL="40005" indent="0">
                        <a:lnSpc>
                          <a:spcPct val="107000"/>
                        </a:lnSpc>
                        <a:spcBef>
                          <a:spcPct val="0"/>
                        </a:spcBef>
                        <a:spcAft>
                          <a:spcPct val="0"/>
                        </a:spcAft>
                      </a:pPr>
                      <a:r>
                        <a:rPr sz="2000" dirty="0"/>
                        <a:t>Fundamental architecture</a:t>
                      </a:r>
                    </a:p>
                  </a:txBody>
                  <a:tcPr marL="9525" marR="9525" marT="9525" marB="9525" anchor="ctr"/>
                </a:tc>
              </a:tr>
              <a:tr h="670560">
                <a:tc>
                  <a:txBody>
                    <a:bodyPr/>
                    <a:lstStyle/>
                    <a:p>
                      <a:pPr marL="40005" indent="0">
                        <a:lnSpc>
                          <a:spcPct val="107000"/>
                        </a:lnSpc>
                        <a:spcBef>
                          <a:spcPct val="0"/>
                        </a:spcBef>
                        <a:spcAft>
                          <a:spcPct val="0"/>
                        </a:spcAft>
                      </a:pPr>
                      <a:r>
                        <a:rPr sz="2000"/>
                        <a:t>Troubleshooting</a:t>
                      </a:r>
                    </a:p>
                  </a:txBody>
                  <a:tcPr marL="9525" marR="9525" marT="9525" marB="9525" anchor="ctr"/>
                </a:tc>
                <a:tc>
                  <a:txBody>
                    <a:bodyPr/>
                    <a:lstStyle/>
                    <a:p>
                      <a:pPr marL="40005" indent="0">
                        <a:lnSpc>
                          <a:spcPct val="107000"/>
                        </a:lnSpc>
                        <a:spcBef>
                          <a:spcPct val="0"/>
                        </a:spcBef>
                        <a:spcAft>
                          <a:spcPct val="0"/>
                        </a:spcAft>
                      </a:pPr>
                      <a:r>
                        <a:rPr sz="2000"/>
                        <a:t>Very useful</a:t>
                      </a:r>
                    </a:p>
                  </a:txBody>
                  <a:tcPr marL="9525" marR="9525" marT="9525" marB="9525" anchor="ctr"/>
                </a:tc>
                <a:tc>
                  <a:txBody>
                    <a:bodyPr/>
                    <a:lstStyle/>
                    <a:p>
                      <a:pPr marL="40005" indent="0">
                        <a:lnSpc>
                          <a:spcPct val="107000"/>
                        </a:lnSpc>
                        <a:spcBef>
                          <a:spcPct val="0"/>
                        </a:spcBef>
                        <a:spcAft>
                          <a:spcPct val="0"/>
                        </a:spcAft>
                      </a:pPr>
                      <a:r>
                        <a:rPr sz="2000" dirty="0"/>
                        <a:t>Also useful, especially for TCP/IP networks</a:t>
                      </a:r>
                    </a:p>
                  </a:txBody>
                  <a:tcPr marL="9525" marR="9525" marT="9525" marB="9525" anchor="ctr"/>
                </a:tc>
              </a:tr>
            </a:tbl>
          </a:graphicData>
        </a:graphic>
      </p:graphicFrame>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sym typeface="+mn-ea"/>
              </a:rPr>
              <a:t>Conclusion</a:t>
            </a:r>
            <a:endParaRPr lang="en-GB" altLang="en-US" b="1"/>
          </a:p>
        </p:txBody>
      </p:sp>
      <p:sp>
        <p:nvSpPr>
          <p:cNvPr id="3" name="Content Placeholder 2"/>
          <p:cNvSpPr>
            <a:spLocks noGrp="1"/>
          </p:cNvSpPr>
          <p:nvPr>
            <p:ph idx="1"/>
          </p:nvPr>
        </p:nvSpPr>
        <p:spPr/>
        <p:txBody>
          <a:bodyPr/>
          <a:lstStyle/>
          <a:p>
            <a:pPr marL="0" indent="0">
              <a:buFont typeface="Wingdings" panose="05000000000000000000" charset="0"/>
              <a:buNone/>
            </a:pPr>
            <a:r>
              <a:rPr lang="en-US" altLang="en-GB" sz="2300" dirty="0"/>
              <a:t>     The</a:t>
            </a:r>
            <a:r>
              <a:rPr lang="" altLang="en-US" sz="2300" dirty="0"/>
              <a:t> </a:t>
            </a:r>
            <a:r>
              <a:rPr lang="en-US" altLang="en-GB" sz="2300" dirty="0"/>
              <a:t>OSI and TCP/IP models are similar because both use layers to organize network communication and explain how data moves between devices. However, they differ significantly in structure and practical application.</a:t>
            </a:r>
          </a:p>
          <a:p>
            <a:pPr>
              <a:buFont typeface="Wingdings" panose="05000000000000000000" charset="0"/>
              <a:buChar char="Ø"/>
            </a:pPr>
            <a:r>
              <a:rPr lang="en-US" altLang="en-GB" sz="2300" dirty="0"/>
              <a:t>The</a:t>
            </a:r>
            <a:r>
              <a:rPr lang="" altLang="en-US" sz="2300" dirty="0"/>
              <a:t> </a:t>
            </a:r>
            <a:r>
              <a:rPr lang="en-US" altLang="en-GB" sz="2300" dirty="0"/>
              <a:t>OSI model has seven layers</a:t>
            </a:r>
            <a:r>
              <a:rPr lang="" altLang="en-US" sz="2300" dirty="0"/>
              <a:t> </a:t>
            </a:r>
            <a:r>
              <a:rPr lang="en-US" altLang="en-GB" sz="2300" dirty="0"/>
              <a:t>and is primarily a</a:t>
            </a:r>
            <a:r>
              <a:rPr lang="" altLang="en-US" sz="2300" dirty="0"/>
              <a:t> </a:t>
            </a:r>
            <a:r>
              <a:rPr lang="en-US" altLang="en-GB" sz="2300" dirty="0"/>
              <a:t>conceptual/reference model</a:t>
            </a:r>
            <a:r>
              <a:rPr lang="" altLang="en-US" sz="2300" dirty="0"/>
              <a:t> </a:t>
            </a:r>
            <a:r>
              <a:rPr lang="en-US" altLang="en-GB" sz="2300" dirty="0"/>
              <a:t>used for learning, analysis, design, and troubleshooting. The</a:t>
            </a:r>
            <a:r>
              <a:rPr lang="" altLang="en-US" sz="2300" dirty="0"/>
              <a:t> </a:t>
            </a:r>
            <a:r>
              <a:rPr lang="en-US" altLang="en-GB" sz="2300" dirty="0"/>
              <a:t>TCP/IP model traditionally has four layers</a:t>
            </a:r>
            <a:r>
              <a:rPr lang="" altLang="en-US" sz="2300" dirty="0"/>
              <a:t> </a:t>
            </a:r>
            <a:r>
              <a:rPr lang="en-US" altLang="en-GB" sz="2300" dirty="0"/>
              <a:t>and is a</a:t>
            </a:r>
            <a:r>
              <a:rPr lang="" altLang="en-US" sz="2300" dirty="0"/>
              <a:t> </a:t>
            </a:r>
            <a:r>
              <a:rPr lang="en-US" altLang="en-GB" sz="2300" dirty="0"/>
              <a:t>practical networking architecture built around protocols such as TCP, IP, HTTP, and DNS.</a:t>
            </a:r>
          </a:p>
          <a:p>
            <a:pPr>
              <a:buFont typeface="Wingdings" panose="05000000000000000000" charset="0"/>
              <a:buChar char="Ø"/>
            </a:pPr>
            <a:r>
              <a:rPr lang="en-US" altLang="en-GB" sz="2300" dirty="0"/>
              <a:t>In simple terms:</a:t>
            </a:r>
          </a:p>
          <a:p>
            <a:pPr>
              <a:buFont typeface="Wingdings" panose="05000000000000000000" charset="0"/>
              <a:buChar char="Ø"/>
            </a:pPr>
            <a:r>
              <a:rPr lang="en-US" altLang="en-GB" sz="2300" dirty="0"/>
              <a:t>OSI explains networking in greater detail, while TCP/IP describes the architecture that is actually used to communicate across the Internet and most modern IP networks.</a:t>
            </a:r>
          </a:p>
          <a:p>
            <a:pPr marL="0" indent="0" algn="ctr">
              <a:buFont typeface="Wingdings" panose="05000000000000000000" charset="0"/>
              <a:buNone/>
            </a:pPr>
            <a:r>
              <a:rPr lang="en-US" altLang="en-GB" sz="2300" b="1" dirty="0"/>
              <a:t>THE END</a:t>
            </a:r>
          </a:p>
        </p:txBody>
      </p:sp>
    </p:spTree>
  </p:cSld>
  <p:clrMapOvr>
    <a:masterClrMapping/>
  </p:clrMapOvr>
  <mc:AlternateContent xmlns:mc="http://schemas.openxmlformats.org/markup-compatibility/2006" xmlns:p14="http://schemas.microsoft.com/office/powerpoint/2010/main">
    <mc:Choice Requires="p14">
      <p:transition p14:dur="10">
        <p14:prism/>
      </p:transition>
    </mc:Choice>
    <mc:Fallback xmlns="">
      <p:transition>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6*284"/>
  <p:tag name="TABLE_ENDDRAG_RECT" val="49*230*826*284"/>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52*377"/>
  <p:tag name="TABLE_ENDDRAG_RECT" val="54*142*852*377"/>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772*303"/>
  <p:tag name="TABLE_ENDDRAG_RECT" val="105*143*772*303"/>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32*430"/>
  <p:tag name="TABLE_ENDDRAG_RECT" val="60*86*832*430"/>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1993</Words>
  <Application>Microsoft Office PowerPoint</Application>
  <PresentationFormat>Widescreen</PresentationFormat>
  <Paragraphs>496</Paragraphs>
  <Slides>72</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SimSun</vt:lpstr>
      <vt:lpstr>Arial</vt:lpstr>
      <vt:lpstr>Calibri</vt:lpstr>
      <vt:lpstr>Courier New</vt:lpstr>
      <vt:lpstr>Segoe UI</vt:lpstr>
      <vt:lpstr>Times New Roman</vt:lpstr>
      <vt:lpstr>var(--type-code-font-family)</vt:lpstr>
      <vt:lpstr>Wingdings</vt:lpstr>
      <vt:lpstr>Gear Drives</vt:lpstr>
      <vt:lpstr>GROUP WORK ASSIGNMENT  FOR  INTRODUCTION TO COMPUTER NETWORKS  COURSE UNIT: IST 11O4 SEMESTER:1 LECTURER: MALE VINCENT 2026 YEAR: 1 BY GROUP 1</vt:lpstr>
      <vt:lpstr>NETWORK MODELS</vt:lpstr>
      <vt:lpstr>OSI(OPEN SYSTEM INTERCONNECTION) MODEL</vt:lpstr>
      <vt:lpstr>Where the OSI Model is Applied</vt:lpstr>
      <vt:lpstr>PRINCIPLES THAT WERE APPLIED TO ARRIVE TO THE SEVEN LAYERS</vt:lpstr>
      <vt:lpstr>   </vt:lpstr>
      <vt:lpstr>ACTIONS THAT TAKE PLACE IN OSI MODEL LAYERS</vt:lpstr>
      <vt:lpstr>Easy way to remember the layers</vt:lpstr>
      <vt:lpstr>Physical Layer </vt:lpstr>
      <vt:lpstr>EXAMPLES OF PROTOCOLS UNDER PHYSICAL LAYER </vt:lpstr>
      <vt:lpstr>2. Data Link Layer </vt:lpstr>
      <vt:lpstr>Responsibilities of Data link layer</vt:lpstr>
      <vt:lpstr>     Examples of protocols under Data Link Layer </vt:lpstr>
      <vt:lpstr>   </vt:lpstr>
      <vt:lpstr>3. Network Layer</vt:lpstr>
      <vt:lpstr>Responsibilities of network layer</vt:lpstr>
      <vt:lpstr>Examples of protocols under Network Layer </vt:lpstr>
      <vt:lpstr>   </vt:lpstr>
      <vt:lpstr>4.  Transport Layer</vt:lpstr>
      <vt:lpstr>Responsibilities of Transport Layer</vt:lpstr>
      <vt:lpstr>Major protocols under Transport Layer</vt:lpstr>
      <vt:lpstr>UDP (User Datagram Protocol)</vt:lpstr>
      <vt:lpstr>5. Session Layer</vt:lpstr>
      <vt:lpstr>Responsibilities of Session Layer </vt:lpstr>
      <vt:lpstr>Examples of protocols under Session Layer</vt:lpstr>
      <vt:lpstr>  </vt:lpstr>
      <vt:lpstr>6. Presentation Layer </vt:lpstr>
      <vt:lpstr>Responsibilities of Presentation Layer</vt:lpstr>
      <vt:lpstr>Examples of Protocols under Presentation Layer</vt:lpstr>
      <vt:lpstr>  </vt:lpstr>
      <vt:lpstr>7. Application Layer</vt:lpstr>
      <vt:lpstr>Responsibilities of Application Layer</vt:lpstr>
      <vt:lpstr>Examples of protocols under Application Layer</vt:lpstr>
      <vt:lpstr>   </vt:lpstr>
      <vt:lpstr>  </vt:lpstr>
      <vt:lpstr>TRANSMISSION CONTROL PROTOCOL/INTERNET PROTOCOL</vt:lpstr>
      <vt:lpstr> TCP/IP</vt:lpstr>
      <vt:lpstr>LAYERS UNDER TCP/IP MODEL INCLUDE;</vt:lpstr>
      <vt:lpstr>1. Application Layer</vt:lpstr>
      <vt:lpstr>Responsibilities for TCP/IP MODEL </vt:lpstr>
      <vt:lpstr>FOREXAMPLE</vt:lpstr>
      <vt:lpstr>PROTOCOLS UNDER TCP/IP MODEL</vt:lpstr>
      <vt:lpstr> </vt:lpstr>
      <vt:lpstr>2. Transport Layer</vt:lpstr>
      <vt:lpstr>Responsibilities under Transport Layer</vt:lpstr>
      <vt:lpstr>Major protocols for Transport Layer</vt:lpstr>
      <vt:lpstr>  </vt:lpstr>
      <vt:lpstr>  </vt:lpstr>
      <vt:lpstr>PowerPoint Presentation</vt:lpstr>
      <vt:lpstr>2. UDP (User Datagram Protocol)</vt:lpstr>
      <vt:lpstr>Examples  of UDP include:</vt:lpstr>
      <vt:lpstr>3.SCTP   (Stream Control Transmission Protocol)</vt:lpstr>
      <vt:lpstr>3. Internet Layer</vt:lpstr>
      <vt:lpstr>Responsibilities for Internet Layer</vt:lpstr>
      <vt:lpstr>Major protocols under Internet Layer</vt:lpstr>
      <vt:lpstr>     ICMP (Internet Control Message Protocol) </vt:lpstr>
      <vt:lpstr>   IGMP — Internet Group Management Protocol </vt:lpstr>
      <vt:lpstr>IPsec — Internet Protocol Security</vt:lpstr>
      <vt:lpstr>Routing protocols</vt:lpstr>
      <vt:lpstr>4. Network Access Layer</vt:lpstr>
      <vt:lpstr>Responsibilities under Network Access Layer</vt:lpstr>
      <vt:lpstr>Major protocols and technologies</vt:lpstr>
      <vt:lpstr>Wi-Fi — IEEE 802.11</vt:lpstr>
      <vt:lpstr>PPP — Point-to-Point Protocol</vt:lpstr>
      <vt:lpstr>ARP — Address Resolution Protocol</vt:lpstr>
      <vt:lpstr>Summary</vt:lpstr>
      <vt:lpstr>  </vt:lpstr>
      <vt:lpstr>Where the TCP/IP Model is Applied  </vt:lpstr>
      <vt:lpstr>SIMILARITIES 0SI AND TCP/IP</vt:lpstr>
      <vt:lpstr>DIFFERENCES BETWEEN OSI AND TCP/IP</vt:lpstr>
      <vt:lpstr>Overall Comparision</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THINKPAD</dc:creator>
  <cp:lastModifiedBy>USER</cp:lastModifiedBy>
  <cp:revision>17</cp:revision>
  <dcterms:created xsi:type="dcterms:W3CDTF">2025-07-23T00:59:00Z</dcterms:created>
  <dcterms:modified xsi:type="dcterms:W3CDTF">2026-09-03T07:03:29Z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44D8767D38EA47FCBA70B7845CDA0932_12</vt:lpwstr>
  </property>
  <property fmtid="{D5CDD505-2E9C-101B-9397-08002B2CF9AE}" pid="3" name="KSOProductBuildVer">
    <vt:lpwstr>2057-12.2.0.23202</vt:lpwstr>
  </property>
</Properties>
</file>