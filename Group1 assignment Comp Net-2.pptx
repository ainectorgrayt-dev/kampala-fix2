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79" r:id="rId3"/>
    <p:sldId id="264" r:id="rId4"/>
    <p:sldId id="265" r:id="rId5"/>
    <p:sldId id="313" r:id="rId6"/>
    <p:sldId id="347" r:id="rId7"/>
    <p:sldId id="266" r:id="rId8"/>
    <p:sldId id="281" r:id="rId9"/>
    <p:sldId id="308" r:id="rId11"/>
    <p:sldId id="307" r:id="rId12"/>
    <p:sldId id="269" r:id="rId13"/>
    <p:sldId id="282" r:id="rId14"/>
    <p:sldId id="283" r:id="rId15"/>
    <p:sldId id="284" r:id="rId16"/>
    <p:sldId id="285" r:id="rId17"/>
    <p:sldId id="286" r:id="rId18"/>
    <p:sldId id="311" r:id="rId19"/>
    <p:sldId id="287"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3" r:id="rId36"/>
    <p:sldId id="304" r:id="rId37"/>
    <p:sldId id="305" r:id="rId38"/>
    <p:sldId id="306" r:id="rId39"/>
    <p:sldId id="345" r:id="rId40"/>
    <p:sldId id="256" r:id="rId41"/>
    <p:sldId id="314" r:id="rId42"/>
    <p:sldId id="315" r:id="rId43"/>
    <p:sldId id="316" r:id="rId44"/>
    <p:sldId id="317" r:id="rId45"/>
    <p:sldId id="320" r:id="rId46"/>
    <p:sldId id="318" r:id="rId47"/>
    <p:sldId id="319" r:id="rId48"/>
    <p:sldId id="321" r:id="rId49"/>
    <p:sldId id="322" r:id="rId50"/>
    <p:sldId id="323" r:id="rId51"/>
    <p:sldId id="324" r:id="rId52"/>
    <p:sldId id="325" r:id="rId53"/>
    <p:sldId id="344" r:id="rId54"/>
    <p:sldId id="326" r:id="rId55"/>
    <p:sldId id="327" r:id="rId56"/>
    <p:sldId id="328" r:id="rId57"/>
    <p:sldId id="329" r:id="rId58"/>
    <p:sldId id="330" r:id="rId59"/>
    <p:sldId id="331" r:id="rId60"/>
    <p:sldId id="332" r:id="rId61"/>
    <p:sldId id="333" r:id="rId62"/>
    <p:sldId id="334" r:id="rId63"/>
    <p:sldId id="335" r:id="rId64"/>
    <p:sldId id="336" r:id="rId65"/>
    <p:sldId id="337" r:id="rId66"/>
    <p:sldId id="338" r:id="rId67"/>
    <p:sldId id="339" r:id="rId68"/>
    <p:sldId id="340" r:id="rId69"/>
    <p:sldId id="341" r:id="rId70"/>
    <p:sldId id="342" r:id="rId71"/>
    <p:sldId id="343" r:id="rId72"/>
    <p:sldId id="312" r:id="rId73"/>
    <p:sldId id="346" r:id="rId74"/>
    <p:sldId id="262" r:id="rId75"/>
    <p:sldId id="263" r:id="rId76"/>
    <p:sldId id="309" r:id="rId77"/>
    <p:sldId id="310"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showGuides="1">
      <p:cViewPr varScale="1">
        <p:scale>
          <a:sx n="74" d="100"/>
          <a:sy n="74" d="100"/>
        </p:scale>
        <p:origin x="54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1" Type="http://schemas.openxmlformats.org/officeDocument/2006/relationships/tableStyles" Target="tableStyles.xml"/><Relationship Id="rId80" Type="http://schemas.openxmlformats.org/officeDocument/2006/relationships/viewProps" Target="viewProps.xml"/><Relationship Id="rId8" Type="http://schemas.openxmlformats.org/officeDocument/2006/relationships/slide" Target="slides/slide6.xml"/><Relationship Id="rId79" Type="http://schemas.openxmlformats.org/officeDocument/2006/relationships/presProps" Target="presProps.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C42F13-0629-4356-B336-EC3D4D2BB441}"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La</a:t>
            </a:r>
            <a:endParaRPr lang="en-US" dirty="0"/>
          </a:p>
        </p:txBody>
      </p:sp>
      <p:sp>
        <p:nvSpPr>
          <p:cNvPr id="4" name="Slide Number Placeholder 3"/>
          <p:cNvSpPr>
            <a:spLocks noGrp="1"/>
          </p:cNvSpPr>
          <p:nvPr>
            <p:ph type="sldNum" sz="quarter" idx="10"/>
          </p:nvPr>
        </p:nvSpPr>
        <p:spPr/>
        <p:txBody>
          <a:bodyPr/>
          <a:lstStyle/>
          <a:p>
            <a:fld id="{81C42F13-0629-4356-B336-EC3D4D2BB441}"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C42F13-0629-4356-B336-EC3D4D2BB441}"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C42F13-0629-4356-B336-EC3D4D2BB441}"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C42F13-0629-4356-B336-EC3D4D2BB441}"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C42F13-0629-4356-B336-EC3D4D2BB441}"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1C42F13-0629-4356-B336-EC3D4D2BB441}"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3"/>
          <p:cNvPicPr>
            <a:picLocks noChangeAspect="1"/>
          </p:cNvPicPr>
          <p:nvPr/>
        </p:nvPicPr>
        <p:blipFill>
          <a:blip r:embed="rId13"/>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noChangeArrowheads="1"/>
          </p:cNvSpPr>
          <p:nvPr>
            <p:ph type="ctrTitle"/>
          </p:nvPr>
        </p:nvSpPr>
        <p:spPr>
          <a:xfrm>
            <a:off x="624840" y="133985"/>
            <a:ext cx="10367645" cy="2504440"/>
          </a:xfrm>
        </p:spPr>
        <p:txBody>
          <a:bodyPr/>
          <a:lstStyle/>
          <a:p>
            <a:pPr algn="ctr"/>
            <a:r>
              <a:rPr lang="en-US" altLang="en-GB" sz="2000" b="1">
                <a:sym typeface="+mn-ea"/>
              </a:rPr>
              <a:t>GROUP WORK ASSIGNMENT</a:t>
            </a:r>
            <a:br>
              <a:rPr lang="en-US" altLang="en-GB" sz="2000" b="1">
                <a:sym typeface="+mn-ea"/>
              </a:rPr>
            </a:br>
            <a:r>
              <a:rPr lang="en-US" altLang="en-GB" sz="2000" b="1">
                <a:sym typeface="+mn-ea"/>
              </a:rPr>
              <a:t> FOR  INTRODUCTION TO COMPUTER NETWORKS </a:t>
            </a:r>
            <a:br>
              <a:rPr lang="en-US" altLang="en-GB" sz="2000">
                <a:sym typeface="+mn-ea"/>
              </a:rPr>
            </a:br>
            <a:r>
              <a:rPr lang="en-US" altLang="en-GB" sz="2000" b="1" dirty="0">
                <a:sym typeface="+mn-ea"/>
              </a:rPr>
              <a:t>COURSE UNIT: IST 11O4</a:t>
            </a:r>
            <a:br>
              <a:rPr lang="en-US" altLang="en-GB" sz="2000" b="1" dirty="0">
                <a:sym typeface="+mn-ea"/>
              </a:rPr>
            </a:br>
            <a:r>
              <a:rPr lang="en-US" altLang="en-GB" sz="2000" b="1" dirty="0">
                <a:sym typeface="+mn-ea"/>
              </a:rPr>
              <a:t>SEMESTER:1</a:t>
            </a:r>
            <a:br>
              <a:rPr lang="en-US" altLang="en-GB" sz="2000" b="1" dirty="0">
                <a:sym typeface="+mn-ea"/>
              </a:rPr>
            </a:br>
            <a:r>
              <a:rPr lang="en-US" altLang="en-GB" sz="2000" b="1" dirty="0">
                <a:sym typeface="+mn-ea"/>
              </a:rPr>
              <a:t>LECTURER: MALE VINCENT</a:t>
            </a:r>
            <a:br>
              <a:rPr lang="en-US" altLang="en-GB" sz="2000" b="1" dirty="0">
                <a:sym typeface="+mn-ea"/>
              </a:rPr>
            </a:br>
            <a:r>
              <a:rPr lang="en-US" altLang="en-GB" sz="2000" b="1" dirty="0">
                <a:sym typeface="+mn-ea"/>
              </a:rPr>
              <a:t>2026 YEAR: 1</a:t>
            </a:r>
            <a:br>
              <a:rPr lang="en-US" altLang="en-GB" sz="2000" b="1" dirty="0">
                <a:sym typeface="+mn-ea"/>
              </a:rPr>
            </a:br>
            <a:r>
              <a:rPr lang="en-US" altLang="en-GB" sz="2000" b="1">
                <a:sym typeface="+mn-ea"/>
              </a:rPr>
              <a:t>BY GROUP 1</a:t>
            </a:r>
            <a:endParaRPr lang="en-GB" altLang="en-US" sz="2000"/>
          </a:p>
        </p:txBody>
      </p:sp>
      <p:graphicFrame>
        <p:nvGraphicFramePr>
          <p:cNvPr id="6" name="Table 5"/>
          <p:cNvGraphicFramePr/>
          <p:nvPr>
            <p:custDataLst>
              <p:tags r:id="rId1"/>
            </p:custDataLst>
          </p:nvPr>
        </p:nvGraphicFramePr>
        <p:xfrm>
          <a:off x="624840" y="2858135"/>
          <a:ext cx="10502265" cy="3707130"/>
        </p:xfrm>
        <a:graphic>
          <a:graphicData uri="http://schemas.openxmlformats.org/drawingml/2006/table">
            <a:tbl>
              <a:tblPr firstRow="1" bandRow="1">
                <a:tableStyleId>{5C22544A-7EE6-4342-B048-85BDC9FD1C3A}</a:tableStyleId>
              </a:tblPr>
              <a:tblGrid>
                <a:gridCol w="3500755"/>
                <a:gridCol w="3500755"/>
                <a:gridCol w="3500755"/>
              </a:tblGrid>
              <a:tr h="504190">
                <a:tc>
                  <a:txBody>
                    <a:bodyPr/>
                    <a:lstStyle/>
                    <a:p>
                      <a:pPr>
                        <a:buNone/>
                      </a:pPr>
                      <a:r>
                        <a:rPr lang="en-US" altLang="en-GB" sz="1500" dirty="0"/>
                        <a:t>NAME</a:t>
                      </a:r>
                      <a:endParaRPr lang="en-US" altLang="en-GB" sz="1500" dirty="0"/>
                    </a:p>
                  </a:txBody>
                  <a:tcPr/>
                </a:tc>
                <a:tc>
                  <a:txBody>
                    <a:bodyPr/>
                    <a:lstStyle/>
                    <a:p>
                      <a:pPr>
                        <a:buNone/>
                      </a:pPr>
                      <a:r>
                        <a:rPr lang="en-US" altLang="en-GB" sz="1500" dirty="0"/>
                        <a:t>REGESTRATION NO.</a:t>
                      </a:r>
                      <a:endParaRPr lang="en-US" altLang="en-GB" sz="1500" dirty="0"/>
                    </a:p>
                  </a:txBody>
                  <a:tcPr/>
                </a:tc>
                <a:tc>
                  <a:txBody>
                    <a:bodyPr/>
                    <a:lstStyle/>
                    <a:p>
                      <a:pPr>
                        <a:buNone/>
                      </a:pPr>
                      <a:r>
                        <a:rPr lang="en-US" altLang="en-GB" sz="1500"/>
                        <a:t>STUDENT NO:</a:t>
                      </a:r>
                      <a:endParaRPr lang="en-US" altLang="en-GB" sz="1500"/>
                    </a:p>
                  </a:txBody>
                  <a:tcPr/>
                </a:tc>
              </a:tr>
              <a:tr h="548640">
                <a:tc>
                  <a:txBody>
                    <a:bodyPr/>
                    <a:lstStyle/>
                    <a:p>
                      <a:pPr>
                        <a:buNone/>
                      </a:pPr>
                      <a:r>
                        <a:rPr lang="en-US" altLang="en-GB" sz="1500"/>
                        <a:t>AINEBYONA VICTOR</a:t>
                      </a:r>
                      <a:endParaRPr lang="en-US" altLang="en-GB" sz="1500"/>
                    </a:p>
                  </a:txBody>
                  <a:tcPr/>
                </a:tc>
                <a:tc>
                  <a:txBody>
                    <a:bodyPr/>
                    <a:lstStyle/>
                    <a:p>
                      <a:pPr>
                        <a:buNone/>
                      </a:pPr>
                      <a:r>
                        <a:rPr lang="en-US" altLang="en-GB" sz="1500" dirty="0"/>
                        <a:t>26/U/04227/PSA</a:t>
                      </a:r>
                      <a:endParaRPr lang="en-US" altLang="en-GB" sz="1500" dirty="0"/>
                    </a:p>
                  </a:txBody>
                  <a:tcPr/>
                </a:tc>
                <a:tc>
                  <a:txBody>
                    <a:bodyPr/>
                    <a:lstStyle/>
                    <a:p>
                      <a:pPr>
                        <a:buNone/>
                      </a:pPr>
                      <a:r>
                        <a:rPr lang="en-US" altLang="en-GB" sz="1500" dirty="0">
                          <a:sym typeface="+mn-ea"/>
                        </a:rPr>
                        <a:t>2600703692</a:t>
                      </a:r>
                      <a:endParaRPr lang="en-US" altLang="en-GB" sz="1500" dirty="0"/>
                    </a:p>
                    <a:p>
                      <a:pPr>
                        <a:buNone/>
                      </a:pPr>
                      <a:endParaRPr lang="en-US" altLang="en-GB" sz="1500" dirty="0"/>
                    </a:p>
                  </a:txBody>
                  <a:tcPr/>
                </a:tc>
              </a:tr>
              <a:tr h="548640">
                <a:tc>
                  <a:txBody>
                    <a:bodyPr/>
                    <a:lstStyle/>
                    <a:p>
                      <a:pPr>
                        <a:buNone/>
                      </a:pPr>
                      <a:r>
                        <a:rPr lang="en-US" altLang="en-GB" sz="1500">
                          <a:sym typeface="+mn-ea"/>
                        </a:rPr>
                        <a:t>ACHUDA FREDRICK</a:t>
                      </a:r>
                      <a:endParaRPr lang="en-US" altLang="en-GB" sz="1500"/>
                    </a:p>
                    <a:p>
                      <a:pPr>
                        <a:buNone/>
                      </a:pPr>
                      <a:endParaRPr lang="en-US" altLang="en-GB" sz="1500"/>
                    </a:p>
                  </a:txBody>
                  <a:tcPr/>
                </a:tc>
                <a:tc>
                  <a:txBody>
                    <a:bodyPr/>
                    <a:lstStyle/>
                    <a:p>
                      <a:pPr>
                        <a:buNone/>
                      </a:pPr>
                      <a:r>
                        <a:rPr lang="en-US" altLang="en-GB" sz="1500" dirty="0">
                          <a:sym typeface="+mn-ea"/>
                        </a:rPr>
                        <a:t>26/U/29544/PSA</a:t>
                      </a:r>
                      <a:endParaRPr lang="en-US" altLang="en-GB" sz="1500" dirty="0"/>
                    </a:p>
                    <a:p>
                      <a:pPr>
                        <a:buNone/>
                      </a:pPr>
                      <a:endParaRPr lang="en-US" altLang="en-GB" sz="1500" dirty="0"/>
                    </a:p>
                  </a:txBody>
                  <a:tcPr/>
                </a:tc>
                <a:tc>
                  <a:txBody>
                    <a:bodyPr/>
                    <a:lstStyle/>
                    <a:p>
                      <a:pPr>
                        <a:buNone/>
                      </a:pPr>
                      <a:r>
                        <a:rPr lang="en-US" altLang="en-GB" sz="1500">
                          <a:sym typeface="+mn-ea"/>
                        </a:rPr>
                        <a:t>2600729544</a:t>
                      </a:r>
                      <a:endParaRPr lang="en-US" altLang="en-GB" sz="1500"/>
                    </a:p>
                    <a:p>
                      <a:pPr>
                        <a:buNone/>
                      </a:pPr>
                      <a:endParaRPr lang="en-US" altLang="en-GB" sz="1500"/>
                    </a:p>
                  </a:txBody>
                  <a:tcPr/>
                </a:tc>
              </a:tr>
              <a:tr h="548640">
                <a:tc>
                  <a:txBody>
                    <a:bodyPr/>
                    <a:lstStyle/>
                    <a:p>
                      <a:pPr>
                        <a:buNone/>
                      </a:pPr>
                      <a:r>
                        <a:rPr lang="en-US" altLang="en-GB" sz="1500" dirty="0">
                          <a:sym typeface="+mn-ea"/>
                        </a:rPr>
                        <a:t>AKAMPURIRA IAN</a:t>
                      </a:r>
                      <a:endParaRPr lang="en-US" altLang="en-GB" sz="1500" dirty="0"/>
                    </a:p>
                    <a:p>
                      <a:pPr>
                        <a:buNone/>
                      </a:pPr>
                      <a:endParaRPr lang="en-US" altLang="en-GB" sz="1500" dirty="0"/>
                    </a:p>
                  </a:txBody>
                  <a:tcPr/>
                </a:tc>
                <a:tc>
                  <a:txBody>
                    <a:bodyPr/>
                    <a:lstStyle/>
                    <a:p>
                      <a:pPr>
                        <a:buNone/>
                      </a:pPr>
                      <a:r>
                        <a:rPr lang="en-US" altLang="en-GB" sz="1500">
                          <a:sym typeface="+mn-ea"/>
                        </a:rPr>
                        <a:t>26/U/03698/PS</a:t>
                      </a:r>
                      <a:endParaRPr lang="en-US" altLang="en-GB" sz="1500"/>
                    </a:p>
                    <a:p>
                      <a:pPr>
                        <a:buNone/>
                      </a:pPr>
                      <a:endParaRPr lang="en-US" altLang="en-GB" sz="1500"/>
                    </a:p>
                  </a:txBody>
                  <a:tcPr/>
                </a:tc>
                <a:tc>
                  <a:txBody>
                    <a:bodyPr/>
                    <a:lstStyle/>
                    <a:p>
                      <a:pPr>
                        <a:buNone/>
                      </a:pPr>
                      <a:r>
                        <a:rPr lang="en-US" altLang="en-GB" sz="1500" dirty="0">
                          <a:sym typeface="+mn-ea"/>
                        </a:rPr>
                        <a:t>2600703698</a:t>
                      </a:r>
                      <a:endParaRPr lang="en-US" altLang="en-GB" sz="1500" dirty="0"/>
                    </a:p>
                    <a:p>
                      <a:pPr>
                        <a:buNone/>
                      </a:pPr>
                      <a:endParaRPr lang="en-US" altLang="en-GB" sz="1500" dirty="0"/>
                    </a:p>
                  </a:txBody>
                  <a:tcPr/>
                </a:tc>
              </a:tr>
              <a:tr h="548640">
                <a:tc>
                  <a:txBody>
                    <a:bodyPr/>
                    <a:lstStyle/>
                    <a:p>
                      <a:pPr>
                        <a:buNone/>
                      </a:pPr>
                      <a:r>
                        <a:rPr lang="en-US" altLang="en-GB" sz="1500" dirty="0">
                          <a:sym typeface="+mn-ea"/>
                        </a:rPr>
                        <a:t>ODOI VINCENT </a:t>
                      </a:r>
                      <a:endParaRPr lang="en-US" altLang="en-GB" sz="1500" dirty="0"/>
                    </a:p>
                    <a:p>
                      <a:pPr>
                        <a:buNone/>
                      </a:pPr>
                      <a:endParaRPr lang="en-US" altLang="en-GB" sz="1500" dirty="0"/>
                    </a:p>
                  </a:txBody>
                  <a:tcPr/>
                </a:tc>
                <a:tc>
                  <a:txBody>
                    <a:bodyPr/>
                    <a:lstStyle/>
                    <a:p>
                      <a:pPr>
                        <a:buNone/>
                      </a:pPr>
                      <a:r>
                        <a:rPr lang="en-US" altLang="en-GB" sz="1500">
                          <a:sym typeface="+mn-ea"/>
                        </a:rPr>
                        <a:t>26/U/04111/PSA</a:t>
                      </a:r>
                      <a:endParaRPr lang="en-US" altLang="en-GB" sz="1500"/>
                    </a:p>
                    <a:p>
                      <a:pPr>
                        <a:buNone/>
                      </a:pPr>
                      <a:endParaRPr lang="en-US" altLang="en-GB" sz="1500"/>
                    </a:p>
                  </a:txBody>
                  <a:tcPr/>
                </a:tc>
                <a:tc>
                  <a:txBody>
                    <a:bodyPr/>
                    <a:lstStyle/>
                    <a:p>
                      <a:pPr>
                        <a:buNone/>
                      </a:pPr>
                      <a:r>
                        <a:rPr lang="en-US" altLang="en-GB" sz="1500"/>
                        <a:t>2600704111</a:t>
                      </a:r>
                      <a:endParaRPr lang="en-US" altLang="en-GB" sz="1500"/>
                    </a:p>
                    <a:p>
                      <a:pPr>
                        <a:buNone/>
                      </a:pPr>
                      <a:endParaRPr lang="en-US" altLang="en-GB" sz="1500"/>
                    </a:p>
                  </a:txBody>
                  <a:tcPr/>
                </a:tc>
              </a:tr>
              <a:tr h="504190">
                <a:tc>
                  <a:txBody>
                    <a:bodyPr/>
                    <a:lstStyle/>
                    <a:p>
                      <a:pPr>
                        <a:buNone/>
                      </a:pPr>
                      <a:r>
                        <a:rPr lang="en-US" altLang="en-GB" sz="1500" dirty="0"/>
                        <a:t>ABOKU GEORGE PHILIP</a:t>
                      </a:r>
                      <a:endParaRPr lang="en-US" altLang="en-GB" sz="1500" dirty="0"/>
                    </a:p>
                  </a:txBody>
                  <a:tcPr/>
                </a:tc>
                <a:tc>
                  <a:txBody>
                    <a:bodyPr/>
                    <a:lstStyle/>
                    <a:p>
                      <a:pPr>
                        <a:buNone/>
                      </a:pPr>
                      <a:r>
                        <a:rPr lang="en-US" altLang="en-GB" sz="1500"/>
                        <a:t>26/U/03678/PSA</a:t>
                      </a:r>
                      <a:endParaRPr lang="en-US" altLang="en-GB" sz="1500"/>
                    </a:p>
                  </a:txBody>
                  <a:tcPr/>
                </a:tc>
                <a:tc>
                  <a:txBody>
                    <a:bodyPr/>
                    <a:lstStyle/>
                    <a:p>
                      <a:pPr>
                        <a:buNone/>
                      </a:pPr>
                      <a:r>
                        <a:rPr lang="en-US" altLang="en-GB" sz="1500"/>
                        <a:t>2600703678</a:t>
                      </a:r>
                      <a:endParaRPr lang="en-US" altLang="en-GB" sz="1500"/>
                    </a:p>
                  </a:txBody>
                  <a:tcPr/>
                </a:tc>
              </a:tr>
              <a:tr h="504190">
                <a:tc>
                  <a:txBody>
                    <a:bodyPr/>
                    <a:lstStyle/>
                    <a:p>
                      <a:pPr>
                        <a:buNone/>
                      </a:pPr>
                      <a:r>
                        <a:rPr lang="en-US" altLang="en-GB" sz="1500" dirty="0"/>
                        <a:t>WAMANGA SHAMIHA</a:t>
                      </a:r>
                      <a:endParaRPr lang="en-US" altLang="en-GB" sz="1500" dirty="0"/>
                    </a:p>
                  </a:txBody>
                  <a:tcPr/>
                </a:tc>
                <a:tc>
                  <a:txBody>
                    <a:bodyPr/>
                    <a:lstStyle/>
                    <a:p>
                      <a:pPr>
                        <a:buNone/>
                      </a:pPr>
                      <a:r>
                        <a:rPr lang="en-US" altLang="en-GB" sz="1500"/>
                        <a:t>26/U/04227/PS</a:t>
                      </a:r>
                      <a:endParaRPr lang="en-US" altLang="en-GB" sz="1500"/>
                    </a:p>
                  </a:txBody>
                  <a:tcPr/>
                </a:tc>
                <a:tc>
                  <a:txBody>
                    <a:bodyPr/>
                    <a:lstStyle/>
                    <a:p>
                      <a:pPr>
                        <a:buNone/>
                      </a:pPr>
                      <a:r>
                        <a:rPr lang="en-US" altLang="en-GB" sz="1500"/>
                        <a:t>2600704227</a:t>
                      </a:r>
                      <a:endParaRPr lang="en-US" altLang="en-GB" sz="1500"/>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noChangeArrowheads="1"/>
          </p:cNvSpPr>
          <p:nvPr>
            <p:ph type="ctrTitle"/>
          </p:nvPr>
        </p:nvSpPr>
        <p:spPr>
          <a:xfrm>
            <a:off x="2063750" y="867410"/>
            <a:ext cx="9211945" cy="2661920"/>
          </a:xfrm>
        </p:spPr>
        <p:txBody>
          <a:bodyPr/>
          <a:lstStyle/>
          <a:p>
            <a:pPr algn="ctr"/>
            <a:r>
              <a:rPr lang="en-US" altLang="en-GB" b="1"/>
              <a:t>QN.1 Discuss the seven layers of OSI, specifying the responsibilities of each layer and the protocols that operate at each layer and what they do? </a:t>
            </a:r>
            <a:endParaRPr lang="en-US" altLang="en-GB" b="1"/>
          </a:p>
        </p:txBody>
      </p:sp>
      <p:sp>
        <p:nvSpPr>
          <p:cNvPr id="5" name="Subtitle 4"/>
          <p:cNvSpPr>
            <a:spLocks noGrp="1" noChangeArrowheads="1"/>
          </p:cNvSpPr>
          <p:nvPr>
            <p:ph type="subTitle" idx="1"/>
          </p:nvPr>
        </p:nvSpPr>
        <p:spPr>
          <a:xfrm>
            <a:off x="2063750" y="3269615"/>
            <a:ext cx="9218295" cy="1410335"/>
          </a:xfrm>
        </p:spPr>
        <p:txBody>
          <a:bodyPr/>
          <a:lstStyle/>
          <a:p>
            <a:pPr algn="l"/>
            <a:r>
              <a:rPr lang="en-US" altLang="en-GB"/>
              <a:t> </a:t>
            </a:r>
            <a:endParaRPr lang="en-US" altLang="en-GB" b="1"/>
          </a:p>
        </p:txBody>
      </p:sp>
      <p:sp>
        <p:nvSpPr>
          <p:cNvPr id="2" name="Text Box 1"/>
          <p:cNvSpPr txBox="1"/>
          <p:nvPr/>
        </p:nvSpPr>
        <p:spPr>
          <a:xfrm>
            <a:off x="1787525" y="3529330"/>
            <a:ext cx="8848090" cy="2526665"/>
          </a:xfrm>
          <a:prstGeom prst="rect">
            <a:avLst/>
          </a:prstGeom>
          <a:noFill/>
        </p:spPr>
        <p:txBody>
          <a:bodyPr wrap="square" rtlCol="0">
            <a:noAutofit/>
          </a:bodyPr>
          <a:p>
            <a:r>
              <a:rPr lang="en-US" altLang="en-GB" sz="2800" b="1" u="sng">
                <a:sym typeface="+mn-ea"/>
              </a:rPr>
              <a:t>OSI(OPEN SYSTEM INTERCONNECTION) MODEL</a:t>
            </a:r>
            <a:endParaRPr lang="en-US" altLang="en-GB" sz="2800" b="1" u="sng"/>
          </a:p>
          <a:p>
            <a:r>
              <a:rPr lang="en-US" altLang="en-GB"/>
              <a:t> I</a:t>
            </a:r>
            <a:r>
              <a:rPr lang="en-US" altLang="en-GB" sz="2800"/>
              <a:t>t is defined as a conceptual frame work that divides network communication into seven layers , enabling different computer systems and hardware to communicate using standard protocols.</a:t>
            </a:r>
            <a:endParaRPr lang="en-US" altLang="en-GB" sz="280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altLang="en-GB"/>
              <a:t>    This was based on the propsal by the </a:t>
            </a:r>
            <a:r>
              <a:rPr lang="en-US" altLang="en-GB" b="1"/>
              <a:t>ISO( international Standards Organisation.) (FEB 23,1947)</a:t>
            </a:r>
            <a:endParaRPr lang="en-US" altLang="en-GB" b="1"/>
          </a:p>
          <a:p>
            <a:pPr marL="0" indent="0">
              <a:buNone/>
            </a:pPr>
            <a:r>
              <a:rPr lang="en-US" altLang="en-GB"/>
              <a:t>     Then revised in 1995 from ISO to OSI model because it deals with connecting open systems that is to say the systems are open for communication with other systems.</a:t>
            </a:r>
            <a:endParaRPr lang="en-US" altLang="en-GB"/>
          </a:p>
          <a:p>
            <a:pPr marL="0" indent="0">
              <a:buNone/>
            </a:pPr>
            <a:r>
              <a:rPr lang="en-US" altLang="en-GB"/>
              <a:t>     </a:t>
            </a:r>
            <a:r>
              <a:rPr lang="en-US" altLang="en-GB">
                <a:sym typeface="+mn-ea"/>
              </a:rPr>
              <a:t>The model has seven layers.</a:t>
            </a:r>
            <a:endParaRPr lang="en-US" altLang="en-GB">
              <a:sym typeface="+mn-ea"/>
            </a:endParaRPr>
          </a:p>
          <a:p>
            <a:pPr marL="0" indent="0">
              <a:buNone/>
            </a:pPr>
            <a:r>
              <a:rPr lang="en-US" altLang="en-GB">
                <a:sym typeface="+mn-ea"/>
              </a:rPr>
              <a:t>     </a:t>
            </a:r>
            <a:r>
              <a:rPr lang="en-US" altLang="en-GB"/>
              <a:t>The OSI model also tell what each layer should do.</a:t>
            </a:r>
            <a:endParaRPr lang="en-US" altLang="en-GB"/>
          </a:p>
          <a:p>
            <a:pPr marL="0" indent="0">
              <a:buNone/>
            </a:pPr>
            <a:r>
              <a:rPr lang="en-US" altLang="en-GB"/>
              <a:t>     </a:t>
            </a:r>
            <a:endParaRPr lang="en-US" altLang="en-GB"/>
          </a:p>
          <a:p>
            <a:pPr marL="0" indent="0">
              <a:buNone/>
            </a:pPr>
            <a:endParaRPr lang="en-US" altLang="en-GB"/>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80035"/>
            <a:ext cx="10972800" cy="998220"/>
          </a:xfrm>
        </p:spPr>
        <p:txBody>
          <a:bodyPr/>
          <a:lstStyle/>
          <a:p>
            <a:pPr algn="ctr"/>
            <a:r>
              <a:rPr lang="en-US" altLang="en-GB" b="1"/>
              <a:t>Where the OSI Model is Applied</a:t>
            </a:r>
            <a:endParaRPr lang="en-US" altLang="en-GB" b="1"/>
          </a:p>
        </p:txBody>
      </p:sp>
      <p:sp>
        <p:nvSpPr>
          <p:cNvPr id="3" name="Content Placeholder 2"/>
          <p:cNvSpPr>
            <a:spLocks noGrp="1"/>
          </p:cNvSpPr>
          <p:nvPr>
            <p:ph idx="1"/>
          </p:nvPr>
        </p:nvSpPr>
        <p:spPr>
          <a:xfrm>
            <a:off x="609600" y="1696720"/>
            <a:ext cx="10972800" cy="4431030"/>
          </a:xfrm>
        </p:spPr>
        <p:txBody>
          <a:bodyPr/>
          <a:lstStyle/>
          <a:p>
            <a:pPr>
              <a:buFont typeface="Wingdings" panose="05000000000000000000" charset="0"/>
              <a:buChar char="Ø"/>
            </a:pPr>
            <a:r>
              <a:rPr lang="en-US" altLang="en-GB"/>
              <a:t>Networking education. As we are doing now.</a:t>
            </a:r>
            <a:endParaRPr lang="en-US" altLang="en-GB"/>
          </a:p>
          <a:p>
            <a:pPr>
              <a:buFont typeface="Wingdings" panose="05000000000000000000" charset="0"/>
              <a:buChar char="Ø"/>
            </a:pPr>
            <a:r>
              <a:rPr lang="en-US" altLang="en-GB"/>
              <a:t>Network certification training.</a:t>
            </a:r>
            <a:endParaRPr lang="en-US" altLang="en-GB"/>
          </a:p>
          <a:p>
            <a:pPr>
              <a:buFont typeface="Wingdings" panose="05000000000000000000" charset="0"/>
              <a:buChar char="Ø"/>
            </a:pPr>
            <a:r>
              <a:rPr lang="en-US" altLang="en-GB"/>
              <a:t>Network troubleshooting.</a:t>
            </a:r>
            <a:endParaRPr lang="en-US" altLang="en-GB"/>
          </a:p>
          <a:p>
            <a:pPr>
              <a:buFont typeface="Wingdings" panose="05000000000000000000" charset="0"/>
              <a:buChar char="Ø"/>
            </a:pPr>
            <a:r>
              <a:rPr lang="en-US" altLang="en-GB"/>
              <a:t>Protocol analysis.</a:t>
            </a:r>
            <a:endParaRPr lang="en-US" altLang="en-GB"/>
          </a:p>
          <a:p>
            <a:pPr>
              <a:buFont typeface="Wingdings" panose="05000000000000000000" charset="0"/>
              <a:buChar char="Ø"/>
            </a:pPr>
            <a:r>
              <a:rPr lang="en-US" altLang="en-GB"/>
              <a:t>Network architecture and design.</a:t>
            </a:r>
            <a:endParaRPr lang="en-US" altLang="en-GB"/>
          </a:p>
          <a:p>
            <a:pPr>
              <a:buFont typeface="Wingdings" panose="05000000000000000000" charset="0"/>
              <a:buChar char="Ø"/>
            </a:pPr>
            <a:r>
              <a:rPr lang="en-US" altLang="en-GB"/>
              <a:t>Explaining security controls and network devices.</a:t>
            </a:r>
            <a:endParaRPr lang="en-US" altLang="en-GB"/>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a:buFont typeface="Wingdings" panose="05000000000000000000" charset="0"/>
              <a:buChar char="Ø"/>
            </a:pPr>
            <a:r>
              <a:rPr lang="en-US" altLang="en-GB" b="1"/>
              <a:t>Standardisation:</a:t>
            </a:r>
            <a:r>
              <a:rPr lang="en-US" altLang="en-GB"/>
              <a:t> Gives developers a common rulebook to build interoperable hardware an software.</a:t>
            </a:r>
            <a:endParaRPr lang="en-US" altLang="en-GB"/>
          </a:p>
          <a:p>
            <a:pPr>
              <a:buFont typeface="Wingdings" panose="05000000000000000000" charset="0"/>
              <a:buChar char="Ø"/>
            </a:pPr>
            <a:r>
              <a:rPr lang="en-US" altLang="en-GB" b="1"/>
              <a:t>Troubleshooting</a:t>
            </a:r>
            <a:r>
              <a:rPr lang="en-US" altLang="en-GB"/>
              <a:t>: Helps enginneers isolate network issues down to single specific layer.</a:t>
            </a:r>
            <a:endParaRPr lang="en-US" altLang="en-GB"/>
          </a:p>
          <a:p>
            <a:pPr>
              <a:buFont typeface="Wingdings" panose="05000000000000000000" charset="0"/>
              <a:buChar char="Ø"/>
            </a:pPr>
            <a:r>
              <a:rPr lang="en-US" altLang="en-GB" b="1"/>
              <a:t>Modularity:</a:t>
            </a:r>
            <a:r>
              <a:rPr lang="en-US" altLang="en-GB"/>
              <a:t>Allows changes or updates in one layer without disruptingthe entire system.</a:t>
            </a:r>
            <a:endParaRPr lang="en-US" altLang="en-GB"/>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402080"/>
          </a:xfrm>
        </p:spPr>
        <p:txBody>
          <a:bodyPr/>
          <a:lstStyle/>
          <a:p>
            <a:r>
              <a:rPr lang="en-US" altLang="en-GB" b="1">
                <a:sym typeface="+mn-ea"/>
              </a:rPr>
              <a:t>PRINCIPLES THAT WERE APPLIED TO ARRIVE TO THE SEVEN LAYERS</a:t>
            </a:r>
            <a:endParaRPr lang="en-GB" altLang="en-US"/>
          </a:p>
        </p:txBody>
      </p:sp>
      <p:sp>
        <p:nvSpPr>
          <p:cNvPr id="3" name="Content Placeholder 2"/>
          <p:cNvSpPr>
            <a:spLocks noGrp="1"/>
          </p:cNvSpPr>
          <p:nvPr>
            <p:ph idx="1"/>
          </p:nvPr>
        </p:nvSpPr>
        <p:spPr>
          <a:xfrm>
            <a:off x="609600" y="1592580"/>
            <a:ext cx="10972800" cy="4682490"/>
          </a:xfrm>
        </p:spPr>
        <p:txBody>
          <a:bodyPr/>
          <a:lstStyle/>
          <a:p>
            <a:pPr marL="514350" indent="-514350">
              <a:buFont typeface="+mj-lt"/>
              <a:buAutoNum type="arabicPeriod"/>
            </a:pPr>
            <a:r>
              <a:rPr lang="en-US" altLang="en-GB" sz="2800"/>
              <a:t>A layer should be created where a different abstraction(simplification) is needed.</a:t>
            </a:r>
            <a:endParaRPr lang="en-US" altLang="en-GB" sz="2800"/>
          </a:p>
          <a:p>
            <a:pPr marL="514350" indent="-514350">
              <a:buFont typeface="+mj-lt"/>
              <a:buAutoNum type="arabicPeriod"/>
            </a:pPr>
            <a:r>
              <a:rPr lang="en-US" altLang="en-GB" sz="2800"/>
              <a:t>Each layer should perfom a well defined function.</a:t>
            </a:r>
            <a:endParaRPr lang="en-US" altLang="en-GB" sz="2800"/>
          </a:p>
          <a:p>
            <a:pPr marL="514350" indent="-514350">
              <a:buFont typeface="+mj-lt"/>
              <a:buAutoNum type="arabicPeriod"/>
            </a:pPr>
            <a:r>
              <a:rPr lang="en-US" altLang="en-GB" sz="2800"/>
              <a:t>The function of each layer should be chosen with an eye to ward defining internationally standardised protocols.</a:t>
            </a:r>
            <a:endParaRPr lang="en-US" altLang="en-GB" sz="2800"/>
          </a:p>
          <a:p>
            <a:pPr marL="514350" indent="-514350">
              <a:buFont typeface="+mj-lt"/>
              <a:buAutoNum type="arabicPeriod"/>
            </a:pPr>
            <a:r>
              <a:rPr lang="en-US" altLang="en-GB" sz="2800"/>
              <a:t>The boundaries should minimise the information flow across the interfaces</a:t>
            </a:r>
            <a:endParaRPr lang="en-US" altLang="en-GB" sz="2800"/>
          </a:p>
          <a:p>
            <a:pPr marL="514350" indent="-514350">
              <a:buFont typeface="+mj-lt"/>
              <a:buAutoNum type="arabicPeriod"/>
            </a:pPr>
            <a:r>
              <a:rPr lang="en-US" altLang="en-GB" sz="2800"/>
              <a:t>The number of layers should be large enough that distinct functions need not to be thrown together but small enough that the architecture does not become too big.  </a:t>
            </a:r>
            <a:endParaRPr lang="en-US" altLang="en-GB" sz="280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graphicFrame>
        <p:nvGraphicFramePr>
          <p:cNvPr id="5" name="Content Placeholder 4"/>
          <p:cNvGraphicFramePr>
            <a:graphicFrameLocks noGrp="1"/>
          </p:cNvGraphicFramePr>
          <p:nvPr>
            <p:ph idx="1"/>
          </p:nvPr>
        </p:nvGraphicFramePr>
        <p:xfrm>
          <a:off x="617482" y="365125"/>
          <a:ext cx="10515600" cy="5978043"/>
        </p:xfrm>
        <a:graphic>
          <a:graphicData uri="http://schemas.openxmlformats.org/drawingml/2006/table">
            <a:tbl>
              <a:tblPr firstRow="1" bandRow="1">
                <a:tableStyleId>{5C22544A-7EE6-4342-B048-85BDC9FD1C3A}</a:tableStyleId>
              </a:tblPr>
              <a:tblGrid>
                <a:gridCol w="2628900"/>
                <a:gridCol w="2628900"/>
                <a:gridCol w="2628900"/>
                <a:gridCol w="2628900"/>
              </a:tblGrid>
              <a:tr h="898634">
                <a:tc>
                  <a:txBody>
                    <a:bodyPr/>
                    <a:lstStyle/>
                    <a:p>
                      <a:pPr algn="ct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Layer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Name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Main Responsibility</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Examples of Protocols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725214">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7</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Application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Provides network services to applications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HTTP, HTTPS, FTP, SMTP, DNS, SSH</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567559">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6</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Presentation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Data formatting, encryption, compression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TLS/SSL, JPEG, PNG, ASCII, UTF-8</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725214">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Session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Establishes and manages communication sessions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NetBIOS, RPC, SIP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583324">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Transport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End-to-end delivery, reliability, flow control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TCP, UDP, SCTP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898634">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Network</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Routing and logical addressing</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IP, ICMP, IPsec, OSPF, BGP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662152">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Data Link</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Frames, MAC addressing, error detection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Ethernet, Wi-Fi (802.11), PPP, ARP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835572">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Physical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Transmission of raw bits over a medium</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Ethernet physical standards, USB, DSL, fiber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4250"/>
          </a:xfrm>
        </p:spPr>
        <p:txBody>
          <a:bodyPr/>
          <a:lstStyle/>
          <a:p>
            <a:pPr algn="ctr"/>
            <a:r>
              <a:rPr lang="en-GB" altLang="en-GB" dirty="0" smtClean="0"/>
              <a:t>ACTIONS THAT TAKE PLACE IN OSI MODEL LAYERS</a:t>
            </a:r>
            <a:endParaRPr lang="en-US" altLang="en-GB" dirty="0"/>
          </a:p>
        </p:txBody>
      </p:sp>
      <p:sp>
        <p:nvSpPr>
          <p:cNvPr id="3" name="Content Placeholder 2"/>
          <p:cNvSpPr>
            <a:spLocks noGrp="1"/>
          </p:cNvSpPr>
          <p:nvPr>
            <p:ph idx="1"/>
          </p:nvPr>
        </p:nvSpPr>
        <p:spPr/>
        <p:txBody>
          <a:bodyPr/>
          <a:lstStyle/>
          <a:p>
            <a:pPr marL="0" indent="0">
              <a:buNone/>
            </a:pPr>
            <a:r>
              <a:rPr lang="en-US" altLang="en-GB" sz="2500" b="1" dirty="0"/>
              <a:t>Application:</a:t>
            </a:r>
            <a:r>
              <a:rPr lang="en-US" altLang="en-US" sz="2500" dirty="0"/>
              <a:t> </a:t>
            </a:r>
            <a:r>
              <a:rPr lang="en-US" altLang="en-GB" sz="2500" dirty="0"/>
              <a:t>HTTP creates a web request.</a:t>
            </a:r>
            <a:endParaRPr lang="en-US" altLang="en-GB" sz="2500" dirty="0"/>
          </a:p>
          <a:p>
            <a:pPr marL="0" indent="0">
              <a:buNone/>
            </a:pPr>
            <a:r>
              <a:rPr lang="en-US" altLang="en-GB" sz="2500" b="1" dirty="0"/>
              <a:t>Presentation:</a:t>
            </a:r>
            <a:r>
              <a:rPr lang="en-US" altLang="en-US" sz="2500" dirty="0"/>
              <a:t> </a:t>
            </a:r>
            <a:r>
              <a:rPr lang="en-US" altLang="en-GB" sz="2500" dirty="0"/>
              <a:t>Data may be encrypted using TLS(Transport Layer Security).</a:t>
            </a:r>
            <a:endParaRPr lang="en-US" altLang="en-GB" sz="2500" dirty="0"/>
          </a:p>
          <a:p>
            <a:pPr marL="0" indent="0">
              <a:buNone/>
            </a:pPr>
            <a:r>
              <a:rPr lang="en-US" altLang="en-GB" sz="2500" b="1" dirty="0"/>
              <a:t>Session:</a:t>
            </a:r>
            <a:r>
              <a:rPr lang="en-US" altLang="en-US" sz="2500" dirty="0"/>
              <a:t> </a:t>
            </a:r>
            <a:r>
              <a:rPr lang="en-US" altLang="en-GB" sz="2500" dirty="0"/>
              <a:t>The communication session is managed.</a:t>
            </a:r>
            <a:endParaRPr lang="en-US" altLang="en-GB" sz="2500" dirty="0"/>
          </a:p>
          <a:p>
            <a:pPr marL="0" indent="0">
              <a:buNone/>
            </a:pPr>
            <a:r>
              <a:rPr lang="en-US" altLang="en-GB" sz="2500" b="1" dirty="0"/>
              <a:t>Transport:</a:t>
            </a:r>
            <a:r>
              <a:rPr lang="en-US" altLang="en-US" sz="2500" dirty="0"/>
              <a:t> </a:t>
            </a:r>
            <a:r>
              <a:rPr lang="en-US" altLang="en-GB" sz="2500" dirty="0"/>
              <a:t>TCP provides reliable delivery and uses port 443 for HTTPS traffic.</a:t>
            </a:r>
            <a:endParaRPr lang="en-US" altLang="en-GB" sz="2500" dirty="0"/>
          </a:p>
          <a:p>
            <a:pPr marL="0" indent="0">
              <a:buNone/>
            </a:pPr>
            <a:r>
              <a:rPr lang="en-US" altLang="en-GB" sz="2500" b="1" dirty="0"/>
              <a:t>Network:</a:t>
            </a:r>
            <a:r>
              <a:rPr lang="en-US" altLang="en-US" sz="2500" dirty="0"/>
              <a:t> </a:t>
            </a:r>
            <a:r>
              <a:rPr lang="en-US" altLang="en-GB" sz="2500" dirty="0"/>
              <a:t>IP adds source and destination IP addresses and routers forward the packet.</a:t>
            </a:r>
            <a:endParaRPr lang="en-US" altLang="en-GB" sz="2500" dirty="0"/>
          </a:p>
          <a:p>
            <a:pPr marL="0" indent="0">
              <a:buNone/>
            </a:pPr>
            <a:r>
              <a:rPr lang="en-US" altLang="en-GB" sz="2500" b="1" dirty="0"/>
              <a:t>Data Link:</a:t>
            </a:r>
            <a:r>
              <a:rPr lang="en-US" altLang="en-US" sz="2500" dirty="0"/>
              <a:t> </a:t>
            </a:r>
            <a:r>
              <a:rPr lang="en-US" altLang="en-GB" sz="2500" dirty="0"/>
              <a:t>Ethernet or Wi-Fi creates a frame containing MAC </a:t>
            </a:r>
            <a:r>
              <a:rPr lang="en-US" altLang="en-GB" sz="2500" dirty="0">
                <a:sym typeface="+mn-ea"/>
              </a:rPr>
              <a:t>address </a:t>
            </a:r>
            <a:r>
              <a:rPr lang="en-US" altLang="en-GB" sz="2500" dirty="0"/>
              <a:t>(Media </a:t>
            </a:r>
            <a:r>
              <a:rPr lang="en-US" altLang="en-GB" sz="2500" dirty="0" err="1"/>
              <a:t>Acess</a:t>
            </a:r>
            <a:r>
              <a:rPr lang="en-US" altLang="en-GB" sz="2500" dirty="0"/>
              <a:t> Control </a:t>
            </a:r>
            <a:r>
              <a:rPr lang="en-US" altLang="en-GB" sz="2500" dirty="0">
                <a:sym typeface="+mn-ea"/>
              </a:rPr>
              <a:t>address</a:t>
            </a:r>
            <a:r>
              <a:rPr lang="en-US" altLang="en-GB" sz="2500" dirty="0"/>
              <a:t>).</a:t>
            </a:r>
            <a:endParaRPr lang="en-US" altLang="en-GB" sz="2500" dirty="0"/>
          </a:p>
          <a:p>
            <a:pPr marL="0" indent="0">
              <a:buNone/>
            </a:pPr>
            <a:r>
              <a:rPr lang="en-US" altLang="en-GB" sz="2500" b="1" dirty="0"/>
              <a:t>Physical:</a:t>
            </a:r>
            <a:r>
              <a:rPr lang="en-US" altLang="en-US" sz="2500" dirty="0"/>
              <a:t> </a:t>
            </a:r>
            <a:r>
              <a:rPr lang="en-US" altLang="en-GB" sz="2500" dirty="0"/>
              <a:t>The frame is converted into electrical, optical, or radio signals and transmitted.</a:t>
            </a:r>
            <a:endParaRPr lang="en-US" altLang="en-GB" sz="25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sym typeface="+mn-ea"/>
              </a:rPr>
              <a:t>Easy way to remember the layers</a:t>
            </a:r>
            <a:endParaRPr lang="en-GB" altLang="en-US"/>
          </a:p>
        </p:txBody>
      </p:sp>
      <p:sp>
        <p:nvSpPr>
          <p:cNvPr id="3" name="Content Placeholder 2"/>
          <p:cNvSpPr>
            <a:spLocks noGrp="1"/>
          </p:cNvSpPr>
          <p:nvPr>
            <p:ph idx="1"/>
          </p:nvPr>
        </p:nvSpPr>
        <p:spPr>
          <a:xfrm>
            <a:off x="609600" y="1174750"/>
            <a:ext cx="10972800" cy="5310505"/>
          </a:xfrm>
        </p:spPr>
        <p:txBody>
          <a:bodyPr/>
          <a:lstStyle/>
          <a:p>
            <a:pPr marL="0" indent="0">
              <a:buNone/>
            </a:pPr>
            <a:r>
              <a:rPr lang="en-US" altLang="en-GB"/>
              <a:t>From</a:t>
            </a:r>
            <a:r>
              <a:rPr lang="en-US" altLang="en-US"/>
              <a:t> </a:t>
            </a:r>
            <a:r>
              <a:rPr lang="en-US" altLang="en-GB"/>
              <a:t>Layer 7 down to Layer 1:</a:t>
            </a:r>
            <a:endParaRPr lang="en-US" altLang="en-GB"/>
          </a:p>
          <a:p>
            <a:pPr marL="0" indent="0">
              <a:buNone/>
            </a:pPr>
            <a:r>
              <a:rPr lang="en-US" altLang="en-GB" b="1"/>
              <a:t>A</a:t>
            </a:r>
            <a:r>
              <a:rPr lang="en-US" altLang="en-GB"/>
              <a:t>ll</a:t>
            </a:r>
            <a:r>
              <a:rPr lang="en-US" altLang="en-US"/>
              <a:t> </a:t>
            </a:r>
            <a:r>
              <a:rPr lang="en-US" altLang="en-GB" b="1"/>
              <a:t>P</a:t>
            </a:r>
            <a:r>
              <a:rPr lang="en-US" altLang="en-GB"/>
              <a:t>eople</a:t>
            </a:r>
            <a:r>
              <a:rPr lang="en-US" altLang="en-US"/>
              <a:t> </a:t>
            </a:r>
            <a:r>
              <a:rPr lang="en-US" altLang="en-GB" b="1"/>
              <a:t>S</a:t>
            </a:r>
            <a:r>
              <a:rPr lang="en-US" altLang="en-GB"/>
              <a:t>eem</a:t>
            </a:r>
            <a:r>
              <a:rPr lang="en-US" altLang="en-US"/>
              <a:t> </a:t>
            </a:r>
            <a:r>
              <a:rPr lang="en-US" altLang="en-GB" b="1"/>
              <a:t>T</a:t>
            </a:r>
            <a:r>
              <a:rPr lang="en-US" altLang="en-GB"/>
              <a:t>o</a:t>
            </a:r>
            <a:r>
              <a:rPr lang="en-US" altLang="en-US"/>
              <a:t> </a:t>
            </a:r>
            <a:r>
              <a:rPr lang="en-US" altLang="en-GB" b="1"/>
              <a:t>N</a:t>
            </a:r>
            <a:r>
              <a:rPr lang="en-US" altLang="en-GB"/>
              <a:t>eed</a:t>
            </a:r>
            <a:r>
              <a:rPr lang="en-US" altLang="en-US"/>
              <a:t> </a:t>
            </a:r>
            <a:r>
              <a:rPr lang="en-US" altLang="en-GB" b="1"/>
              <a:t>D</a:t>
            </a:r>
            <a:r>
              <a:rPr lang="en-US" altLang="en-GB"/>
              <a:t>ata</a:t>
            </a:r>
            <a:r>
              <a:rPr lang="en-US" altLang="en-US"/>
              <a:t> </a:t>
            </a:r>
            <a:r>
              <a:rPr lang="en-US" altLang="en-GB" b="1"/>
              <a:t>P</a:t>
            </a:r>
            <a:r>
              <a:rPr lang="en-US" altLang="en-GB"/>
              <a:t>rocessing</a:t>
            </a:r>
            <a:endParaRPr lang="en-US" altLang="en-GB" b="1"/>
          </a:p>
          <a:p>
            <a:pPr>
              <a:buFont typeface="Wingdings" panose="05000000000000000000" charset="0"/>
              <a:buChar char="Ø"/>
            </a:pPr>
            <a:r>
              <a:rPr lang="en-US" altLang="en-GB" b="1"/>
              <a:t>A</a:t>
            </a:r>
            <a:r>
              <a:rPr lang="en-US" altLang="en-US"/>
              <a:t> </a:t>
            </a:r>
            <a:r>
              <a:rPr lang="en-US" altLang="en-GB"/>
              <a:t>— Application</a:t>
            </a:r>
            <a:endParaRPr lang="en-US" altLang="en-GB"/>
          </a:p>
          <a:p>
            <a:pPr>
              <a:buFont typeface="Wingdings" panose="05000000000000000000" charset="0"/>
              <a:buChar char="Ø"/>
            </a:pPr>
            <a:r>
              <a:rPr lang="en-US" altLang="en-GB" b="1"/>
              <a:t>P</a:t>
            </a:r>
            <a:r>
              <a:rPr lang="en-US" altLang="en-US"/>
              <a:t> </a:t>
            </a:r>
            <a:r>
              <a:rPr lang="en-US" altLang="en-GB"/>
              <a:t>— Presentation</a:t>
            </a:r>
            <a:endParaRPr lang="en-US" altLang="en-GB"/>
          </a:p>
          <a:p>
            <a:pPr>
              <a:buFont typeface="Wingdings" panose="05000000000000000000" charset="0"/>
              <a:buChar char="Ø"/>
            </a:pPr>
            <a:r>
              <a:rPr lang="en-US" altLang="en-GB" b="1"/>
              <a:t>S</a:t>
            </a:r>
            <a:r>
              <a:rPr lang="en-US" altLang="en-US"/>
              <a:t> </a:t>
            </a:r>
            <a:r>
              <a:rPr lang="en-US" altLang="en-GB"/>
              <a:t>— Session</a:t>
            </a:r>
            <a:endParaRPr lang="en-US" altLang="en-GB"/>
          </a:p>
          <a:p>
            <a:pPr>
              <a:buFont typeface="Wingdings" panose="05000000000000000000" charset="0"/>
              <a:buChar char="Ø"/>
            </a:pPr>
            <a:r>
              <a:rPr lang="en-US" altLang="en-GB" b="1"/>
              <a:t>T</a:t>
            </a:r>
            <a:r>
              <a:rPr lang="en-US" altLang="en-US"/>
              <a:t> </a:t>
            </a:r>
            <a:r>
              <a:rPr lang="en-US" altLang="en-GB"/>
              <a:t>— Transport</a:t>
            </a:r>
            <a:endParaRPr lang="en-US" altLang="en-GB"/>
          </a:p>
          <a:p>
            <a:pPr>
              <a:buFont typeface="Wingdings" panose="05000000000000000000" charset="0"/>
              <a:buChar char="Ø"/>
            </a:pPr>
            <a:r>
              <a:rPr lang="en-US" altLang="en-GB" b="1"/>
              <a:t>N</a:t>
            </a:r>
            <a:r>
              <a:rPr lang="en-US" altLang="en-US" b="1"/>
              <a:t> </a:t>
            </a:r>
            <a:r>
              <a:rPr lang="en-US" altLang="en-GB"/>
              <a:t>— Network</a:t>
            </a:r>
            <a:endParaRPr lang="en-US" altLang="en-GB"/>
          </a:p>
          <a:p>
            <a:pPr>
              <a:buFont typeface="Wingdings" panose="05000000000000000000" charset="0"/>
              <a:buChar char="Ø"/>
            </a:pPr>
            <a:r>
              <a:rPr lang="en-US" altLang="en-GB" b="1"/>
              <a:t>D</a:t>
            </a:r>
            <a:r>
              <a:rPr lang="en-US" altLang="en-US"/>
              <a:t> </a:t>
            </a:r>
            <a:r>
              <a:rPr lang="en-US" altLang="en-GB"/>
              <a:t>— Data Link</a:t>
            </a:r>
            <a:endParaRPr lang="en-US" altLang="en-GB"/>
          </a:p>
          <a:p>
            <a:pPr>
              <a:buFont typeface="Wingdings" panose="05000000000000000000" charset="0"/>
              <a:buChar char="Ø"/>
            </a:pPr>
            <a:r>
              <a:rPr lang="en-US" altLang="en-GB" b="1"/>
              <a:t>P</a:t>
            </a:r>
            <a:r>
              <a:rPr lang="en-US" altLang="en-US"/>
              <a:t> </a:t>
            </a:r>
            <a:r>
              <a:rPr lang="en-US" altLang="en-GB"/>
              <a:t>— Physical</a:t>
            </a:r>
            <a:endParaRPr lang="en-US" altLang="en-GB"/>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87960"/>
            <a:ext cx="10972800" cy="1036955"/>
          </a:xfrm>
        </p:spPr>
        <p:txBody>
          <a:bodyPr>
            <a:normAutofit fontScale="90000"/>
          </a:bodyPr>
          <a:lstStyle/>
          <a:p>
            <a:pPr algn="ctr"/>
            <a:r>
              <a:rPr lang="en-US" b="1" dirty="0"/>
              <a:t>Physical Layer</a:t>
            </a:r>
            <a:br>
              <a:rPr lang="en-US" dirty="0"/>
            </a:br>
            <a:endParaRPr lang="en-US" dirty="0"/>
          </a:p>
        </p:txBody>
      </p:sp>
      <p:sp>
        <p:nvSpPr>
          <p:cNvPr id="3" name="Content Placeholder 2"/>
          <p:cNvSpPr>
            <a:spLocks noGrp="1"/>
          </p:cNvSpPr>
          <p:nvPr>
            <p:ph sz="quarter" idx="13"/>
          </p:nvPr>
        </p:nvSpPr>
        <p:spPr>
          <a:xfrm>
            <a:off x="609600" y="889635"/>
            <a:ext cx="10972800" cy="5636895"/>
          </a:xfrm>
        </p:spPr>
        <p:txBody>
          <a:bodyPr>
            <a:normAutofit fontScale="25000" lnSpcReduction="20000"/>
          </a:bodyPr>
          <a:lstStyle/>
          <a:p>
            <a:pPr marL="0" indent="0">
              <a:buNone/>
            </a:pPr>
            <a:r>
              <a:rPr lang="en-US" sz="8800" dirty="0" smtClean="0"/>
              <a:t>This is the first and  oldest layer of the OSI model.</a:t>
            </a:r>
            <a:endParaRPr lang="en-US" sz="8800" dirty="0" smtClean="0"/>
          </a:p>
          <a:p>
            <a:pPr>
              <a:buFont typeface="Wingdings" panose="05000000000000000000" charset="0"/>
              <a:buChar char="Ø"/>
            </a:pPr>
            <a:r>
              <a:rPr lang="en-US" sz="8800" dirty="0" smtClean="0"/>
              <a:t>  Its responsible for converting and transmitting raw binary data bits(0s and1s) across a physical network medium.</a:t>
            </a:r>
            <a:endParaRPr lang="en-US" sz="8800" dirty="0" smtClean="0"/>
          </a:p>
          <a:p>
            <a:pPr>
              <a:buFont typeface="Wingdings" panose="05000000000000000000" charset="0"/>
              <a:buChar char="Ø"/>
            </a:pPr>
            <a:r>
              <a:rPr lang="en-US" sz="8800" dirty="0" smtClean="0"/>
              <a:t> Sends individial raw data bits from one node to another with out interpreting their meanig.</a:t>
            </a:r>
            <a:endParaRPr lang="en-US" sz="8800" dirty="0" smtClean="0"/>
          </a:p>
          <a:p>
            <a:pPr>
              <a:buFont typeface="Wingdings" panose="05000000000000000000" charset="0"/>
              <a:buChar char="Ø"/>
            </a:pPr>
            <a:r>
              <a:rPr lang="en-US" sz="8800" dirty="0" smtClean="0"/>
              <a:t> It also converts digital bits into electrical voltages, light pulses or radio frequency waves.</a:t>
            </a:r>
            <a:endParaRPr lang="en-US" sz="8800" dirty="0" smtClean="0"/>
          </a:p>
          <a:p>
            <a:pPr>
              <a:buFont typeface="Wingdings" panose="05000000000000000000" charset="0"/>
              <a:buChar char="Ø"/>
            </a:pPr>
            <a:r>
              <a:rPr lang="en-US" sz="8800" dirty="0" smtClean="0"/>
              <a:t>manages the transmission speed (bit rate) and clock synchronization between the sender an reciever.</a:t>
            </a:r>
            <a:endParaRPr lang="en-US" sz="8800" dirty="0" smtClean="0"/>
          </a:p>
          <a:p>
            <a:pPr>
              <a:buFont typeface="Wingdings" panose="05000000000000000000" charset="0"/>
              <a:buChar char="Ø"/>
            </a:pPr>
            <a:r>
              <a:rPr lang="en-US" sz="8800" dirty="0" smtClean="0"/>
              <a:t>controls how data flows across the medium using simplex, half-duplex and full duplex.</a:t>
            </a:r>
            <a:endParaRPr lang="en-US" sz="8800" dirty="0" smtClean="0"/>
          </a:p>
          <a:p>
            <a:pPr>
              <a:buFont typeface="Wingdings" panose="05000000000000000000" charset="0"/>
              <a:buChar char="Ø"/>
            </a:pPr>
            <a:r>
              <a:rPr lang="en-US" sz="8800" dirty="0" smtClean="0"/>
              <a:t>Also defines how physical devices are arranged, such as in star ,bus, and many others</a:t>
            </a:r>
            <a:endParaRPr lang="en-US" sz="8800" dirty="0" smtClean="0"/>
          </a:p>
          <a:p>
            <a:pPr>
              <a:buFont typeface="Wingdings" panose="05000000000000000000" charset="0"/>
              <a:buChar char="Ø"/>
            </a:pPr>
            <a:r>
              <a:rPr lang="en-US" sz="8800" dirty="0"/>
              <a:t>The standard protocols are governed by specifications in the Cable standards(Ethernet), wireless standards(wifi , bluetooth), and fiber optic standards.  </a:t>
            </a:r>
            <a:r>
              <a:rPr lang="en-US" dirty="0" smtClean="0"/>
              <a:t> </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163320"/>
          </a:xfrm>
        </p:spPr>
        <p:txBody>
          <a:bodyPr/>
          <a:lstStyle/>
          <a:p>
            <a:pPr algn="ctr"/>
            <a:r>
              <a:rPr lang="en-US" altLang="en-GB" b="1" dirty="0" smtClean="0"/>
              <a:t>E</a:t>
            </a:r>
            <a:r>
              <a:rPr lang="en-GB" b="1" dirty="0" smtClean="0"/>
              <a:t>XAMPLES </a:t>
            </a:r>
            <a:r>
              <a:rPr lang="en-GB" b="1" smtClean="0"/>
              <a:t>OF PROTOCOLS UNDER PHYSICAL </a:t>
            </a:r>
            <a:r>
              <a:rPr lang="en-GB" b="1" dirty="0" smtClean="0"/>
              <a:t>LAYER </a:t>
            </a:r>
            <a:endParaRPr lang="en-US" b="1" dirty="0"/>
          </a:p>
        </p:txBody>
      </p:sp>
      <p:sp>
        <p:nvSpPr>
          <p:cNvPr id="3" name="Content Placeholder 2"/>
          <p:cNvSpPr>
            <a:spLocks noGrp="1"/>
          </p:cNvSpPr>
          <p:nvPr>
            <p:ph idx="1"/>
          </p:nvPr>
        </p:nvSpPr>
        <p:spPr/>
        <p:txBody>
          <a:bodyPr>
            <a:normAutofit fontScale="97500" lnSpcReduction="10000"/>
          </a:bodyPr>
          <a:lstStyle/>
          <a:p>
            <a:pPr marL="0" indent="0">
              <a:buNone/>
            </a:pPr>
            <a:endParaRPr lang="en-GB" dirty="0" smtClean="0"/>
          </a:p>
          <a:p>
            <a:pPr lvl="1">
              <a:buFont typeface="Wingdings" panose="05000000000000000000" charset="0"/>
              <a:buChar char="Ø"/>
            </a:pPr>
            <a:r>
              <a:rPr lang="en-US" sz="3200" b="1" dirty="0" smtClean="0"/>
              <a:t>Ethernet physical </a:t>
            </a:r>
            <a:r>
              <a:rPr lang="en-US" sz="3200" b="1" dirty="0"/>
              <a:t>standards:</a:t>
            </a:r>
            <a:r>
              <a:rPr lang="en-US" sz="3200" dirty="0"/>
              <a:t> transmit data over copper or </a:t>
            </a:r>
            <a:r>
              <a:rPr lang="en-US" sz="3200" dirty="0" smtClean="0"/>
              <a:t>fiber.</a:t>
            </a:r>
            <a:endParaRPr lang="en-US" sz="3200" dirty="0" smtClean="0"/>
          </a:p>
          <a:p>
            <a:pPr lvl="1">
              <a:buFont typeface="Wingdings" panose="05000000000000000000" charset="0"/>
              <a:buChar char="Ø"/>
            </a:pPr>
            <a:r>
              <a:rPr lang="en-US" sz="3200" b="1" dirty="0" smtClean="0"/>
              <a:t>Wi-Fi radio standards (IEEE 802.11):</a:t>
            </a:r>
            <a:r>
              <a:rPr lang="en-US" sz="3200" dirty="0" smtClean="0"/>
              <a:t>transmit bits using radio waves.</a:t>
            </a:r>
            <a:endParaRPr lang="en-US" sz="3200" dirty="0" smtClean="0"/>
          </a:p>
          <a:p>
            <a:pPr>
              <a:buFont typeface="Wingdings" panose="05000000000000000000" charset="0"/>
              <a:buChar char="Ø"/>
            </a:pPr>
            <a:r>
              <a:rPr lang="en-US" sz="3200" b="1" dirty="0" smtClean="0"/>
              <a:t> DSL</a:t>
            </a:r>
            <a:r>
              <a:rPr lang="en-US" sz="3200" dirty="0"/>
              <a:t> carries digital data over telephone </a:t>
            </a:r>
            <a:r>
              <a:rPr lang="en-US" sz="3200" dirty="0" smtClean="0"/>
              <a:t>lines</a:t>
            </a:r>
            <a:endParaRPr lang="en-US" sz="3200" dirty="0" smtClean="0"/>
          </a:p>
          <a:p>
            <a:pPr lvl="1">
              <a:buFont typeface="Wingdings" panose="05000000000000000000" charset="0"/>
              <a:buChar char="Ø"/>
            </a:pPr>
            <a:r>
              <a:rPr lang="en-US" sz="3200" b="1" dirty="0" smtClean="0"/>
              <a:t>Fiber-optic </a:t>
            </a:r>
            <a:r>
              <a:rPr lang="en-US" sz="3200" b="1" dirty="0"/>
              <a:t>standards,</a:t>
            </a:r>
            <a:r>
              <a:rPr lang="en-US" sz="3200" dirty="0"/>
              <a:t>transmit data using pulses of light.</a:t>
            </a:r>
            <a:endParaRPr lang="en-US" sz="3200" dirty="0"/>
          </a:p>
          <a:p>
            <a:pPr>
              <a:buFont typeface="Wingdings" panose="05000000000000000000" charset="0"/>
              <a:buChar char="Ø"/>
            </a:pPr>
            <a:r>
              <a:rPr lang="en-US" sz="3200" b="1" dirty="0"/>
              <a:t> </a:t>
            </a:r>
            <a:r>
              <a:rPr lang="en-US" sz="3200" b="1" dirty="0" smtClean="0"/>
              <a:t>USB</a:t>
            </a:r>
            <a:r>
              <a:rPr lang="en-US" sz="3200" dirty="0"/>
              <a:t> </a:t>
            </a:r>
            <a:r>
              <a:rPr lang="en-US" sz="3200" dirty="0" smtClean="0"/>
              <a:t>defines </a:t>
            </a:r>
            <a:r>
              <a:rPr lang="en-US" sz="3200" dirty="0"/>
              <a:t>physical communication between </a:t>
            </a:r>
            <a:r>
              <a:rPr lang="en-US" sz="3200" dirty="0" smtClean="0"/>
              <a:t>device</a:t>
            </a:r>
            <a:r>
              <a:rPr lang="en-GB" sz="3200" dirty="0" smtClean="0"/>
              <a:t>    Data unit; Bits</a:t>
            </a:r>
            <a:endParaRPr lang="en-US" sz="3200" dirty="0"/>
          </a:p>
          <a:p>
            <a:pPr>
              <a:buFont typeface="Wingdings" panose="05000000000000000000" charset="0"/>
              <a:buChar char="Ø"/>
            </a:pPr>
            <a:endParaRPr lang="en-US" dirty="0"/>
          </a:p>
        </p:txBody>
      </p:sp>
      <p:sp>
        <p:nvSpPr>
          <p:cNvPr id="10" name="Rectangle 7"/>
          <p:cNvSpPr>
            <a:spLocks noChangeArrowheads="1"/>
          </p:cNvSpPr>
          <p:nvPr/>
        </p:nvSpPr>
        <p:spPr bwMode="auto">
          <a:xfrm>
            <a:off x="0" y="0"/>
            <a:ext cx="12192000" cy="1053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101568"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sz="1300" b="1" i="0" u="none" strike="noStrike" cap="none" normalizeH="0" baseline="0" smtClean="0">
                <a:ln>
                  <a:noFill/>
                </a:ln>
                <a:solidFill>
                  <a:srgbClr val="0D0D0D"/>
                </a:solidFill>
                <a:effectLst/>
                <a:latin typeface="Segoe UI" panose="020B0502040204020203" pitchFamily="34" charset="0"/>
                <a:ea typeface="Times New Roman" panose="02020603050405020304" pitchFamily="18" charset="0"/>
                <a:cs typeface="Segoe UI" panose="020B0502040204020203" pitchFamily="34" charset="0"/>
              </a:rPr>
              <a:t> </a:t>
            </a:r>
            <a:endParaRPr kumimoji="0" lang="en-US" sz="1800" b="0" i="0" u="none" strike="noStrike" cap="none" normalizeH="0" baseline="0" smtClean="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714500"/>
          </a:xfrm>
        </p:spPr>
        <p:txBody>
          <a:bodyPr/>
          <a:lstStyle/>
          <a:p>
            <a:pPr algn="ctr"/>
            <a:r>
              <a:rPr lang="en-US" sz="5400" b="1" dirty="0"/>
              <a:t>2. Data Link Layer</a:t>
            </a:r>
            <a:br>
              <a:rPr lang="en-US" dirty="0"/>
            </a:br>
            <a:endParaRPr lang="en-US" dirty="0"/>
          </a:p>
        </p:txBody>
      </p:sp>
      <p:sp>
        <p:nvSpPr>
          <p:cNvPr id="3" name="Content Placeholder 2"/>
          <p:cNvSpPr>
            <a:spLocks noGrp="1"/>
          </p:cNvSpPr>
          <p:nvPr>
            <p:ph idx="1"/>
          </p:nvPr>
        </p:nvSpPr>
        <p:spPr>
          <a:xfrm>
            <a:off x="609600" y="2456815"/>
            <a:ext cx="10972800" cy="3670935"/>
          </a:xfrm>
        </p:spPr>
        <p:txBody>
          <a:bodyPr>
            <a:normAutofit/>
          </a:bodyPr>
          <a:lstStyle/>
          <a:p>
            <a:pPr marL="0" indent="0">
              <a:buNone/>
            </a:pPr>
            <a:r>
              <a:rPr lang="en-US" sz="4000" dirty="0" smtClean="0"/>
              <a:t>The </a:t>
            </a:r>
            <a:r>
              <a:rPr lang="en-US" sz="4000" b="1" dirty="0" smtClean="0"/>
              <a:t>Data Link Layer</a:t>
            </a:r>
            <a:r>
              <a:rPr lang="en-US" sz="4000" dirty="0" smtClean="0"/>
              <a:t> provides reliable communication between two devices that are directly connected on the same network </a:t>
            </a:r>
            <a:r>
              <a:rPr lang="en-US" sz="4000" dirty="0"/>
              <a:t>segment.</a:t>
            </a:r>
            <a:endParaRPr lang="en-US" sz="4000" dirty="0"/>
          </a:p>
          <a:p>
            <a:pPr marL="0" indent="0">
              <a:buNone/>
            </a:pP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851535"/>
          </a:xfrm>
        </p:spPr>
        <p:txBody>
          <a:bodyPr/>
          <a:lstStyle/>
          <a:p>
            <a:pPr algn="ctr"/>
            <a:r>
              <a:rPr lang="en-US" sz="4400" b="1" dirty="0" smtClean="0"/>
              <a:t>Responsibilities</a:t>
            </a:r>
            <a:r>
              <a:rPr lang="en-US" sz="4400" dirty="0" smtClean="0"/>
              <a:t> </a:t>
            </a:r>
            <a:r>
              <a:rPr lang="en-US" sz="4400" b="1" dirty="0" smtClean="0"/>
              <a:t>of Data link layer</a:t>
            </a:r>
            <a:endParaRPr lang="en-US" sz="4400" b="1" dirty="0" smtClean="0"/>
          </a:p>
        </p:txBody>
      </p:sp>
      <p:sp>
        <p:nvSpPr>
          <p:cNvPr id="3" name="Content Placeholder 2"/>
          <p:cNvSpPr>
            <a:spLocks noGrp="1"/>
          </p:cNvSpPr>
          <p:nvPr>
            <p:ph idx="1"/>
          </p:nvPr>
        </p:nvSpPr>
        <p:spPr>
          <a:xfrm>
            <a:off x="609600" y="1383030"/>
            <a:ext cx="10972800" cy="4744720"/>
          </a:xfrm>
        </p:spPr>
        <p:txBody>
          <a:bodyPr>
            <a:normAutofit/>
          </a:bodyPr>
          <a:lstStyle/>
          <a:p>
            <a:pPr lvl="1">
              <a:buFont typeface="Wingdings" panose="05000000000000000000" pitchFamily="2" charset="2"/>
              <a:buChar char="Ø"/>
            </a:pPr>
            <a:r>
              <a:rPr lang="en-US" sz="3200" dirty="0"/>
              <a:t>Packages bits into </a:t>
            </a:r>
            <a:r>
              <a:rPr lang="en-US" sz="3200" b="1" dirty="0"/>
              <a:t>frames</a:t>
            </a:r>
            <a:r>
              <a:rPr lang="en-US" sz="3200" dirty="0"/>
              <a:t>.</a:t>
            </a:r>
            <a:endParaRPr lang="en-US" sz="3200" dirty="0"/>
          </a:p>
          <a:p>
            <a:pPr lvl="1">
              <a:buFont typeface="Wingdings" panose="05000000000000000000" pitchFamily="2" charset="2"/>
              <a:buChar char="Ø"/>
            </a:pPr>
            <a:r>
              <a:rPr lang="en-US" sz="3200" dirty="0"/>
              <a:t>Uses </a:t>
            </a:r>
            <a:r>
              <a:rPr lang="en-US" sz="3200" b="1" dirty="0"/>
              <a:t>MAC addresses</a:t>
            </a:r>
            <a:r>
              <a:rPr lang="en-US" sz="3200" dirty="0"/>
              <a:t> to identify devices on a local network.</a:t>
            </a:r>
            <a:endParaRPr lang="en-US" sz="3200" dirty="0"/>
          </a:p>
          <a:p>
            <a:pPr lvl="1">
              <a:buFont typeface="Wingdings" panose="05000000000000000000" pitchFamily="2" charset="2"/>
              <a:buChar char="Ø"/>
            </a:pPr>
            <a:r>
              <a:rPr lang="en-US" sz="3200" dirty="0"/>
              <a:t>Detects transmission errors, commonly using checksums such as CRC.</a:t>
            </a:r>
            <a:endParaRPr lang="en-US" sz="3200" dirty="0"/>
          </a:p>
          <a:p>
            <a:pPr lvl="1">
              <a:buFont typeface="Wingdings" panose="05000000000000000000" pitchFamily="2" charset="2"/>
              <a:buChar char="Ø"/>
            </a:pPr>
            <a:r>
              <a:rPr lang="en-US" sz="3200" dirty="0"/>
              <a:t>Controls access to the shared transmission medium.</a:t>
            </a:r>
            <a:endParaRPr lang="en-US" sz="3200" dirty="0"/>
          </a:p>
          <a:p>
            <a:pPr lvl="1">
              <a:buFont typeface="Wingdings" panose="05000000000000000000" pitchFamily="2" charset="2"/>
              <a:buChar char="Ø"/>
            </a:pPr>
            <a:r>
              <a:rPr lang="en-US" sz="3200" dirty="0" smtClean="0"/>
              <a:t>Provides </a:t>
            </a:r>
            <a:r>
              <a:rPr lang="en-US" sz="3200" dirty="0"/>
              <a:t>link-level flow control in some technologies</a:t>
            </a:r>
            <a:endParaRPr lang="en-US" sz="32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3615"/>
          </a:xfrm>
        </p:spPr>
        <p:txBody>
          <a:bodyPr>
            <a:normAutofit/>
          </a:bodyPr>
          <a:lstStyle/>
          <a:p>
            <a:r>
              <a:rPr lang="en-US" b="1" dirty="0" smtClean="0"/>
              <a:t>     Examples </a:t>
            </a:r>
            <a:r>
              <a:rPr lang="en-US" b="1" dirty="0"/>
              <a:t>of </a:t>
            </a:r>
            <a:r>
              <a:rPr lang="en-US" b="1" dirty="0" smtClean="0"/>
              <a:t>protocols under Data Link Layer </a:t>
            </a:r>
            <a:endParaRPr lang="en-US" dirty="0"/>
          </a:p>
        </p:txBody>
      </p:sp>
      <p:sp>
        <p:nvSpPr>
          <p:cNvPr id="3" name="Content Placeholder 2"/>
          <p:cNvSpPr>
            <a:spLocks noGrp="1"/>
          </p:cNvSpPr>
          <p:nvPr>
            <p:ph idx="1"/>
          </p:nvPr>
        </p:nvSpPr>
        <p:spPr>
          <a:xfrm>
            <a:off x="609600" y="1338580"/>
            <a:ext cx="10972800" cy="4789170"/>
          </a:xfrm>
        </p:spPr>
        <p:txBody>
          <a:bodyPr>
            <a:normAutofit lnSpcReduction="10000"/>
          </a:bodyPr>
          <a:lstStyle/>
          <a:p>
            <a:r>
              <a:rPr lang="en-US" b="1" dirty="0"/>
              <a:t>Ethernet (IEEE 802.3)</a:t>
            </a:r>
            <a:br>
              <a:rPr lang="en-US" dirty="0"/>
            </a:br>
            <a:r>
              <a:rPr lang="en-US" dirty="0"/>
              <a:t>Defines how devices communicate on wired local-area networks, including Ethernet frames and MAC addressing.</a:t>
            </a:r>
            <a:endParaRPr lang="en-US" dirty="0"/>
          </a:p>
          <a:p>
            <a:r>
              <a:rPr lang="en-US" b="1" dirty="0"/>
              <a:t>Wi-Fi (IEEE 802.11)</a:t>
            </a:r>
            <a:br>
              <a:rPr lang="en-US" dirty="0"/>
            </a:br>
            <a:r>
              <a:rPr lang="en-US" dirty="0"/>
              <a:t>Provides wireless LAN communication, including wireless frames and media-access mechanisms.</a:t>
            </a:r>
            <a:endParaRPr lang="en-US" dirty="0"/>
          </a:p>
          <a:p>
            <a:r>
              <a:rPr lang="en-US" b="1" dirty="0"/>
              <a:t>PPP (Point-to-Point Protocol)</a:t>
            </a:r>
            <a:br>
              <a:rPr lang="en-US" dirty="0"/>
            </a:br>
            <a:r>
              <a:rPr lang="en-US" dirty="0"/>
              <a:t>Provides data-link communication over point-to-point connections</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p:txBody>
          <a:bodyPr>
            <a:normAutofit/>
          </a:bodyPr>
          <a:lstStyle/>
          <a:p>
            <a:r>
              <a:rPr lang="en-US" sz="3600" b="1" dirty="0"/>
              <a:t>ARP (Address Resolution Protocol)</a:t>
            </a:r>
            <a:br>
              <a:rPr lang="en-US" sz="3600" dirty="0"/>
            </a:br>
            <a:r>
              <a:rPr lang="en-US" sz="3600" dirty="0"/>
              <a:t>Maps an IPv4 address to a device's MAC address on a local network. ARP is often associated with Layer 2, although its exact OSI classification is somewhat debated.</a:t>
            </a:r>
            <a:endParaRPr lang="en-US" sz="3600" dirty="0"/>
          </a:p>
          <a:p>
            <a:pPr marL="0" indent="0">
              <a:buNone/>
            </a:pPr>
            <a:endParaRPr lang="en-US" sz="3600" b="1" dirty="0" smtClean="0"/>
          </a:p>
          <a:p>
            <a:pPr marL="0" indent="0">
              <a:buNone/>
            </a:pPr>
            <a:r>
              <a:rPr lang="en-US" sz="3600" b="1" dirty="0"/>
              <a:t> </a:t>
            </a:r>
            <a:r>
              <a:rPr lang="en-US" sz="3600" b="1" dirty="0" smtClean="0"/>
              <a:t> </a:t>
            </a:r>
            <a:endParaRPr lang="en-US" sz="36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880110"/>
          </a:xfrm>
        </p:spPr>
        <p:txBody>
          <a:bodyPr/>
          <a:lstStyle/>
          <a:p>
            <a:pPr algn="ctr"/>
            <a:r>
              <a:rPr lang="en-US" b="1" dirty="0"/>
              <a:t>3</a:t>
            </a:r>
            <a:r>
              <a:rPr lang="en-US" b="1" dirty="0" smtClean="0"/>
              <a:t>. Network </a:t>
            </a:r>
            <a:r>
              <a:rPr lang="en-US" b="1" dirty="0"/>
              <a:t>Layer</a:t>
            </a:r>
            <a:endParaRPr lang="en-US" dirty="0"/>
          </a:p>
        </p:txBody>
      </p:sp>
      <p:sp>
        <p:nvSpPr>
          <p:cNvPr id="3" name="Content Placeholder 2"/>
          <p:cNvSpPr>
            <a:spLocks noGrp="1"/>
          </p:cNvSpPr>
          <p:nvPr>
            <p:ph idx="1"/>
          </p:nvPr>
        </p:nvSpPr>
        <p:spPr>
          <a:xfrm>
            <a:off x="609600" y="1502410"/>
            <a:ext cx="10972800" cy="4625340"/>
          </a:xfrm>
        </p:spPr>
        <p:txBody>
          <a:bodyPr/>
          <a:lstStyle/>
          <a:p>
            <a:pPr marL="0" indent="0">
              <a:buNone/>
            </a:pPr>
            <a:r>
              <a:rPr lang="en-US" sz="4000" dirty="0"/>
              <a:t>The </a:t>
            </a:r>
            <a:r>
              <a:rPr lang="en-US" sz="4000" b="1" dirty="0"/>
              <a:t>Network Layer</a:t>
            </a:r>
            <a:r>
              <a:rPr lang="en-US" sz="4000" dirty="0"/>
              <a:t> is responsible for delivering packets between different networks. Its major functions are </a:t>
            </a:r>
            <a:r>
              <a:rPr lang="en-US" sz="4000" b="1" dirty="0"/>
              <a:t>logical addressing and routing</a:t>
            </a:r>
            <a:r>
              <a:rPr lang="en-US" sz="4000" dirty="0"/>
              <a:t>.</a:t>
            </a:r>
            <a:endParaRPr lang="en-US" sz="4000"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762000"/>
          </a:xfrm>
        </p:spPr>
        <p:txBody>
          <a:bodyPr/>
          <a:lstStyle/>
          <a:p>
            <a:pPr algn="ctr"/>
            <a:r>
              <a:rPr lang="en-US" b="1" dirty="0" smtClean="0"/>
              <a:t>Responsibilities</a:t>
            </a:r>
            <a:r>
              <a:rPr lang="en-US" dirty="0"/>
              <a:t> </a:t>
            </a:r>
            <a:r>
              <a:rPr lang="en-US" b="1" dirty="0" smtClean="0"/>
              <a:t>of network layer</a:t>
            </a:r>
            <a:endParaRPr lang="en-US" b="1" dirty="0"/>
          </a:p>
        </p:txBody>
      </p:sp>
      <p:sp>
        <p:nvSpPr>
          <p:cNvPr id="3" name="Content Placeholder 2"/>
          <p:cNvSpPr>
            <a:spLocks noGrp="1"/>
          </p:cNvSpPr>
          <p:nvPr>
            <p:ph idx="1"/>
          </p:nvPr>
        </p:nvSpPr>
        <p:spPr/>
        <p:txBody>
          <a:bodyPr>
            <a:normAutofit fontScale="97500" lnSpcReduction="10000"/>
          </a:bodyPr>
          <a:lstStyle/>
          <a:p>
            <a:pPr lvl="1">
              <a:buFont typeface="Wingdings" panose="05000000000000000000" charset="0"/>
              <a:buChar char="Ø"/>
            </a:pPr>
            <a:r>
              <a:rPr lang="en-US" sz="3600" dirty="0"/>
              <a:t>Provides logical addressing, such as IP addresses.</a:t>
            </a:r>
            <a:endParaRPr lang="en-US" sz="3600" dirty="0"/>
          </a:p>
          <a:p>
            <a:pPr lvl="1">
              <a:buFont typeface="Wingdings" panose="05000000000000000000" charset="0"/>
              <a:buChar char="Ø"/>
            </a:pPr>
            <a:r>
              <a:rPr lang="en-US" sz="3600" dirty="0"/>
              <a:t>Determines the best route from source to destination.</a:t>
            </a:r>
            <a:endParaRPr lang="en-US" sz="3600" dirty="0"/>
          </a:p>
          <a:p>
            <a:pPr lvl="1">
              <a:buFont typeface="Wingdings" panose="05000000000000000000" charset="0"/>
              <a:buChar char="Ø"/>
            </a:pPr>
            <a:r>
              <a:rPr lang="en-US" sz="3600" dirty="0"/>
              <a:t>Forwards packets between networks.</a:t>
            </a:r>
            <a:endParaRPr lang="en-US" sz="3600" dirty="0"/>
          </a:p>
          <a:p>
            <a:pPr lvl="1">
              <a:buFont typeface="Wingdings" panose="05000000000000000000" charset="0"/>
              <a:buChar char="Ø"/>
            </a:pPr>
            <a:r>
              <a:rPr lang="en-US" sz="3600" dirty="0"/>
              <a:t>Handles packet fragmentation in protocols that support it.</a:t>
            </a:r>
            <a:endParaRPr lang="en-US" sz="3600" dirty="0"/>
          </a:p>
          <a:p>
            <a:pPr lvl="1">
              <a:buFont typeface="Wingdings" panose="05000000000000000000" charset="0"/>
              <a:buChar char="Ø"/>
            </a:pPr>
            <a:r>
              <a:rPr lang="en-US" sz="3600" dirty="0"/>
              <a:t>Provides mechanisms for reporting certain network-level errors.</a:t>
            </a:r>
            <a:endParaRPr lang="en-US" sz="3600" dirty="0"/>
          </a:p>
          <a:p>
            <a:pPr>
              <a:buFont typeface="Wingdings" panose="05000000000000000000" charset="0"/>
              <a:buChar char="Ø"/>
            </a:pPr>
            <a:endParaRPr lang="en-US" sz="36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of </a:t>
            </a:r>
            <a:r>
              <a:rPr lang="en-US" b="1" dirty="0" smtClean="0"/>
              <a:t>protocols under Network Layer</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anose="05000000000000000000" charset="0"/>
              <a:buChar char="Ø"/>
            </a:pPr>
            <a:r>
              <a:rPr lang="en-US" b="1" dirty="0"/>
              <a:t>IP (Internet Protocol)</a:t>
            </a:r>
            <a:br>
              <a:rPr lang="en-US" dirty="0"/>
            </a:br>
            <a:r>
              <a:rPr lang="en-US" dirty="0"/>
              <a:t>Provides logical addressing and packet delivery between networks.</a:t>
            </a:r>
            <a:endParaRPr lang="en-US" sz="2000" dirty="0"/>
          </a:p>
          <a:p>
            <a:pPr lvl="1">
              <a:buFont typeface="Wingdings" panose="05000000000000000000" charset="0"/>
              <a:buChar char="v"/>
            </a:pPr>
            <a:r>
              <a:rPr lang="en-US" b="1" dirty="0"/>
              <a:t>IPv4</a:t>
            </a:r>
            <a:r>
              <a:rPr lang="en-US" dirty="0"/>
              <a:t> uses 32-bit addresses.</a:t>
            </a:r>
            <a:endParaRPr lang="en-US" sz="1800" dirty="0"/>
          </a:p>
          <a:p>
            <a:pPr lvl="1">
              <a:buFont typeface="Wingdings" panose="05000000000000000000" charset="0"/>
              <a:buChar char="v"/>
            </a:pPr>
            <a:r>
              <a:rPr lang="en-US" b="1" dirty="0"/>
              <a:t>IPv6</a:t>
            </a:r>
            <a:r>
              <a:rPr lang="en-US" dirty="0"/>
              <a:t> uses 128-bit addresses.</a:t>
            </a:r>
            <a:endParaRPr lang="en-US" sz="1800" dirty="0"/>
          </a:p>
          <a:p>
            <a:pPr>
              <a:buFont typeface="Wingdings" panose="05000000000000000000" charset="0"/>
              <a:buChar char="Ø"/>
            </a:pPr>
            <a:r>
              <a:rPr lang="en-US" b="1" dirty="0"/>
              <a:t>ICMP (Internet Control Message Protocol)</a:t>
            </a:r>
            <a:br>
              <a:rPr lang="en-US" dirty="0"/>
            </a:br>
            <a:r>
              <a:rPr lang="en-US" dirty="0"/>
              <a:t>Carries network-control and error-reporting messages. For example, the </a:t>
            </a:r>
            <a:r>
              <a:rPr lang="en-US" sz="1600" dirty="0"/>
              <a:t>ping</a:t>
            </a:r>
            <a:r>
              <a:rPr lang="en-US" dirty="0"/>
              <a:t> utility uses ICMP Echo messages.</a:t>
            </a:r>
            <a:endParaRPr lang="en-US" sz="2000" dirty="0"/>
          </a:p>
          <a:p>
            <a:pPr>
              <a:buFont typeface="Wingdings" panose="05000000000000000000" charset="0"/>
              <a:buChar char="Ø"/>
            </a:pPr>
            <a:r>
              <a:rPr lang="en-US" b="1" dirty="0"/>
              <a:t>OSPF (Open Shortest Path First)</a:t>
            </a:r>
            <a:br>
              <a:rPr lang="en-US" dirty="0"/>
            </a:br>
            <a:r>
              <a:rPr lang="en-US" dirty="0"/>
              <a:t>A routing protocol used within an autonomous system to calculate routes based on link-state information.</a:t>
            </a:r>
            <a:endParaRPr lang="en-US" sz="2000"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p:txBody>
          <a:bodyPr>
            <a:normAutofit/>
          </a:bodyPr>
          <a:lstStyle/>
          <a:p>
            <a:pPr>
              <a:buFont typeface="Wingdings" panose="05000000000000000000" charset="0"/>
              <a:buChar char="Ø"/>
            </a:pPr>
            <a:r>
              <a:rPr lang="en-US" sz="3200" b="1" dirty="0"/>
              <a:t>BGP (Border Gateway Protocol)</a:t>
            </a:r>
            <a:br>
              <a:rPr lang="en-US" sz="3200" dirty="0"/>
            </a:br>
            <a:r>
              <a:rPr lang="en-US" sz="3200" dirty="0"/>
              <a:t>Exchanges routing information between autonomous systems and is fundamental to Internet routing.</a:t>
            </a:r>
            <a:endParaRPr lang="en-US" sz="3200" dirty="0"/>
          </a:p>
          <a:p>
            <a:pPr>
              <a:buFont typeface="Wingdings" panose="05000000000000000000" charset="0"/>
              <a:buChar char="Ø"/>
            </a:pPr>
            <a:r>
              <a:rPr lang="en-US" sz="3200" b="1" dirty="0"/>
              <a:t>IPsec</a:t>
            </a:r>
            <a:br>
              <a:rPr lang="en-US" sz="3200" dirty="0"/>
            </a:br>
            <a:r>
              <a:rPr lang="en-US" sz="3200" dirty="0"/>
              <a:t>Provides security services such as authentication and encryption for IP communications.</a:t>
            </a:r>
            <a:endParaRPr lang="en-US" sz="3200" dirty="0"/>
          </a:p>
          <a:p>
            <a:pPr marL="0" indent="0">
              <a:buFont typeface="Wingdings" panose="05000000000000000000" charset="0"/>
              <a:buNone/>
            </a:pPr>
            <a:endParaRPr lang="en-US" sz="3200"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3615"/>
          </a:xfrm>
        </p:spPr>
        <p:txBody>
          <a:bodyPr/>
          <a:lstStyle/>
          <a:p>
            <a:pPr algn="ctr"/>
            <a:r>
              <a:rPr lang="en-US" sz="4400" b="1" dirty="0" smtClean="0"/>
              <a:t>4.  </a:t>
            </a:r>
            <a:r>
              <a:rPr lang="en-US" sz="4400" b="1" dirty="0"/>
              <a:t>Transport Layer</a:t>
            </a:r>
            <a:endParaRPr lang="en-US" sz="4400" b="1" dirty="0"/>
          </a:p>
        </p:txBody>
      </p:sp>
      <p:sp>
        <p:nvSpPr>
          <p:cNvPr id="3" name="Content Placeholder 2"/>
          <p:cNvSpPr>
            <a:spLocks noGrp="1"/>
          </p:cNvSpPr>
          <p:nvPr>
            <p:ph idx="1"/>
          </p:nvPr>
        </p:nvSpPr>
        <p:spPr/>
        <p:txBody>
          <a:bodyPr/>
          <a:lstStyle/>
          <a:p>
            <a:pPr marL="0" indent="0">
              <a:buNone/>
            </a:pPr>
            <a:r>
              <a:rPr lang="en-US" sz="4800" dirty="0" smtClean="0"/>
              <a:t>The</a:t>
            </a:r>
            <a:r>
              <a:rPr lang="en-US" sz="4800" dirty="0"/>
              <a:t> </a:t>
            </a:r>
            <a:r>
              <a:rPr lang="en-US" sz="4800" b="1" dirty="0"/>
              <a:t>Transport Layer</a:t>
            </a:r>
            <a:r>
              <a:rPr lang="en-US" sz="4800" dirty="0"/>
              <a:t> provides communication between applications running on different devices. It is responsible for </a:t>
            </a:r>
            <a:r>
              <a:rPr lang="en-US" sz="4800" b="1" dirty="0"/>
              <a:t>end-to-end delivery</a:t>
            </a:r>
            <a:r>
              <a:rPr lang="en-US" sz="4800" dirty="0"/>
              <a:t>.</a:t>
            </a:r>
            <a:endParaRPr lang="en-US" sz="4800" dirty="0"/>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3615"/>
          </a:xfrm>
        </p:spPr>
        <p:txBody>
          <a:bodyPr/>
          <a:lstStyle/>
          <a:p>
            <a:pPr algn="ctr"/>
            <a:r>
              <a:rPr lang="en-GB" sz="4000" b="1" dirty="0" smtClean="0"/>
              <a:t>Responsibilities of Transport Layer</a:t>
            </a:r>
            <a:endParaRPr lang="en-GB" sz="4000" b="1" dirty="0" smtClean="0"/>
          </a:p>
        </p:txBody>
      </p:sp>
      <p:sp>
        <p:nvSpPr>
          <p:cNvPr id="3" name="Content Placeholder 2"/>
          <p:cNvSpPr>
            <a:spLocks noGrp="1"/>
          </p:cNvSpPr>
          <p:nvPr>
            <p:ph idx="1"/>
          </p:nvPr>
        </p:nvSpPr>
        <p:spPr/>
        <p:txBody>
          <a:bodyPr>
            <a:normAutofit fontScale="97500"/>
          </a:bodyPr>
          <a:lstStyle/>
          <a:p>
            <a:pPr lvl="1">
              <a:buFont typeface="Wingdings" panose="05000000000000000000" charset="0"/>
              <a:buChar char="Ø"/>
            </a:pPr>
            <a:r>
              <a:rPr lang="en-US" sz="3200" dirty="0"/>
              <a:t>Divides application data into smaller units when necessary.</a:t>
            </a:r>
            <a:endParaRPr lang="en-US" sz="3200" dirty="0"/>
          </a:p>
          <a:p>
            <a:pPr lvl="1">
              <a:buFont typeface="Wingdings" panose="05000000000000000000" charset="0"/>
              <a:buChar char="Ø"/>
            </a:pPr>
            <a:r>
              <a:rPr lang="en-US" sz="3200" dirty="0"/>
              <a:t>Reassembles data at the destination.</a:t>
            </a:r>
            <a:endParaRPr lang="en-US" sz="3200" dirty="0"/>
          </a:p>
          <a:p>
            <a:pPr lvl="1">
              <a:buFont typeface="Wingdings" panose="05000000000000000000" charset="0"/>
              <a:buChar char="Ø"/>
            </a:pPr>
            <a:r>
              <a:rPr lang="en-US" sz="3200" dirty="0"/>
              <a:t>Provides reliability when required.</a:t>
            </a:r>
            <a:endParaRPr lang="en-US" sz="3200" dirty="0"/>
          </a:p>
          <a:p>
            <a:pPr lvl="1">
              <a:buFont typeface="Wingdings" panose="05000000000000000000" charset="0"/>
              <a:buChar char="Ø"/>
            </a:pPr>
            <a:r>
              <a:rPr lang="en-US" sz="3200" dirty="0"/>
              <a:t>Performs flow control.</a:t>
            </a:r>
            <a:endParaRPr lang="en-US" sz="3200" dirty="0"/>
          </a:p>
          <a:p>
            <a:pPr lvl="1">
              <a:buFont typeface="Wingdings" panose="05000000000000000000" charset="0"/>
              <a:buChar char="Ø"/>
            </a:pPr>
            <a:r>
              <a:rPr lang="en-US" sz="3200" dirty="0"/>
              <a:t>Provides error recovery.</a:t>
            </a:r>
            <a:endParaRPr lang="en-US" sz="3200" dirty="0"/>
          </a:p>
          <a:p>
            <a:pPr lvl="1">
              <a:buFont typeface="Wingdings" panose="05000000000000000000" charset="0"/>
              <a:buChar char="Ø"/>
            </a:pPr>
            <a:r>
              <a:rPr lang="en-US" sz="3200" dirty="0"/>
              <a:t>Uses </a:t>
            </a:r>
            <a:r>
              <a:rPr lang="en-US" sz="3200" b="1" dirty="0"/>
              <a:t>port numbers</a:t>
            </a:r>
            <a:r>
              <a:rPr lang="en-US" sz="3200" dirty="0"/>
              <a:t> to deliver data to the appropriate application.</a:t>
            </a:r>
            <a:endParaRPr lang="en-US" sz="3200" dirty="0"/>
          </a:p>
          <a:p>
            <a:pPr lvl="1">
              <a:buFont typeface="Wingdings" panose="05000000000000000000" charset="0"/>
              <a:buChar char="Ø"/>
            </a:pPr>
            <a:r>
              <a:rPr lang="en-US" sz="3200" dirty="0"/>
              <a:t>Can provide congestion-control mechanisms.</a:t>
            </a:r>
            <a:endParaRPr lang="en-US" sz="3200" dirty="0"/>
          </a:p>
          <a:p>
            <a:pPr marL="0" indent="0">
              <a:buFont typeface="Wingdings" panose="05000000000000000000" charse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731520"/>
          </a:xfrm>
        </p:spPr>
        <p:txBody>
          <a:bodyPr/>
          <a:lstStyle/>
          <a:p>
            <a:pPr algn="ctr"/>
            <a:r>
              <a:rPr lang="en-US" b="1" dirty="0"/>
              <a:t>Major </a:t>
            </a:r>
            <a:r>
              <a:rPr lang="en-US" b="1" dirty="0" smtClean="0"/>
              <a:t>protocols</a:t>
            </a:r>
            <a:r>
              <a:rPr lang="en-US" dirty="0"/>
              <a:t> </a:t>
            </a:r>
            <a:r>
              <a:rPr lang="en-US" b="1" dirty="0" smtClean="0"/>
              <a:t>under Transport Layer</a:t>
            </a:r>
            <a:endParaRPr lang="en-US" b="1" dirty="0"/>
          </a:p>
        </p:txBody>
      </p:sp>
      <p:sp>
        <p:nvSpPr>
          <p:cNvPr id="3" name="Content Placeholder 2"/>
          <p:cNvSpPr>
            <a:spLocks noGrp="1"/>
          </p:cNvSpPr>
          <p:nvPr>
            <p:ph idx="1"/>
          </p:nvPr>
        </p:nvSpPr>
        <p:spPr>
          <a:xfrm>
            <a:off x="609600" y="1457960"/>
            <a:ext cx="10972800" cy="4669790"/>
          </a:xfrm>
        </p:spPr>
        <p:txBody>
          <a:bodyPr>
            <a:normAutofit fontScale="87500" lnSpcReduction="10000"/>
          </a:bodyPr>
          <a:lstStyle/>
          <a:p>
            <a:pPr marL="0" indent="0">
              <a:buNone/>
            </a:pPr>
            <a:r>
              <a:rPr lang="en-US" b="1" dirty="0" smtClean="0"/>
              <a:t>  TCP </a:t>
            </a:r>
            <a:r>
              <a:rPr lang="en-US" b="1" dirty="0"/>
              <a:t>(Transmission Control Protocol)</a:t>
            </a:r>
            <a:br>
              <a:rPr lang="en-US" dirty="0"/>
            </a:br>
            <a:r>
              <a:rPr lang="en-US" dirty="0"/>
              <a:t>TCP provides a reliable, connection-oriented byte stream.</a:t>
            </a:r>
            <a:endParaRPr lang="en-US" sz="2000" dirty="0"/>
          </a:p>
          <a:p>
            <a:pPr marL="0" indent="0">
              <a:buNone/>
            </a:pPr>
            <a:r>
              <a:rPr lang="en-US" dirty="0" smtClean="0"/>
              <a:t> It </a:t>
            </a:r>
            <a:r>
              <a:rPr lang="en-US" dirty="0"/>
              <a:t>uses:</a:t>
            </a:r>
            <a:endParaRPr lang="en-US" sz="2000" dirty="0"/>
          </a:p>
          <a:p>
            <a:pPr lvl="1">
              <a:buFont typeface="Wingdings" panose="05000000000000000000" pitchFamily="2" charset="2"/>
              <a:buChar char="Ø"/>
            </a:pPr>
            <a:r>
              <a:rPr lang="en-US" dirty="0"/>
              <a:t>Sequence numbers</a:t>
            </a:r>
            <a:endParaRPr lang="en-US" sz="1800" dirty="0"/>
          </a:p>
          <a:p>
            <a:pPr lvl="1">
              <a:buFont typeface="Wingdings" panose="05000000000000000000" pitchFamily="2" charset="2"/>
              <a:buChar char="Ø"/>
            </a:pPr>
            <a:r>
              <a:rPr lang="en-US" dirty="0"/>
              <a:t>Acknowledgements</a:t>
            </a:r>
            <a:endParaRPr lang="en-US" sz="1800" dirty="0"/>
          </a:p>
          <a:p>
            <a:pPr lvl="1">
              <a:buFont typeface="Wingdings" panose="05000000000000000000" pitchFamily="2" charset="2"/>
              <a:buChar char="Ø"/>
            </a:pPr>
            <a:r>
              <a:rPr lang="en-US" dirty="0"/>
              <a:t>Retransmissions</a:t>
            </a:r>
            <a:endParaRPr lang="en-US" sz="1800" dirty="0"/>
          </a:p>
          <a:p>
            <a:pPr lvl="1">
              <a:buFont typeface="Wingdings" panose="05000000000000000000" pitchFamily="2" charset="2"/>
              <a:buChar char="Ø"/>
            </a:pPr>
            <a:r>
              <a:rPr lang="en-US" dirty="0"/>
              <a:t>Flow control</a:t>
            </a:r>
            <a:endParaRPr lang="en-US" sz="1800" dirty="0"/>
          </a:p>
          <a:p>
            <a:pPr lvl="1">
              <a:buFont typeface="Wingdings" panose="05000000000000000000" pitchFamily="2" charset="2"/>
              <a:buChar char="Ø"/>
            </a:pPr>
            <a:r>
              <a:rPr lang="en-US" dirty="0"/>
              <a:t>Congestion control</a:t>
            </a:r>
            <a:endParaRPr lang="en-US" sz="1800" dirty="0"/>
          </a:p>
          <a:p>
            <a:pPr marL="0" indent="0">
              <a:buNone/>
            </a:pPr>
            <a:r>
              <a:rPr lang="en-US" dirty="0" smtClean="0"/>
              <a:t>  For </a:t>
            </a:r>
            <a:r>
              <a:rPr lang="en-US" dirty="0"/>
              <a:t>example, when downloading a file, TCP helps ensure that missing data is retransmitted and that the data arrives in the correct order</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193800"/>
          </a:xfrm>
        </p:spPr>
        <p:txBody>
          <a:bodyPr/>
          <a:lstStyle/>
          <a:p>
            <a:r>
              <a:rPr lang="en-US" b="1" dirty="0"/>
              <a:t>UDP (User Datagram Protocol)</a:t>
            </a:r>
            <a:endParaRPr lang="en-US" dirty="0"/>
          </a:p>
        </p:txBody>
      </p:sp>
      <p:sp>
        <p:nvSpPr>
          <p:cNvPr id="3" name="Content Placeholder 2"/>
          <p:cNvSpPr>
            <a:spLocks noGrp="1"/>
          </p:cNvSpPr>
          <p:nvPr>
            <p:ph idx="1"/>
          </p:nvPr>
        </p:nvSpPr>
        <p:spPr>
          <a:xfrm>
            <a:off x="609600" y="1681480"/>
            <a:ext cx="10972800" cy="4446270"/>
          </a:xfrm>
        </p:spPr>
        <p:txBody>
          <a:bodyPr>
            <a:normAutofit fontScale="97500"/>
          </a:bodyPr>
          <a:lstStyle/>
          <a:p>
            <a:pPr marL="0" indent="0">
              <a:buNone/>
            </a:pPr>
            <a:r>
              <a:rPr lang="en-US" sz="3600" dirty="0"/>
              <a:t>    UDP is connectionless and has much less overhead than TCP. It does not guarantee delivery, ordering, or retransmission.</a:t>
            </a:r>
            <a:endParaRPr lang="en-US" sz="3600" dirty="0"/>
          </a:p>
          <a:p>
            <a:pPr>
              <a:buFont typeface="Wingdings" panose="05000000000000000000" charset="0"/>
              <a:buChar char="Ø"/>
            </a:pPr>
            <a:r>
              <a:rPr lang="en-US" sz="3600" dirty="0"/>
              <a:t>It is useful when low overhead and speed are more important than guaranteed delivery, such as DNS queries, streaming, and many real-time applications</a:t>
            </a:r>
            <a:r>
              <a:rPr lang="en-US" sz="3600" dirty="0" smtClean="0"/>
              <a:t>.</a:t>
            </a:r>
            <a:endParaRPr lang="en-US" sz="3600" dirty="0" smtClean="0"/>
          </a:p>
          <a:p>
            <a:pPr>
              <a:buFont typeface="Wingdings" panose="05000000000000000000" charset="0"/>
              <a:buChar char="Ø"/>
            </a:pPr>
            <a:r>
              <a:rPr lang="en-US" sz="3600" b="1" dirty="0"/>
              <a:t>Data unit:</a:t>
            </a:r>
            <a:r>
              <a:rPr lang="en-US" sz="3600" dirty="0"/>
              <a:t> Segment (TCP) / Datagram (UDP</a:t>
            </a:r>
            <a:endParaRPr lang="en-US" sz="3600" dirty="0"/>
          </a:p>
          <a:p>
            <a:pPr>
              <a:buFont typeface="Wingdings" panose="05000000000000000000" charset="0"/>
              <a:buChar char="Ø"/>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417955"/>
          </a:xfrm>
        </p:spPr>
        <p:txBody>
          <a:bodyPr>
            <a:normAutofit/>
          </a:bodyPr>
          <a:lstStyle/>
          <a:p>
            <a:pPr algn="ctr"/>
            <a:r>
              <a:rPr lang="en-US" sz="5400" b="1" dirty="0" smtClean="0"/>
              <a:t>5. Session </a:t>
            </a:r>
            <a:r>
              <a:rPr lang="en-US" sz="5400" b="1" dirty="0"/>
              <a:t>Layer</a:t>
            </a:r>
            <a:endParaRPr lang="en-US" sz="5400" dirty="0"/>
          </a:p>
        </p:txBody>
      </p:sp>
      <p:sp>
        <p:nvSpPr>
          <p:cNvPr id="3" name="Content Placeholder 2"/>
          <p:cNvSpPr>
            <a:spLocks noGrp="1"/>
          </p:cNvSpPr>
          <p:nvPr>
            <p:ph idx="1"/>
          </p:nvPr>
        </p:nvSpPr>
        <p:spPr>
          <a:xfrm>
            <a:off x="609600" y="2009140"/>
            <a:ext cx="10972800" cy="4118610"/>
          </a:xfrm>
        </p:spPr>
        <p:txBody>
          <a:bodyPr/>
          <a:lstStyle/>
          <a:p>
            <a:pPr marL="0" indent="0">
              <a:lnSpc>
                <a:spcPct val="107000"/>
              </a:lnSpc>
              <a:spcAft>
                <a:spcPts val="0"/>
              </a:spcAft>
              <a:buNone/>
            </a:pPr>
            <a:r>
              <a:rPr lang="en-US" sz="4800" dirty="0">
                <a:solidFill>
                  <a:srgbClr val="0D0D0D"/>
                </a:solidFill>
                <a:latin typeface="Segoe UI" panose="020B0502040204020203" pitchFamily="34" charset="0"/>
                <a:ea typeface="Times New Roman" panose="02020603050405020304" pitchFamily="18" charset="0"/>
                <a:cs typeface="Times New Roman" panose="02020603050405020304" pitchFamily="18" charset="0"/>
              </a:rPr>
              <a:t>    The Session Layer manages sessions or ongoing conversations between applications.</a:t>
            </a:r>
            <a:endParaRPr lang="en-US" sz="4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148715"/>
          </a:xfrm>
        </p:spPr>
        <p:txBody>
          <a:bodyPr/>
          <a:lstStyle/>
          <a:p>
            <a:pPr algn="ctr"/>
            <a:r>
              <a:rPr lang="en-US" b="1" dirty="0" smtClean="0"/>
              <a:t>Responsibilities of Session Layer</a:t>
            </a:r>
            <a:br>
              <a:rPr lang="en-US" dirty="0"/>
            </a:br>
            <a:endParaRPr lang="en-US" dirty="0"/>
          </a:p>
        </p:txBody>
      </p:sp>
      <p:sp>
        <p:nvSpPr>
          <p:cNvPr id="3" name="Content Placeholder 2"/>
          <p:cNvSpPr>
            <a:spLocks noGrp="1"/>
          </p:cNvSpPr>
          <p:nvPr>
            <p:ph idx="1"/>
          </p:nvPr>
        </p:nvSpPr>
        <p:spPr>
          <a:xfrm>
            <a:off x="609600" y="1741170"/>
            <a:ext cx="10972800" cy="4386580"/>
          </a:xfrm>
        </p:spPr>
        <p:txBody>
          <a:bodyPr>
            <a:normAutofit fontScale="97500"/>
          </a:bodyPr>
          <a:lstStyle/>
          <a:p>
            <a:pPr lvl="1">
              <a:buFont typeface="Wingdings" panose="05000000000000000000" charset="0"/>
              <a:buChar char="Ø"/>
            </a:pPr>
            <a:r>
              <a:rPr lang="en-US" sz="3200" dirty="0"/>
              <a:t>Establishes communication sessions.</a:t>
            </a:r>
            <a:endParaRPr lang="en-US" sz="3200" dirty="0"/>
          </a:p>
          <a:p>
            <a:pPr lvl="1">
              <a:buFont typeface="Wingdings" panose="05000000000000000000" charset="0"/>
              <a:buChar char="Ø"/>
            </a:pPr>
            <a:r>
              <a:rPr lang="en-US" sz="3200" dirty="0"/>
              <a:t>Maintains and manages sessions.</a:t>
            </a:r>
            <a:endParaRPr lang="en-US" sz="3200" dirty="0"/>
          </a:p>
          <a:p>
            <a:pPr lvl="1">
              <a:buFont typeface="Wingdings" panose="05000000000000000000" charset="0"/>
              <a:buChar char="Ø"/>
            </a:pPr>
            <a:r>
              <a:rPr lang="en-US" sz="3200" dirty="0"/>
              <a:t>Terminates sessions.</a:t>
            </a:r>
            <a:endParaRPr lang="en-US" sz="3200" dirty="0"/>
          </a:p>
          <a:p>
            <a:pPr lvl="1">
              <a:buFont typeface="Wingdings" panose="05000000000000000000" charset="0"/>
              <a:buChar char="Ø"/>
            </a:pPr>
            <a:r>
              <a:rPr lang="en-US" sz="3200" dirty="0"/>
              <a:t>Provides synchronization points/checkpoints.</a:t>
            </a:r>
            <a:endParaRPr lang="en-US" sz="3200" dirty="0"/>
          </a:p>
          <a:p>
            <a:pPr lvl="1">
              <a:buFont typeface="Wingdings" panose="05000000000000000000" charset="0"/>
              <a:buChar char="Ø"/>
            </a:pPr>
            <a:r>
              <a:rPr lang="en-US" sz="3200" dirty="0"/>
              <a:t>Can help resume communication after an interruption.</a:t>
            </a:r>
            <a:endParaRPr lang="en-US" sz="3200" dirty="0"/>
          </a:p>
          <a:p>
            <a:pPr marL="0" indent="0">
              <a:buNone/>
            </a:pPr>
            <a:r>
              <a:rPr lang="en-US" sz="3200" dirty="0" smtClean="0"/>
              <a:t> For </a:t>
            </a:r>
            <a:r>
              <a:rPr lang="en-US" sz="3200" dirty="0"/>
              <a:t>example, a session mechanism can establish a logical conversation between two applications and manage when that conversation starts and ends.</a:t>
            </a:r>
            <a:endParaRPr lang="en-US" sz="32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3615"/>
          </a:xfrm>
        </p:spPr>
        <p:txBody>
          <a:bodyPr/>
          <a:lstStyle/>
          <a:p>
            <a:r>
              <a:rPr lang="en-GB" b="1" dirty="0" smtClean="0"/>
              <a:t>Examples of protocols under Session Layer</a:t>
            </a:r>
            <a:endParaRPr lang="en-US" b="1" dirty="0"/>
          </a:p>
        </p:txBody>
      </p:sp>
      <p:sp>
        <p:nvSpPr>
          <p:cNvPr id="3" name="Content Placeholder 2"/>
          <p:cNvSpPr>
            <a:spLocks noGrp="1"/>
          </p:cNvSpPr>
          <p:nvPr>
            <p:ph idx="1"/>
          </p:nvPr>
        </p:nvSpPr>
        <p:spPr/>
        <p:txBody>
          <a:bodyPr>
            <a:normAutofit/>
          </a:bodyPr>
          <a:lstStyle/>
          <a:p>
            <a:pPr>
              <a:buFont typeface="Wingdings" panose="05000000000000000000" charset="0"/>
              <a:buChar char="Ø"/>
            </a:pPr>
            <a:r>
              <a:rPr lang="en-US" sz="3200" b="1" dirty="0"/>
              <a:t>NetBIOS</a:t>
            </a:r>
            <a:br>
              <a:rPr lang="en-US" sz="3200" dirty="0"/>
            </a:br>
            <a:r>
              <a:rPr lang="en-US" sz="3200" dirty="0"/>
              <a:t>Provides session services for applications communicating over a network, historically common in Windows networking.</a:t>
            </a:r>
            <a:endParaRPr lang="en-US" sz="3200" dirty="0"/>
          </a:p>
          <a:p>
            <a:pPr>
              <a:buFont typeface="Wingdings" panose="05000000000000000000" charset="0"/>
              <a:buChar char="Ø"/>
            </a:pPr>
            <a:r>
              <a:rPr lang="en-US" sz="3200" b="1" dirty="0"/>
              <a:t>RPC (Remote Procedure Call)</a:t>
            </a:r>
            <a:br>
              <a:rPr lang="en-US" sz="3200" dirty="0"/>
            </a:br>
            <a:r>
              <a:rPr lang="en-US" sz="3200" dirty="0"/>
              <a:t>Allows an application to invoke a procedure on another computer as though it were a local procedure</a:t>
            </a:r>
            <a:endParaRPr lang="en-US" sz="32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p:txBody>
          <a:bodyPr>
            <a:noAutofit/>
          </a:bodyPr>
          <a:lstStyle/>
          <a:p>
            <a:pPr>
              <a:buFont typeface="Wingdings" panose="05000000000000000000" charset="0"/>
              <a:buChar char="Ø"/>
            </a:pPr>
            <a:r>
              <a:rPr lang="en-US" sz="3200" b="1" dirty="0"/>
              <a:t>SIP (Session Initiation Protocol)</a:t>
            </a:r>
            <a:endParaRPr lang="en-US" sz="3200" b="1" dirty="0"/>
          </a:p>
          <a:p>
            <a:pPr marL="0" indent="0">
              <a:buFont typeface="Wingdings" panose="05000000000000000000" charset="0"/>
              <a:buNone/>
            </a:pPr>
            <a:r>
              <a:rPr lang="en-US" sz="2500" dirty="0"/>
              <a:t>Is a signaling protocol used to initiate,maintain,modify, and terminate real time communication sessions such as VoIP calls,video calls, and instant messaging over the internet protocol (IP) networks. </a:t>
            </a:r>
            <a:endParaRPr lang="en-US" sz="2500" dirty="0"/>
          </a:p>
          <a:p>
            <a:pPr marL="0" indent="0">
              <a:buFont typeface="Wingdings" panose="05000000000000000000" charset="0"/>
              <a:buNone/>
            </a:pPr>
            <a:r>
              <a:rPr lang="en-US" sz="2500" b="1" dirty="0"/>
              <a:t>For example:</a:t>
            </a:r>
            <a:endParaRPr lang="en-US" sz="2500" b="1" dirty="0"/>
          </a:p>
          <a:p>
            <a:pPr marL="0" indent="0">
              <a:buFont typeface="Wingdings" panose="05000000000000000000" charset="0"/>
              <a:buNone/>
            </a:pPr>
            <a:r>
              <a:rPr lang="en-US" sz="2500" dirty="0"/>
              <a:t>Modern business enterprise organisation phone systems like customer service help line for NWSC use SIP to make calls and receive calls over internet.</a:t>
            </a:r>
            <a:endParaRPr lang="en-US" sz="2500" dirty="0"/>
          </a:p>
          <a:p>
            <a:pPr marL="0" indent="0">
              <a:buNone/>
            </a:pPr>
            <a:r>
              <a:rPr lang="en-US" sz="2500" b="1" dirty="0"/>
              <a:t>Important note:</a:t>
            </a:r>
            <a:r>
              <a:rPr lang="en-US" sz="2500" dirty="0"/>
              <a:t> In modern TCP/IP networks, the functions of the OSI Session Layer are often implemented as part of the application layer or by application frameworks rather than as a distinct protocol layer.</a:t>
            </a:r>
            <a:endParaRPr lang="en-US" sz="2500" dirty="0"/>
          </a:p>
          <a:p>
            <a:pPr marL="0" indent="0">
              <a:buNone/>
            </a:pPr>
            <a:endParaRPr lang="en-US" sz="2500" dirty="0"/>
          </a:p>
          <a:p>
            <a:pPr marL="0" indent="0">
              <a:buNone/>
            </a:pPr>
            <a:endParaRPr lang="en-US" sz="25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282700"/>
          </a:xfrm>
        </p:spPr>
        <p:txBody>
          <a:bodyPr/>
          <a:lstStyle/>
          <a:p>
            <a:pPr algn="ctr"/>
            <a:r>
              <a:rPr lang="en-US" sz="4000" b="1" dirty="0" smtClean="0"/>
              <a:t>6. Presentation </a:t>
            </a:r>
            <a:r>
              <a:rPr lang="en-US" sz="4000" b="1" dirty="0"/>
              <a:t>Layer</a:t>
            </a:r>
            <a:br>
              <a:rPr lang="en-US" dirty="0"/>
            </a:br>
            <a:endParaRPr lang="en-US" dirty="0"/>
          </a:p>
        </p:txBody>
      </p:sp>
      <p:sp>
        <p:nvSpPr>
          <p:cNvPr id="3" name="Content Placeholder 2"/>
          <p:cNvSpPr>
            <a:spLocks noGrp="1"/>
          </p:cNvSpPr>
          <p:nvPr>
            <p:ph idx="1"/>
          </p:nvPr>
        </p:nvSpPr>
        <p:spPr>
          <a:xfrm>
            <a:off x="609600" y="1680845"/>
            <a:ext cx="10972800" cy="4446905"/>
          </a:xfrm>
        </p:spPr>
        <p:txBody>
          <a:bodyPr>
            <a:normAutofit/>
          </a:bodyPr>
          <a:lstStyle/>
          <a:p>
            <a:pPr>
              <a:buFont typeface="Wingdings" panose="05000000000000000000" pitchFamily="2" charset="2"/>
              <a:buChar char="v"/>
            </a:pPr>
            <a:r>
              <a:rPr lang="en-US" sz="3600" dirty="0" smtClean="0"/>
              <a:t>   The</a:t>
            </a:r>
            <a:r>
              <a:rPr lang="en-US" sz="3600" dirty="0"/>
              <a:t> </a:t>
            </a:r>
            <a:r>
              <a:rPr lang="en-US" sz="3600" b="1" dirty="0"/>
              <a:t>Presentation Layer</a:t>
            </a:r>
            <a:r>
              <a:rPr lang="en-US" sz="3600" dirty="0"/>
              <a:t> ensures that data is represented in a format that the receiving application can understand.</a:t>
            </a:r>
            <a:endParaRPr lang="en-US" sz="3600" dirty="0"/>
          </a:p>
          <a:p>
            <a:pPr>
              <a:buFont typeface="Wingdings" panose="05000000000000000000" pitchFamily="2" charset="2"/>
              <a:buChar char="v"/>
            </a:pPr>
            <a:r>
              <a:rPr lang="en-US" sz="3600" dirty="0" smtClean="0"/>
              <a:t>It is also called</a:t>
            </a:r>
            <a:r>
              <a:rPr lang="en-US" sz="3600" dirty="0"/>
              <a:t> </a:t>
            </a:r>
            <a:r>
              <a:rPr lang="en-US" sz="3600" b="1" dirty="0"/>
              <a:t>translator and formatter</a:t>
            </a:r>
            <a:r>
              <a:rPr lang="en-US" sz="3600" dirty="0"/>
              <a:t> of the OSI model</a:t>
            </a:r>
            <a:endParaRPr lang="en-US" sz="36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134110"/>
          </a:xfrm>
        </p:spPr>
        <p:txBody>
          <a:bodyPr/>
          <a:lstStyle/>
          <a:p>
            <a:r>
              <a:rPr lang="en-US" b="1" dirty="0" smtClean="0"/>
              <a:t>Responsibilities</a:t>
            </a:r>
            <a:r>
              <a:rPr lang="en-US" dirty="0"/>
              <a:t> </a:t>
            </a:r>
            <a:r>
              <a:rPr lang="en-US" b="1" dirty="0" smtClean="0"/>
              <a:t>of Presentation Layer</a:t>
            </a:r>
            <a:endParaRPr lang="en-US" b="1" dirty="0"/>
          </a:p>
        </p:txBody>
      </p:sp>
      <p:sp>
        <p:nvSpPr>
          <p:cNvPr id="3" name="Content Placeholder 2"/>
          <p:cNvSpPr>
            <a:spLocks noGrp="1"/>
          </p:cNvSpPr>
          <p:nvPr>
            <p:ph idx="1"/>
          </p:nvPr>
        </p:nvSpPr>
        <p:spPr>
          <a:xfrm>
            <a:off x="609600" y="1800860"/>
            <a:ext cx="10972800" cy="4326890"/>
          </a:xfrm>
        </p:spPr>
        <p:txBody>
          <a:bodyPr>
            <a:normAutofit/>
          </a:bodyPr>
          <a:lstStyle/>
          <a:p>
            <a:pPr lvl="1">
              <a:buFont typeface="Wingdings" panose="05000000000000000000" pitchFamily="2" charset="2"/>
              <a:buChar char="Ø"/>
            </a:pPr>
            <a:r>
              <a:rPr lang="en-US" sz="4400" dirty="0"/>
              <a:t>Data translation and format conversion.</a:t>
            </a:r>
            <a:endParaRPr lang="en-US" sz="4400" dirty="0"/>
          </a:p>
          <a:p>
            <a:pPr lvl="1">
              <a:buFont typeface="Wingdings" panose="05000000000000000000" pitchFamily="2" charset="2"/>
              <a:buChar char="Ø"/>
            </a:pPr>
            <a:r>
              <a:rPr lang="en-US" sz="4400" dirty="0"/>
              <a:t>Character encoding.</a:t>
            </a:r>
            <a:endParaRPr lang="en-US" sz="4400" dirty="0"/>
          </a:p>
          <a:p>
            <a:pPr lvl="1">
              <a:buFont typeface="Wingdings" panose="05000000000000000000" pitchFamily="2" charset="2"/>
              <a:buChar char="Ø"/>
            </a:pPr>
            <a:r>
              <a:rPr lang="en-US" sz="4400" dirty="0"/>
              <a:t>Data compression and decompression.</a:t>
            </a:r>
            <a:endParaRPr lang="en-US" sz="4400" dirty="0"/>
          </a:p>
          <a:p>
            <a:pPr lvl="1">
              <a:buFont typeface="Wingdings" panose="05000000000000000000" pitchFamily="2" charset="2"/>
              <a:buChar char="Ø"/>
            </a:pPr>
            <a:r>
              <a:rPr lang="en-US" sz="4400" dirty="0"/>
              <a:t>Data encryption and decryption.</a:t>
            </a:r>
            <a:endParaRPr lang="en-US" sz="4400" dirty="0"/>
          </a:p>
          <a:p>
            <a:pPr lvl="1">
              <a:buFont typeface="Wingdings" panose="05000000000000000000" pitchFamily="2" charset="2"/>
              <a:buChar char="Ø"/>
            </a:pPr>
            <a:r>
              <a:rPr lang="en-US" sz="4400" dirty="0"/>
              <a:t>Serialization and representation of data.</a:t>
            </a:r>
            <a:endParaRPr lang="en-US" sz="4400" dirty="0"/>
          </a:p>
          <a:p>
            <a:pPr marL="0" indent="0">
              <a:buNone/>
            </a:pPr>
            <a:endParaRPr lang="en-US" sz="44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236345"/>
          </a:xfrm>
        </p:spPr>
        <p:txBody>
          <a:bodyPr>
            <a:normAutofit fontScale="90000"/>
          </a:bodyPr>
          <a:lstStyle/>
          <a:p>
            <a:r>
              <a:rPr lang="en-US" sz="4000" b="1" dirty="0" smtClean="0"/>
              <a:t>Examples</a:t>
            </a:r>
            <a:r>
              <a:rPr lang="en-US" sz="4000" b="1" dirty="0"/>
              <a:t> </a:t>
            </a:r>
            <a:r>
              <a:rPr lang="en-US" sz="4000" b="1" dirty="0" smtClean="0"/>
              <a:t>of Protocols under Presentation Layer</a:t>
            </a:r>
            <a:endParaRPr lang="en-US" sz="4000" b="1" dirty="0"/>
          </a:p>
        </p:txBody>
      </p:sp>
      <p:sp>
        <p:nvSpPr>
          <p:cNvPr id="3" name="Content Placeholder 2"/>
          <p:cNvSpPr>
            <a:spLocks noGrp="1"/>
          </p:cNvSpPr>
          <p:nvPr>
            <p:ph idx="1"/>
          </p:nvPr>
        </p:nvSpPr>
        <p:spPr>
          <a:xfrm>
            <a:off x="609600" y="1785620"/>
            <a:ext cx="10972800" cy="4342130"/>
          </a:xfrm>
        </p:spPr>
        <p:txBody>
          <a:bodyPr>
            <a:normAutofit/>
          </a:bodyPr>
          <a:lstStyle/>
          <a:p>
            <a:pPr>
              <a:buFont typeface="Wingdings" panose="05000000000000000000" charset="0"/>
              <a:buChar char="Ø"/>
            </a:pPr>
            <a:r>
              <a:rPr lang="en-US" sz="3200" b="1" dirty="0"/>
              <a:t>TLS (Transport Layer Security)</a:t>
            </a:r>
            <a:br>
              <a:rPr lang="en-US" sz="3200" dirty="0"/>
            </a:br>
            <a:r>
              <a:rPr lang="en-US" sz="3200" dirty="0"/>
              <a:t>Provides encryption, authentication, and integrity protection for network communications. Although commonly associated conceptually with the Presentation/Session functions of OSI, TLS actually operates across the boundary between application and transport layers in practical TCP/IP networking.</a:t>
            </a:r>
            <a:endParaRPr lang="en-US" sz="3200"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p:txBody>
          <a:bodyPr>
            <a:normAutofit/>
          </a:bodyPr>
          <a:lstStyle/>
          <a:p>
            <a:pPr>
              <a:buFont typeface="Wingdings" panose="05000000000000000000" charset="0"/>
              <a:buChar char="Ø"/>
            </a:pPr>
            <a:r>
              <a:rPr lang="en-US" sz="3200" b="1" dirty="0"/>
              <a:t>JPEG/PNG</a:t>
            </a:r>
            <a:br>
              <a:rPr lang="en-US" sz="3200" dirty="0"/>
            </a:br>
            <a:r>
              <a:rPr lang="en-US" sz="3200" dirty="0"/>
              <a:t>Define standardized representations for images.</a:t>
            </a:r>
            <a:endParaRPr lang="en-US" sz="3200" dirty="0"/>
          </a:p>
          <a:p>
            <a:pPr>
              <a:buFont typeface="Wingdings" panose="05000000000000000000" charset="0"/>
              <a:buChar char="Ø"/>
            </a:pPr>
            <a:r>
              <a:rPr lang="en-US" sz="3200" b="1" dirty="0"/>
              <a:t>ASCII/UTF-8</a:t>
            </a:r>
            <a:br>
              <a:rPr lang="en-US" sz="3200" dirty="0"/>
            </a:br>
            <a:r>
              <a:rPr lang="en-US" sz="3200" dirty="0"/>
              <a:t>Define ways of representing characters as bytes.</a:t>
            </a:r>
            <a:endParaRPr lang="en-US" sz="3200" dirty="0"/>
          </a:p>
          <a:p>
            <a:pPr>
              <a:buFont typeface="Wingdings" panose="05000000000000000000" charset="0"/>
              <a:buChar char="Ø"/>
            </a:pPr>
            <a:r>
              <a:rPr lang="en-US" sz="3200" b="1" dirty="0"/>
              <a:t>Data serialization formats such as JSON and XML</a:t>
            </a:r>
            <a:r>
              <a:rPr lang="en-US" sz="3200" dirty="0"/>
              <a:t> can also perform presentation-like functions, although they are generally considered application-layer technologies in the TCP/IP model.</a:t>
            </a:r>
            <a:endParaRPr lang="en-US" sz="3200" dirty="0"/>
          </a:p>
          <a:p>
            <a:pPr marL="0" indent="0">
              <a:buNone/>
            </a:pPr>
            <a:r>
              <a:rPr lang="en-US" sz="3200" b="1" dirty="0" smtClean="0"/>
              <a:t>  Data </a:t>
            </a:r>
            <a:r>
              <a:rPr lang="en-US" sz="3200" b="1" dirty="0"/>
              <a:t>unit:</a:t>
            </a:r>
            <a:r>
              <a:rPr lang="en-US" sz="3200" dirty="0"/>
              <a:t> Data</a:t>
            </a:r>
            <a:endParaRPr lang="en-US" sz="3200" dirty="0"/>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7. Application </a:t>
            </a:r>
            <a:r>
              <a:rPr lang="en-US" b="1" dirty="0"/>
              <a:t>Layer</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4000" dirty="0" smtClean="0"/>
              <a:t>The</a:t>
            </a:r>
            <a:r>
              <a:rPr lang="en-US" sz="4000" dirty="0"/>
              <a:t> </a:t>
            </a:r>
            <a:r>
              <a:rPr lang="en-US" sz="4000" b="1" dirty="0"/>
              <a:t>Application Layer</a:t>
            </a:r>
            <a:r>
              <a:rPr lang="en-US" sz="4000" dirty="0"/>
              <a:t> is the highest OSI layer. It provides network services directly to applications and users.</a:t>
            </a:r>
            <a:endParaRPr lang="en-US" sz="4000" dirty="0"/>
          </a:p>
          <a:p>
            <a:r>
              <a:rPr lang="en-US" sz="4000" dirty="0"/>
              <a:t>It does </a:t>
            </a:r>
            <a:r>
              <a:rPr lang="en-US" sz="4000" b="1" dirty="0"/>
              <a:t>not</a:t>
            </a:r>
            <a:r>
              <a:rPr lang="en-US" sz="4000" dirty="0"/>
              <a:t> mean the application itself; rather, it defines the protocols applications use to communicate over a network</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Responsibilities of Application Layer</a:t>
            </a:r>
            <a:endParaRPr lang="en-US" dirty="0"/>
          </a:p>
        </p:txBody>
      </p:sp>
      <p:sp>
        <p:nvSpPr>
          <p:cNvPr id="3" name="Content Placeholder 2"/>
          <p:cNvSpPr>
            <a:spLocks noGrp="1"/>
          </p:cNvSpPr>
          <p:nvPr>
            <p:ph idx="1"/>
          </p:nvPr>
        </p:nvSpPr>
        <p:spPr/>
        <p:txBody>
          <a:bodyPr>
            <a:normAutofit/>
          </a:bodyPr>
          <a:lstStyle/>
          <a:p>
            <a:pPr lvl="1">
              <a:buFont typeface="Wingdings" panose="05000000000000000000" charset="0"/>
              <a:buChar char="Ø"/>
            </a:pPr>
            <a:r>
              <a:rPr lang="en-US" sz="4000" dirty="0"/>
              <a:t>Provides network services to applications.</a:t>
            </a:r>
            <a:endParaRPr lang="en-US" sz="4000" dirty="0"/>
          </a:p>
          <a:p>
            <a:pPr lvl="1">
              <a:buFont typeface="Wingdings" panose="05000000000000000000" charset="0"/>
              <a:buChar char="Ø"/>
            </a:pPr>
            <a:r>
              <a:rPr lang="en-US" sz="4000" dirty="0"/>
              <a:t>Enables resource sharing.</a:t>
            </a:r>
            <a:endParaRPr lang="en-US" sz="4000" dirty="0"/>
          </a:p>
          <a:p>
            <a:pPr lvl="1">
              <a:buFont typeface="Wingdings" panose="05000000000000000000" charset="0"/>
              <a:buChar char="Ø"/>
            </a:pPr>
            <a:r>
              <a:rPr lang="en-US" sz="4000" dirty="0"/>
              <a:t>Provides services such as web access, email, file transfer, and name resolution.</a:t>
            </a:r>
            <a:endParaRPr lang="en-US" sz="4000" dirty="0"/>
          </a:p>
          <a:p>
            <a:pPr lvl="1">
              <a:buFont typeface="Wingdings" panose="05000000000000000000" charset="0"/>
              <a:buChar char="Ø"/>
            </a:pPr>
            <a:r>
              <a:rPr lang="en-US" sz="4000" dirty="0"/>
              <a:t>Defines application-level requests and responses.</a:t>
            </a:r>
            <a:endParaRPr lang="en-US" sz="4000" dirty="0"/>
          </a:p>
          <a:p>
            <a:pPr>
              <a:buFont typeface="Wingdings" panose="05000000000000000000" charset="0"/>
              <a:buChar char="Ø"/>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731520"/>
          </a:xfrm>
        </p:spPr>
        <p:txBody>
          <a:bodyPr/>
          <a:lstStyle/>
          <a:p>
            <a:r>
              <a:rPr lang="en-US" b="1" dirty="0"/>
              <a:t>Examples of </a:t>
            </a:r>
            <a:r>
              <a:rPr lang="en-US" b="1" dirty="0" smtClean="0"/>
              <a:t>protocols under Application Layer</a:t>
            </a:r>
            <a:endParaRPr lang="en-US" dirty="0"/>
          </a:p>
        </p:txBody>
      </p:sp>
      <p:sp>
        <p:nvSpPr>
          <p:cNvPr id="3" name="Content Placeholder 2"/>
          <p:cNvSpPr>
            <a:spLocks noGrp="1"/>
          </p:cNvSpPr>
          <p:nvPr>
            <p:ph idx="1"/>
          </p:nvPr>
        </p:nvSpPr>
        <p:spPr/>
        <p:txBody>
          <a:bodyPr>
            <a:normAutofit/>
          </a:bodyPr>
          <a:lstStyle/>
          <a:p>
            <a:pPr>
              <a:buFont typeface="Wingdings" panose="05000000000000000000" charset="0"/>
              <a:buChar char="Ø"/>
            </a:pPr>
            <a:r>
              <a:rPr lang="en-US" sz="3200" b="1" dirty="0"/>
              <a:t>HTTP (Hypertext Transfer Protocol)</a:t>
            </a:r>
            <a:br>
              <a:rPr lang="en-US" sz="3200" dirty="0"/>
            </a:br>
            <a:r>
              <a:rPr lang="en-US" sz="3200" dirty="0"/>
              <a:t>Used to transfer web resources between clients and servers.</a:t>
            </a:r>
            <a:endParaRPr lang="en-US" sz="3200" dirty="0"/>
          </a:p>
          <a:p>
            <a:pPr>
              <a:buFont typeface="Wingdings" panose="05000000000000000000" charset="0"/>
              <a:buChar char="Ø"/>
            </a:pPr>
            <a:r>
              <a:rPr lang="en-US" sz="3200" b="1" dirty="0"/>
              <a:t>HTTPS </a:t>
            </a:r>
            <a:r>
              <a:rPr lang="en-US" b="1" dirty="0">
                <a:sym typeface="+mn-ea"/>
              </a:rPr>
              <a:t>(Hypertext Transfer Protocol Security)</a:t>
            </a:r>
            <a:br>
              <a:rPr lang="en-US" sz="3200" dirty="0"/>
            </a:br>
            <a:r>
              <a:rPr lang="en-US" sz="3200" dirty="0"/>
              <a:t>HTTP carried over a secure connection, typically using TLS.</a:t>
            </a:r>
            <a:endParaRPr lang="en-US" sz="3200" dirty="0"/>
          </a:p>
          <a:p>
            <a:pPr>
              <a:buFont typeface="Wingdings" panose="05000000000000000000" charset="0"/>
              <a:buChar char="Ø"/>
            </a:pPr>
            <a:r>
              <a:rPr lang="en-US" sz="3200" b="1" dirty="0"/>
              <a:t>FTP (File Transfer Protocol)</a:t>
            </a:r>
            <a:br>
              <a:rPr lang="en-US" sz="3200" dirty="0"/>
            </a:br>
            <a:r>
              <a:rPr lang="en-US" sz="3200" dirty="0"/>
              <a:t>Used for transferring files between </a:t>
            </a:r>
            <a:endParaRPr lang="en-US" sz="32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p:txBody>
          <a:bodyPr>
            <a:normAutofit/>
          </a:bodyPr>
          <a:lstStyle/>
          <a:p>
            <a:pPr>
              <a:buFont typeface="Wingdings" panose="05000000000000000000" charset="0"/>
              <a:buChar char="Ø"/>
            </a:pPr>
            <a:r>
              <a:rPr lang="en-GB" sz="4000" dirty="0" smtClean="0"/>
              <a:t> </a:t>
            </a:r>
            <a:r>
              <a:rPr lang="en-US" sz="4000" b="1" dirty="0"/>
              <a:t>SMTP (Simple Mail Transfer Protocol)</a:t>
            </a:r>
            <a:br>
              <a:rPr lang="en-US" sz="4000" dirty="0"/>
            </a:br>
            <a:r>
              <a:rPr lang="en-US" sz="4000" dirty="0"/>
              <a:t>Used primarily to send and relay email.</a:t>
            </a:r>
            <a:endParaRPr lang="en-US" sz="4000" dirty="0"/>
          </a:p>
          <a:p>
            <a:pPr>
              <a:buFont typeface="Wingdings" panose="05000000000000000000" charset="0"/>
              <a:buChar char="Ø"/>
            </a:pPr>
            <a:r>
              <a:rPr lang="en-US" sz="4000" b="1" dirty="0"/>
              <a:t>DNS (Domain Name System)</a:t>
            </a:r>
            <a:br>
              <a:rPr lang="en-US" sz="4000" dirty="0"/>
            </a:br>
            <a:r>
              <a:rPr lang="en-US" sz="4000" dirty="0"/>
              <a:t>Translates domain names such as example.com into IP addresses and performs other name-related functions</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p:txBody>
          <a:bodyPr>
            <a:normAutofit/>
          </a:bodyPr>
          <a:lstStyle/>
          <a:p>
            <a:pPr>
              <a:buFont typeface="Wingdings" panose="05000000000000000000" charset="0"/>
              <a:buChar char="Ø"/>
            </a:pPr>
            <a:r>
              <a:rPr lang="en-US" sz="3200" b="1" dirty="0"/>
              <a:t>SSH (Secure Shell)</a:t>
            </a:r>
            <a:br>
              <a:rPr lang="en-US" sz="3200" dirty="0"/>
            </a:br>
            <a:r>
              <a:rPr lang="en-US" sz="3200" dirty="0"/>
              <a:t>Provides secure remote login and command execution.</a:t>
            </a:r>
            <a:endParaRPr lang="en-US" sz="3200" dirty="0"/>
          </a:p>
          <a:p>
            <a:pPr>
              <a:buFont typeface="Wingdings" panose="05000000000000000000" charset="0"/>
              <a:buChar char="Ø"/>
            </a:pPr>
            <a:r>
              <a:rPr lang="en-US" sz="3200" b="1" dirty="0"/>
              <a:t>DHCP (Dynamic Host Configuration Protocol)</a:t>
            </a:r>
            <a:br>
              <a:rPr lang="en-US" sz="3200" dirty="0"/>
            </a:br>
            <a:r>
              <a:rPr lang="en-US" sz="3200" dirty="0"/>
              <a:t>Automatically provides hosts with network configuration such as IP addresses, subnet information, and default gateways.</a:t>
            </a:r>
            <a:endParaRPr lang="en-US" sz="3200" dirty="0"/>
          </a:p>
          <a:p>
            <a:pPr marL="0" indent="0">
              <a:buNone/>
            </a:pPr>
            <a:r>
              <a:rPr lang="en-US" sz="3200" b="1" dirty="0"/>
              <a:t> </a:t>
            </a:r>
            <a:endParaRPr lang="en-US" sz="3200"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034415"/>
            <a:ext cx="10972800" cy="3755390"/>
          </a:xfrm>
        </p:spPr>
        <p:txBody>
          <a:bodyPr/>
          <a:p>
            <a:r>
              <a:rPr lang="en-US" altLang="en-GB" sz="4000" b="1"/>
              <a:t>QN.2</a:t>
            </a:r>
            <a:br>
              <a:rPr lang="en-US" altLang="en-GB" sz="4000" b="1"/>
            </a:br>
            <a:r>
              <a:rPr lang="en-US" altLang="en-GB" sz="4000" b="1"/>
              <a:t>Discuss the TCP/IP model,specifying its layers and the responsiblities of each layer and protocols that operate on each layer and what the protocols do?</a:t>
            </a:r>
            <a:endParaRPr lang="en-US" altLang="en-GB" sz="4000" b="1"/>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ltLang="en-GB" b="1"/>
              <a:t>TRANSMISSION CONTROL PROTOCOL/INTERNET PROTOCOL</a:t>
            </a:r>
            <a:endParaRPr lang="en-US" altLang="en-GB" b="1"/>
          </a:p>
        </p:txBody>
      </p:sp>
      <p:sp>
        <p:nvSpPr>
          <p:cNvPr id="3" name="Subtitle 2"/>
          <p:cNvSpPr>
            <a:spLocks noGrp="1"/>
          </p:cNvSpPr>
          <p:nvPr>
            <p:ph type="subTitle" idx="1"/>
          </p:nvPr>
        </p:nvSpPr>
        <p:spPr>
          <a:xfrm>
            <a:off x="980440" y="2927350"/>
            <a:ext cx="10301605" cy="3218815"/>
          </a:xfrm>
        </p:spPr>
        <p:txBody>
          <a:bodyPr/>
          <a:lstStyle/>
          <a:p>
            <a:r>
              <a:rPr lang="en-US" altLang="en-GB" sz="7200" b="1"/>
              <a:t>TCP/IP</a:t>
            </a:r>
            <a:endParaRPr lang="en-US" altLang="en-GB" sz="7200" b="1"/>
          </a:p>
          <a:p>
            <a:pPr algn="l"/>
            <a:r>
              <a:rPr lang="en-US" altLang="en-GB" sz="4000" b="1"/>
              <a:t>It is the basic set of rules that lets computers share data over the internet and local network.</a:t>
            </a:r>
            <a:endParaRPr lang="en-US" altLang="en-GB" sz="4000" b="1"/>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99745"/>
            <a:ext cx="10515600" cy="1743710"/>
          </a:xfrm>
        </p:spPr>
        <p:txBody>
          <a:bodyPr>
            <a:noAutofit/>
          </a:bodyPr>
          <a:lstStyle/>
          <a:p>
            <a:pPr algn="ctr"/>
            <a:r>
              <a:rPr lang="en-US" sz="3200" dirty="0" smtClean="0"/>
              <a:t> </a:t>
            </a:r>
            <a:r>
              <a:rPr lang="en-US" sz="8000" b="1" dirty="0" smtClean="0"/>
              <a:t>TCP/IP</a:t>
            </a:r>
            <a:endParaRPr lang="en-US" sz="8000" b="1" dirty="0" smtClean="0"/>
          </a:p>
        </p:txBody>
      </p:sp>
      <p:sp>
        <p:nvSpPr>
          <p:cNvPr id="3" name="Content Placeholder 2"/>
          <p:cNvSpPr>
            <a:spLocks noGrp="1"/>
          </p:cNvSpPr>
          <p:nvPr>
            <p:ph idx="1"/>
          </p:nvPr>
        </p:nvSpPr>
        <p:spPr>
          <a:xfrm>
            <a:off x="609600" y="2242820"/>
            <a:ext cx="10972800" cy="3884930"/>
          </a:xfrm>
        </p:spPr>
        <p:txBody>
          <a:bodyPr>
            <a:normAutofit/>
          </a:bodyPr>
          <a:lstStyle/>
          <a:p>
            <a:pPr marL="0" indent="0">
              <a:buNone/>
            </a:pPr>
            <a:endParaRPr lang="en-US" sz="3200" dirty="0" smtClean="0"/>
          </a:p>
          <a:p>
            <a:pPr marL="0" indent="0">
              <a:buNone/>
            </a:pPr>
            <a:r>
              <a:rPr lang="en-US" sz="3200" dirty="0"/>
              <a:t>  The networking framework used as the foundation of the modern Internet. It describes how data is communicated between devices by dividing networking functions into four layers.</a:t>
            </a:r>
            <a:endParaRPr lang="en-US" sz="3200" dirty="0"/>
          </a:p>
          <a:p>
            <a:pPr marL="0" indent="0">
              <a:buNone/>
            </a:pPr>
            <a:r>
              <a:rPr lang="en-US" sz="3200" dirty="0"/>
              <a:t>   Unlike the seven-layer OSI model, the traditional TCP/IP model has four layers:</a:t>
            </a:r>
            <a:endParaRPr lang="en-US" sz="32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LAYERS UNDER TCP/IP MODEL INCLUDE;</a:t>
            </a:r>
            <a:endParaRPr lang="en-US" b="1" dirty="0"/>
          </a:p>
        </p:txBody>
      </p:sp>
      <p:sp>
        <p:nvSpPr>
          <p:cNvPr id="3" name="Content Placeholder 2"/>
          <p:cNvSpPr>
            <a:spLocks noGrp="1"/>
          </p:cNvSpPr>
          <p:nvPr>
            <p:ph idx="1"/>
          </p:nvPr>
        </p:nvSpPr>
        <p:spPr/>
        <p:txBody>
          <a:bodyPr/>
          <a:lstStyle/>
          <a:p>
            <a:pPr marL="1200150" lvl="1" indent="-742950">
              <a:buFont typeface="+mj-lt"/>
              <a:buAutoNum type="arabicPeriod"/>
            </a:pPr>
            <a:r>
              <a:rPr lang="en-US" sz="4400" dirty="0"/>
              <a:t>Application Layer</a:t>
            </a:r>
            <a:endParaRPr lang="en-US" sz="4400" dirty="0"/>
          </a:p>
          <a:p>
            <a:pPr marL="1200150" lvl="1" indent="-742950">
              <a:buFont typeface="+mj-lt"/>
              <a:buAutoNum type="arabicPeriod"/>
            </a:pPr>
            <a:r>
              <a:rPr lang="en-US" sz="4400" dirty="0"/>
              <a:t>Transport Layer</a:t>
            </a:r>
            <a:endParaRPr lang="en-US" sz="4400" dirty="0"/>
          </a:p>
          <a:p>
            <a:pPr marL="1200150" lvl="1" indent="-742950">
              <a:buFont typeface="+mj-lt"/>
              <a:buAutoNum type="arabicPeriod"/>
            </a:pPr>
            <a:r>
              <a:rPr lang="en-US" sz="4400" dirty="0"/>
              <a:t>Internet Layer</a:t>
            </a:r>
            <a:endParaRPr lang="en-US" sz="4400" dirty="0"/>
          </a:p>
          <a:p>
            <a:pPr marL="1200150" lvl="1" indent="-742950">
              <a:buFont typeface="+mj-lt"/>
              <a:buAutoNum type="arabicPeriod"/>
            </a:pPr>
            <a:r>
              <a:rPr lang="en-US" sz="4400" dirty="0"/>
              <a:t>Network Access Layer</a:t>
            </a:r>
            <a:endParaRPr lang="en-US" sz="4400"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337310"/>
          </a:xfrm>
        </p:spPr>
        <p:txBody>
          <a:bodyPr/>
          <a:lstStyle/>
          <a:p>
            <a:pPr algn="ctr"/>
            <a:r>
              <a:rPr lang="en-US" sz="4000" b="1" dirty="0"/>
              <a:t>1. Application </a:t>
            </a:r>
            <a:r>
              <a:rPr lang="en-US" sz="4000" b="1" dirty="0" smtClean="0"/>
              <a:t>Layer</a:t>
            </a:r>
            <a:endParaRPr lang="en-US" sz="4000" b="1" dirty="0" smtClean="0"/>
          </a:p>
        </p:txBody>
      </p:sp>
      <p:sp>
        <p:nvSpPr>
          <p:cNvPr id="3" name="Content Placeholder 2"/>
          <p:cNvSpPr>
            <a:spLocks noGrp="1"/>
          </p:cNvSpPr>
          <p:nvPr>
            <p:ph idx="1"/>
          </p:nvPr>
        </p:nvSpPr>
        <p:spPr>
          <a:xfrm>
            <a:off x="609600" y="1955800"/>
            <a:ext cx="10972800" cy="4171950"/>
          </a:xfrm>
        </p:spPr>
        <p:txBody>
          <a:bodyPr>
            <a:normAutofit/>
          </a:bodyPr>
          <a:lstStyle/>
          <a:p>
            <a:pPr marL="0" indent="0">
              <a:buNone/>
            </a:pPr>
            <a:r>
              <a:rPr lang="en-US" sz="4000" dirty="0"/>
              <a:t>The </a:t>
            </a:r>
            <a:r>
              <a:rPr lang="en-US" sz="4000" b="1" dirty="0"/>
              <a:t>Application Layer</a:t>
            </a:r>
            <a:r>
              <a:rPr lang="en-US" sz="4000" dirty="0"/>
              <a:t> is the top layer of the TCP/IP model. It provides network services directly to applications and combines the functions of the </a:t>
            </a:r>
            <a:r>
              <a:rPr lang="en-US" sz="4000" b="1" dirty="0"/>
              <a:t>Application, Presentation, </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460500"/>
          </a:xfrm>
        </p:spPr>
        <p:txBody>
          <a:bodyPr/>
          <a:lstStyle/>
          <a:p>
            <a:pPr algn="ctr"/>
            <a:r>
              <a:rPr lang="en-US" sz="4400" b="1" dirty="0" smtClean="0"/>
              <a:t>Responsibilities for TCP/IP MODEL</a:t>
            </a:r>
            <a:br>
              <a:rPr lang="en-US" sz="4400" dirty="0"/>
            </a:br>
            <a:endParaRPr lang="en-US" sz="4400" dirty="0"/>
          </a:p>
        </p:txBody>
      </p:sp>
      <p:sp>
        <p:nvSpPr>
          <p:cNvPr id="3" name="Content Placeholder 2"/>
          <p:cNvSpPr>
            <a:spLocks noGrp="1"/>
          </p:cNvSpPr>
          <p:nvPr>
            <p:ph idx="1"/>
          </p:nvPr>
        </p:nvSpPr>
        <p:spPr>
          <a:xfrm>
            <a:off x="609600" y="1532255"/>
            <a:ext cx="10972800" cy="4595495"/>
          </a:xfrm>
        </p:spPr>
        <p:txBody>
          <a:bodyPr>
            <a:normAutofit/>
          </a:bodyPr>
          <a:lstStyle/>
          <a:p>
            <a:pPr lvl="1">
              <a:buFont typeface="Wingdings" panose="05000000000000000000" charset="0"/>
              <a:buChar char="Ø"/>
            </a:pPr>
            <a:r>
              <a:rPr lang="en-US" sz="3000" dirty="0"/>
              <a:t>Provides services that network applications use to communicate.</a:t>
            </a:r>
            <a:endParaRPr lang="en-US" sz="3000" dirty="0"/>
          </a:p>
          <a:p>
            <a:pPr lvl="1">
              <a:buFont typeface="Wingdings" panose="05000000000000000000" charset="0"/>
              <a:buChar char="Ø"/>
            </a:pPr>
            <a:r>
              <a:rPr lang="en-US" sz="3000" dirty="0"/>
              <a:t>Defines the format and meaning of application-level messages.</a:t>
            </a:r>
            <a:endParaRPr lang="en-US" sz="3000" dirty="0"/>
          </a:p>
          <a:p>
            <a:pPr lvl="1">
              <a:buFont typeface="Wingdings" panose="05000000000000000000" charset="0"/>
              <a:buChar char="Ø"/>
            </a:pPr>
            <a:r>
              <a:rPr lang="en-US" sz="3000" dirty="0"/>
              <a:t>Handles data representation and, in some cases, encryption and compression.</a:t>
            </a:r>
            <a:endParaRPr lang="en-US" sz="3000" dirty="0"/>
          </a:p>
          <a:p>
            <a:pPr lvl="1">
              <a:buFont typeface="Wingdings" panose="05000000000000000000" charset="0"/>
              <a:buChar char="Ø"/>
            </a:pPr>
            <a:r>
              <a:rPr lang="en-US" sz="3000" dirty="0"/>
              <a:t>Establishes and manages application-level communication.</a:t>
            </a:r>
            <a:endParaRPr lang="en-US" sz="3000" dirty="0"/>
          </a:p>
          <a:p>
            <a:pPr lvl="1">
              <a:buFont typeface="Wingdings" panose="05000000000000000000" charset="0"/>
              <a:buChar char="Ø"/>
            </a:pPr>
            <a:r>
              <a:rPr lang="en-US" sz="3000" dirty="0"/>
              <a:t>Provides services such as web browsing, email, file transfer, and name resolution.</a:t>
            </a:r>
            <a:endParaRPr lang="en-US" sz="3000" dirty="0"/>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3615"/>
          </a:xfrm>
        </p:spPr>
        <p:txBody>
          <a:bodyPr/>
          <a:lstStyle/>
          <a:p>
            <a:pPr algn="ctr"/>
            <a:r>
              <a:rPr lang="en-US" b="1" dirty="0"/>
              <a:t>FOREXAMPLE</a:t>
            </a:r>
            <a:endParaRPr lang="en-US" b="1" dirty="0"/>
          </a:p>
        </p:txBody>
      </p:sp>
      <p:sp>
        <p:nvSpPr>
          <p:cNvPr id="3" name="Content Placeholder 2"/>
          <p:cNvSpPr>
            <a:spLocks noGrp="1"/>
          </p:cNvSpPr>
          <p:nvPr>
            <p:ph idx="1"/>
          </p:nvPr>
        </p:nvSpPr>
        <p:spPr>
          <a:xfrm>
            <a:off x="609600" y="1279525"/>
            <a:ext cx="10972800" cy="4848225"/>
          </a:xfrm>
        </p:spPr>
        <p:txBody>
          <a:bodyPr>
            <a:normAutofit/>
          </a:bodyPr>
          <a:lstStyle/>
          <a:p>
            <a:pPr marL="0" indent="0">
              <a:buNone/>
            </a:pPr>
            <a:r>
              <a:rPr lang="en-US" sz="3600" dirty="0" smtClean="0"/>
              <a:t>  When </a:t>
            </a:r>
            <a:r>
              <a:rPr lang="en-US" sz="3600" dirty="0"/>
              <a:t>you type a website address into a browser, </a:t>
            </a:r>
            <a:r>
              <a:rPr lang="en-US" sz="3600" b="1" dirty="0"/>
              <a:t>HTTP/HTTPS</a:t>
            </a:r>
            <a:r>
              <a:rPr lang="en-US" sz="3600" dirty="0"/>
              <a:t> operates at the Application Layer to define the request and response between your browser and the web server.</a:t>
            </a:r>
            <a:endParaRPr lang="en-US" sz="3600" dirty="0"/>
          </a:p>
          <a:p>
            <a:pPr marL="0" indent="0">
              <a:buNone/>
            </a:pPr>
            <a:r>
              <a:rPr lang="en-US" sz="3600" b="1" dirty="0" smtClean="0"/>
              <a:t>  Data </a:t>
            </a:r>
            <a:r>
              <a:rPr lang="en-US" sz="3600" b="1" dirty="0"/>
              <a:t>unit:</a:t>
            </a:r>
            <a:r>
              <a:rPr lang="en-US" sz="3600" dirty="0"/>
              <a:t> Message/Data</a:t>
            </a:r>
            <a:endParaRPr lang="en-US" sz="3600" dirty="0"/>
          </a:p>
          <a:p>
            <a:pPr marL="0" indent="0">
              <a:buNone/>
            </a:pPr>
            <a:endParaRPr lang="en-US" sz="36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245870"/>
          </a:xfrm>
        </p:spPr>
        <p:txBody>
          <a:bodyPr/>
          <a:lstStyle/>
          <a:p>
            <a:r>
              <a:rPr lang="en-GB" dirty="0" smtClean="0"/>
              <a:t>PROTOCOLS UNDER TCP/IP MODEL</a:t>
            </a:r>
            <a:endParaRPr lang="en-US" dirty="0"/>
          </a:p>
        </p:txBody>
      </p:sp>
      <p:graphicFrame>
        <p:nvGraphicFramePr>
          <p:cNvPr id="4" name="Content Placeholder 3"/>
          <p:cNvGraphicFramePr>
            <a:graphicFrameLocks noGrp="1"/>
          </p:cNvGraphicFramePr>
          <p:nvPr>
            <p:ph idx="1"/>
            <p:custDataLst>
              <p:tags r:id="rId1"/>
            </p:custDataLst>
          </p:nvPr>
        </p:nvGraphicFramePr>
        <p:xfrm>
          <a:off x="685800" y="1807210"/>
          <a:ext cx="10820400" cy="4794885"/>
        </p:xfrm>
        <a:graphic>
          <a:graphicData uri="http://schemas.openxmlformats.org/drawingml/2006/table">
            <a:tbl>
              <a:tblPr firstRow="1" bandRow="1">
                <a:tableStyleId>{5C22544A-7EE6-4342-B048-85BDC9FD1C3A}</a:tableStyleId>
              </a:tblPr>
              <a:tblGrid>
                <a:gridCol w="3606800"/>
                <a:gridCol w="3606800"/>
                <a:gridCol w="3606800"/>
              </a:tblGrid>
              <a:tr h="779145">
                <a:tc>
                  <a:txBody>
                    <a:bodyPr/>
                    <a:lstStyle/>
                    <a:p>
                      <a:pPr algn="ct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Protocol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c>
                  <a:txBody>
                    <a:bodyPr/>
                    <a:lstStyle/>
                    <a:p>
                      <a:pPr algn="ct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Full name</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c>
                  <a:txBody>
                    <a:bodyPr/>
                    <a:lstStyle/>
                    <a:p>
                      <a:pPr algn="ct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What it does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r>
              <a:tr h="777875">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HTTP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Hypertext Transfer Protocol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Transfers web pages and other web resources between clients and servers.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r>
              <a:tr h="901700">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HTTPS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HTTP Secure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Provides HTTP communication protected by TLS encryption and authentication.</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r>
              <a:tr h="779145">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FTP</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File Transfer Protocol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Transfers files between computers.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r>
              <a:tr h="777875">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SMTP</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Simple Mail Transfer Protocol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Sends and relays email messages.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r>
              <a:tr h="779145">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POP3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Post Office Protocol version 3</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Downloads email messages from a mail server to a client.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801" marR="9801" marT="9525" marB="9525"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graphicFrame>
        <p:nvGraphicFramePr>
          <p:cNvPr id="4" name="Content Placeholder 3"/>
          <p:cNvGraphicFramePr>
            <a:graphicFrameLocks noGrp="1"/>
          </p:cNvGraphicFramePr>
          <p:nvPr>
            <p:ph idx="1"/>
          </p:nvPr>
        </p:nvGraphicFramePr>
        <p:xfrm>
          <a:off x="838200" y="365124"/>
          <a:ext cx="10515600" cy="6188937"/>
        </p:xfrm>
        <a:graphic>
          <a:graphicData uri="http://schemas.openxmlformats.org/drawingml/2006/table">
            <a:tbl>
              <a:tblPr firstRow="1" bandRow="1">
                <a:tableStyleId>{5C22544A-7EE6-4342-B048-85BDC9FD1C3A}</a:tableStyleId>
              </a:tblPr>
              <a:tblGrid>
                <a:gridCol w="3505200"/>
                <a:gridCol w="3505200"/>
                <a:gridCol w="3505200"/>
              </a:tblGrid>
              <a:tr h="810391">
                <a:tc>
                  <a:txBody>
                    <a:bodyPr/>
                    <a:lstStyle/>
                    <a:p>
                      <a:pPr algn="ct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Protocol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Full name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What it does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810391">
                <a:tc>
                  <a:txBody>
                    <a:bodyPr/>
                    <a:lstStyle/>
                    <a:p>
                      <a:pPr>
                        <a:lnSpc>
                          <a:spcPct val="107000"/>
                        </a:lnSpc>
                        <a:spcAft>
                          <a:spcPts val="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IMAP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Internet Message Access Protocol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Allows clients to access and manage email stored on a mail server.</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933692">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DNS</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Domain Name System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Converts domain names such as </a:t>
                      </a:r>
                      <a:r>
                        <a:rPr lang="en-US" sz="1800" dirty="0">
                          <a:effectLst/>
                          <a:latin typeface="var(--type-code-font-family)"/>
                          <a:ea typeface="Times New Roman" panose="02020603050405020304" pitchFamily="18" charset="0"/>
                          <a:cs typeface="Courier New" panose="02070309020205020404" pitchFamily="49" charset="0"/>
                        </a:rPr>
                        <a:t>example.com</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into IP addresses and performs other DNS lookups.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1243315">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DHCP</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Dynamic Host Configuration Protocol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Automatically provides devices with IP configuration such as an IP address, subnet information, and gateway.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810391">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SSH</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Secure Shell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Provides secure remote login and command execution.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933692">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Telnet</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Teletype Network</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Provides remote terminal access, but without the encryption provided by SSH.</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647065">
                <a:tc>
                  <a:txBody>
                    <a:bodyPr/>
                    <a:lstStyle/>
                    <a:p>
                      <a:pPr>
                        <a:lnSpc>
                          <a:spcPct val="107000"/>
                        </a:lnSpc>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SNMP</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a:effectLst/>
                          <a:latin typeface="Times New Roman" panose="02020603050405020304" pitchFamily="18" charset="0"/>
                          <a:ea typeface="Times New Roman" panose="02020603050405020304" pitchFamily="18" charset="0"/>
                          <a:cs typeface="Times New Roman" panose="02020603050405020304" pitchFamily="18" charset="0"/>
                        </a:rPr>
                        <a:t>Simple Network Management Protocol</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Allows network devices to be monitored and managed.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865505"/>
          </a:xfrm>
        </p:spPr>
        <p:txBody>
          <a:bodyPr/>
          <a:lstStyle/>
          <a:p>
            <a:pPr algn="ctr"/>
            <a:r>
              <a:rPr lang="en-US" sz="4000" b="1" dirty="0"/>
              <a:t>2. Transport </a:t>
            </a:r>
            <a:r>
              <a:rPr lang="en-US" sz="4000" b="1" dirty="0" smtClean="0"/>
              <a:t>Layer</a:t>
            </a:r>
            <a:endParaRPr lang="en-US" sz="4000"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sz="3600" dirty="0" smtClean="0"/>
              <a:t>  The</a:t>
            </a:r>
            <a:r>
              <a:rPr lang="en-US" sz="3600" dirty="0"/>
              <a:t> </a:t>
            </a:r>
            <a:r>
              <a:rPr lang="en-US" sz="3600" b="1" dirty="0"/>
              <a:t>Transport Layer</a:t>
            </a:r>
            <a:r>
              <a:rPr lang="en-US" sz="3600" dirty="0"/>
              <a:t> provides </a:t>
            </a:r>
            <a:r>
              <a:rPr lang="en-US" sz="3600" b="1" dirty="0"/>
              <a:t>end-to-end communication between applications</a:t>
            </a:r>
            <a:r>
              <a:rPr lang="en-US" sz="3600" dirty="0"/>
              <a:t> running on different devices.</a:t>
            </a:r>
            <a:endParaRPr lang="en-US" sz="3600" dirty="0"/>
          </a:p>
          <a:p>
            <a:pPr marL="0" indent="0">
              <a:buNone/>
            </a:pPr>
            <a:r>
              <a:rPr lang="en-US" sz="3600" dirty="0"/>
              <a:t> </a:t>
            </a:r>
            <a:r>
              <a:rPr lang="en-US" sz="3600" dirty="0" smtClean="0"/>
              <a:t> It </a:t>
            </a:r>
            <a:r>
              <a:rPr lang="en-US" sz="3600" dirty="0"/>
              <a:t>is responsible for determining how application data is delivered from one process to another.</a:t>
            </a:r>
            <a:endParaRPr lang="en-US" sz="3600"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059815"/>
          </a:xfrm>
        </p:spPr>
        <p:txBody>
          <a:bodyPr/>
          <a:lstStyle/>
          <a:p>
            <a:pPr algn="ctr"/>
            <a:r>
              <a:rPr lang="en-US" b="1" dirty="0" smtClean="0"/>
              <a:t>Responsibilities</a:t>
            </a:r>
            <a:r>
              <a:rPr lang="en-US" dirty="0" smtClean="0"/>
              <a:t> </a:t>
            </a:r>
            <a:r>
              <a:rPr lang="en-US" b="1" dirty="0" smtClean="0"/>
              <a:t>under Transport Layer</a:t>
            </a:r>
            <a:endParaRPr lang="en-US" b="1" dirty="0"/>
          </a:p>
        </p:txBody>
      </p:sp>
      <p:sp>
        <p:nvSpPr>
          <p:cNvPr id="3" name="Content Placeholder 2"/>
          <p:cNvSpPr>
            <a:spLocks noGrp="1"/>
          </p:cNvSpPr>
          <p:nvPr>
            <p:ph idx="1"/>
          </p:nvPr>
        </p:nvSpPr>
        <p:spPr>
          <a:xfrm>
            <a:off x="826770" y="1450975"/>
            <a:ext cx="10813415" cy="5051425"/>
          </a:xfrm>
        </p:spPr>
        <p:txBody>
          <a:bodyPr>
            <a:noAutofit/>
          </a:bodyPr>
          <a:lstStyle/>
          <a:p>
            <a:pPr lvl="1">
              <a:buFont typeface="Wingdings" panose="05000000000000000000" pitchFamily="2" charset="2"/>
              <a:buChar char="Ø"/>
            </a:pPr>
            <a:r>
              <a:rPr lang="en-US" sz="2800" dirty="0"/>
              <a:t>Provides end-to-end communication.</a:t>
            </a:r>
            <a:endParaRPr lang="en-US" sz="2800" dirty="0"/>
          </a:p>
          <a:p>
            <a:pPr lvl="1">
              <a:buFont typeface="Wingdings" panose="05000000000000000000" pitchFamily="2" charset="2"/>
              <a:buChar char="Ø"/>
            </a:pPr>
            <a:r>
              <a:rPr lang="en-US" sz="2800" dirty="0"/>
              <a:t>Breaks application data into smaller units when necessary.</a:t>
            </a:r>
            <a:endParaRPr lang="en-US" sz="2800" dirty="0"/>
          </a:p>
          <a:p>
            <a:pPr lvl="1">
              <a:buFont typeface="Wingdings" panose="05000000000000000000" pitchFamily="2" charset="2"/>
              <a:buChar char="Ø"/>
            </a:pPr>
            <a:r>
              <a:rPr lang="en-US" sz="2800" dirty="0"/>
              <a:t>Reassembles data at the destination.</a:t>
            </a:r>
            <a:endParaRPr lang="en-US" sz="2800" dirty="0"/>
          </a:p>
          <a:p>
            <a:pPr lvl="1">
              <a:buFont typeface="Wingdings" panose="05000000000000000000" pitchFamily="2" charset="2"/>
              <a:buChar char="Ø"/>
            </a:pPr>
            <a:r>
              <a:rPr lang="en-US" sz="2800" dirty="0"/>
              <a:t>Uses </a:t>
            </a:r>
            <a:r>
              <a:rPr lang="en-US" sz="2800" b="1" dirty="0"/>
              <a:t>port numbers</a:t>
            </a:r>
            <a:r>
              <a:rPr lang="en-US" sz="2800" dirty="0"/>
              <a:t> to identify applications.</a:t>
            </a:r>
            <a:endParaRPr lang="en-US" sz="2800" dirty="0"/>
          </a:p>
          <a:p>
            <a:pPr lvl="1">
              <a:buFont typeface="Wingdings" panose="05000000000000000000" pitchFamily="2" charset="2"/>
              <a:buChar char="Ø"/>
            </a:pPr>
            <a:r>
              <a:rPr lang="en-US" sz="2800" dirty="0"/>
              <a:t>Provides reliable delivery when required.</a:t>
            </a:r>
            <a:endParaRPr lang="en-US" sz="2800" dirty="0"/>
          </a:p>
          <a:p>
            <a:pPr lvl="1">
              <a:buFont typeface="Wingdings" panose="05000000000000000000" pitchFamily="2" charset="2"/>
              <a:buChar char="Ø"/>
            </a:pPr>
            <a:r>
              <a:rPr lang="en-US" sz="2800" dirty="0"/>
              <a:t>Performs error detection and recovery.</a:t>
            </a:r>
            <a:endParaRPr lang="en-US" sz="2800" dirty="0"/>
          </a:p>
          <a:p>
            <a:pPr lvl="1">
              <a:buFont typeface="Wingdings" panose="05000000000000000000" pitchFamily="2" charset="2"/>
              <a:buChar char="Ø"/>
            </a:pPr>
            <a:r>
              <a:rPr lang="en-US" sz="2800" dirty="0"/>
              <a:t>Provides flow control.</a:t>
            </a:r>
            <a:endParaRPr lang="en-US" sz="2800" dirty="0"/>
          </a:p>
          <a:p>
            <a:pPr lvl="1">
              <a:buFont typeface="Wingdings" panose="05000000000000000000" pitchFamily="2" charset="2"/>
              <a:buChar char="Ø"/>
            </a:pPr>
            <a:r>
              <a:rPr lang="en-US" sz="2800" dirty="0"/>
              <a:t>TCP also provides congestion control</a:t>
            </a:r>
            <a:r>
              <a:rPr lang="en-US" sz="2800" dirty="0" smtClean="0"/>
              <a:t>.</a:t>
            </a:r>
            <a:endParaRPr lang="en-US" sz="2800" dirty="0" smtClean="0"/>
          </a:p>
          <a:p>
            <a:pPr lvl="1">
              <a:buFont typeface="Wingdings" panose="05000000000000000000" pitchFamily="2" charset="2"/>
              <a:buChar char="Ø"/>
            </a:pPr>
            <a:r>
              <a:rPr lang="en-US" sz="2800" dirty="0" smtClean="0"/>
              <a:t> Can </a:t>
            </a:r>
            <a:r>
              <a:rPr lang="en-US" sz="2800" dirty="0"/>
              <a:t>provide either connection-oriented or connectionless communication</a:t>
            </a:r>
            <a:endParaRPr lang="en-US" sz="28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3615"/>
          </a:xfrm>
        </p:spPr>
        <p:txBody>
          <a:bodyPr/>
          <a:lstStyle/>
          <a:p>
            <a:pPr algn="ctr"/>
            <a:r>
              <a:rPr lang="en-US" sz="4000" b="1" dirty="0"/>
              <a:t>Major </a:t>
            </a:r>
            <a:r>
              <a:rPr lang="en-US" sz="4000" b="1" dirty="0" smtClean="0"/>
              <a:t>protocols for Transport Layer</a:t>
            </a:r>
            <a:endParaRPr lang="en-US" sz="4000" b="1" dirty="0" smtClean="0"/>
          </a:p>
        </p:txBody>
      </p:sp>
      <p:sp>
        <p:nvSpPr>
          <p:cNvPr id="3" name="Content Placeholder 2"/>
          <p:cNvSpPr>
            <a:spLocks noGrp="1"/>
          </p:cNvSpPr>
          <p:nvPr>
            <p:ph idx="1"/>
          </p:nvPr>
        </p:nvSpPr>
        <p:spPr/>
        <p:txBody>
          <a:bodyPr/>
          <a:lstStyle/>
          <a:p>
            <a:pPr marL="0" indent="0">
              <a:buNone/>
            </a:pPr>
            <a:r>
              <a:rPr lang="en-US" sz="4400" b="1" dirty="0" smtClean="0"/>
              <a:t>     1.TCP </a:t>
            </a:r>
            <a:endParaRPr lang="en-US" sz="4400" b="1" dirty="0"/>
          </a:p>
          <a:p>
            <a:pPr marL="0" indent="0">
              <a:buFont typeface="Wingdings" panose="05000000000000000000" pitchFamily="2" charset="2"/>
              <a:buNone/>
            </a:pPr>
            <a:r>
              <a:rPr lang="en-US" sz="4400" dirty="0"/>
              <a:t>    Its a </a:t>
            </a:r>
            <a:r>
              <a:rPr lang="en-US" sz="4400" b="1" dirty="0"/>
              <a:t>connection-oriented and reliable</a:t>
            </a:r>
            <a:r>
              <a:rPr lang="en-US" sz="4400" dirty="0"/>
              <a:t> transport protocol.</a:t>
            </a:r>
            <a:endParaRPr lang="en-US" sz="4400" dirty="0"/>
          </a:p>
          <a:p>
            <a:pPr marL="0" indent="0">
              <a:buNone/>
            </a:pPr>
            <a:r>
              <a:rPr lang="en-US" sz="4400" dirty="0" smtClean="0">
                <a:sym typeface="+mn-ea"/>
              </a:rPr>
              <a:t> </a:t>
            </a:r>
            <a:r>
              <a:rPr lang="en-US" sz="5400" dirty="0" smtClean="0">
                <a:sym typeface="+mn-ea"/>
              </a:rPr>
              <a:t>It </a:t>
            </a:r>
            <a:r>
              <a:rPr lang="en-US" sz="5400" dirty="0">
                <a:sym typeface="+mn-ea"/>
              </a:rPr>
              <a:t>provides:</a:t>
            </a:r>
            <a:endParaRPr lang="en-US" sz="4400" dirty="0"/>
          </a:p>
          <a:p>
            <a:pPr lvl="1">
              <a:buFont typeface="Wingdings" panose="05000000000000000000" pitchFamily="2" charset="2"/>
              <a:buChar char="Ø"/>
            </a:pPr>
            <a:r>
              <a:rPr lang="en-US" sz="3200" dirty="0">
                <a:sym typeface="+mn-ea"/>
              </a:rPr>
              <a:t>Reliable delivery.</a:t>
            </a:r>
            <a:endParaRPr lang="en-US" sz="3200" dirty="0"/>
          </a:p>
          <a:p>
            <a:pPr lvl="1">
              <a:buFont typeface="Wingdings" panose="05000000000000000000" pitchFamily="2" charset="2"/>
              <a:buChar char="Ø"/>
            </a:pPr>
            <a:r>
              <a:rPr lang="en-US" sz="3200" dirty="0">
                <a:sym typeface="+mn-ea"/>
              </a:rPr>
              <a:t>Correct ordering of data.</a:t>
            </a:r>
            <a:endParaRPr lang="en-US" sz="3200" dirty="0"/>
          </a:p>
          <a:p>
            <a:pPr marL="0" indent="0">
              <a:buFont typeface="Wingdings" panose="05000000000000000000" pitchFamily="2" charset="2"/>
              <a:buNone/>
            </a:pPr>
            <a:endParaRPr lang="en-US" sz="4400" dirty="0"/>
          </a:p>
          <a:p>
            <a:pPr>
              <a:buFont typeface="Wingdings" panose="05000000000000000000" pitchFamily="2" charset="2"/>
              <a:buChar char="Ø"/>
            </a:pPr>
            <a:endParaRPr lang="en-US" sz="4400" dirty="0"/>
          </a:p>
          <a:p>
            <a:pPr marL="0" indent="0">
              <a:buNone/>
            </a:pPr>
            <a:r>
              <a:rPr lang="en-GB" dirty="0" smtClean="0"/>
              <a:t>  </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a:xfrm>
            <a:off x="838200" y="1026795"/>
            <a:ext cx="10515600" cy="4211320"/>
          </a:xfrm>
        </p:spPr>
        <p:txBody>
          <a:bodyPr/>
          <a:lstStyle/>
          <a:p>
            <a:pPr>
              <a:buFont typeface="Wingdings" panose="05000000000000000000" charset="0"/>
              <a:buChar char="Ø"/>
            </a:pPr>
            <a:r>
              <a:rPr lang="en-US" sz="4000" dirty="0"/>
              <a:t>Error detection</a:t>
            </a:r>
            <a:endParaRPr lang="en-US" sz="4000" dirty="0"/>
          </a:p>
          <a:p>
            <a:pPr>
              <a:buFont typeface="Wingdings" panose="05000000000000000000" charset="0"/>
              <a:buChar char="Ø"/>
            </a:pPr>
            <a:r>
              <a:rPr lang="en-US" sz="4000" dirty="0"/>
              <a:t>Retransmission of lost data</a:t>
            </a:r>
            <a:endParaRPr lang="en-US" sz="4000" dirty="0"/>
          </a:p>
          <a:p>
            <a:pPr>
              <a:buFont typeface="Wingdings" panose="05000000000000000000" charset="0"/>
              <a:buChar char="Ø"/>
            </a:pPr>
            <a:r>
              <a:rPr lang="en-US" sz="4000" dirty="0"/>
              <a:t>Flow control.</a:t>
            </a:r>
            <a:endParaRPr lang="en-US" sz="4000" dirty="0"/>
          </a:p>
          <a:p>
            <a:pPr>
              <a:buFont typeface="Wingdings" panose="05000000000000000000" charset="0"/>
              <a:buChar char="Ø"/>
            </a:pPr>
            <a:r>
              <a:rPr lang="en-US" sz="4000" dirty="0"/>
              <a:t>Congestion control.</a:t>
            </a:r>
            <a:endParaRPr lang="en-US" sz="4000" dirty="0"/>
          </a:p>
          <a:p>
            <a:pPr>
              <a:buFont typeface="Wingdings" panose="05000000000000000000" charset="0"/>
              <a:buChar char="Ø"/>
            </a:pPr>
            <a:r>
              <a:rPr lang="en-US" sz="4000" dirty="0"/>
              <a:t>Connection establishment and termination.</a:t>
            </a:r>
            <a:endParaRPr lang="en-US" sz="4000"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a:xfrm>
            <a:off x="609600" y="1174750"/>
            <a:ext cx="10972800" cy="3761105"/>
          </a:xfrm>
        </p:spPr>
        <p:txBody>
          <a:bodyPr>
            <a:normAutofit/>
          </a:bodyPr>
          <a:lstStyle/>
          <a:p>
            <a:pPr>
              <a:buFont typeface="Wingdings" panose="05000000000000000000" pitchFamily="2" charset="2"/>
              <a:buChar char="v"/>
            </a:pPr>
            <a:r>
              <a:rPr lang="en-US" sz="3600" dirty="0">
                <a:sym typeface="+mn-ea"/>
              </a:rPr>
              <a:t>TCP establishes a connection using a </a:t>
            </a:r>
            <a:r>
              <a:rPr lang="en-US" sz="3600" b="1" dirty="0">
                <a:sym typeface="+mn-ea"/>
              </a:rPr>
              <a:t>three-way handshake</a:t>
            </a:r>
            <a:r>
              <a:rPr lang="en-US" sz="3600" dirty="0">
                <a:sym typeface="+mn-ea"/>
              </a:rPr>
              <a:t>:</a:t>
            </a:r>
            <a:endParaRPr lang="en-US" sz="3600" dirty="0"/>
          </a:p>
          <a:p>
            <a:pPr marL="0" indent="0">
              <a:buNone/>
            </a:pPr>
            <a:r>
              <a:rPr lang="en-US" sz="3600" b="1" dirty="0">
                <a:sym typeface="+mn-ea"/>
              </a:rPr>
              <a:t> </a:t>
            </a:r>
            <a:r>
              <a:rPr lang="en-US" sz="3600" b="1" dirty="0" smtClean="0">
                <a:sym typeface="+mn-ea"/>
              </a:rPr>
              <a:t>    SYN </a:t>
            </a:r>
            <a:r>
              <a:rPr lang="en-US" sz="3600" b="1" dirty="0">
                <a:sym typeface="+mn-ea"/>
              </a:rPr>
              <a:t>→ SYN-ACK → ACK</a:t>
            </a:r>
            <a:endParaRPr lang="en-US" sz="3600" dirty="0"/>
          </a:p>
          <a:p>
            <a:pPr marL="0" indent="0">
              <a:buNone/>
            </a:pPr>
            <a:r>
              <a:rPr lang="en-US" sz="3600" dirty="0">
                <a:sym typeface="+mn-ea"/>
              </a:rPr>
              <a:t> </a:t>
            </a:r>
            <a:r>
              <a:rPr lang="en-US" sz="3600" dirty="0" smtClean="0">
                <a:sym typeface="+mn-ea"/>
              </a:rPr>
              <a:t>    For </a:t>
            </a:r>
            <a:r>
              <a:rPr lang="en-US" sz="3600" dirty="0">
                <a:sym typeface="+mn-ea"/>
              </a:rPr>
              <a:t>example, HTTPS commonly uses TCP as its underlying transport</a:t>
            </a:r>
            <a:endParaRPr lang="en-US" sz="3600" dirty="0"/>
          </a:p>
          <a:p>
            <a:pPr>
              <a:buFont typeface="Wingdings" panose="05000000000000000000" pitchFamily="2" charset="2"/>
              <a:buChar char="v"/>
            </a:pPr>
            <a:endParaRPr lang="en-US" sz="36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29895"/>
            <a:ext cx="10972800" cy="5697855"/>
          </a:xfrm>
        </p:spPr>
        <p:txBody>
          <a:bodyPr/>
          <a:lstStyle/>
          <a:p>
            <a:r>
              <a:rPr lang="en-US" altLang="en-GB"/>
              <a:t>SYN(Synchronise): Enables the client to send a packet with a random sequence number to the server to request a connection and synchronise the communication.</a:t>
            </a:r>
            <a:endParaRPr lang="en-US" altLang="en-GB"/>
          </a:p>
          <a:p>
            <a:r>
              <a:rPr lang="en-US" altLang="en-GB"/>
              <a:t>SYN-ACK( </a:t>
            </a:r>
            <a:r>
              <a:rPr lang="en-US" altLang="en-GB">
                <a:sym typeface="+mn-ea"/>
              </a:rPr>
              <a:t>Synchronise-Acknowledgement): The server  recieves the request approves the connection,sends back a packet that acknowledge the client’s sequence number while sending its own sequence number  to  synchronize.</a:t>
            </a:r>
            <a:endParaRPr lang="en-US" altLang="en-GB">
              <a:sym typeface="+mn-ea"/>
            </a:endParaRPr>
          </a:p>
          <a:p>
            <a:r>
              <a:rPr lang="en-US" altLang="en-GB"/>
              <a:t> ACK (</a:t>
            </a:r>
            <a:r>
              <a:rPr lang="en-US" altLang="en-GB">
                <a:sym typeface="+mn-ea"/>
              </a:rPr>
              <a:t>Acknowledgement): The client recieves the server’s approval and sends a final packet back to Acknowlodge the server’s sequence number, completing the secure connection. </a:t>
            </a:r>
            <a:endParaRPr lang="en-US" altLang="en-GB"/>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6050"/>
            <a:ext cx="10972800" cy="1028065"/>
          </a:xfrm>
        </p:spPr>
        <p:txBody>
          <a:bodyPr/>
          <a:lstStyle/>
          <a:p>
            <a:pPr algn="ctr"/>
            <a:r>
              <a:rPr lang="en-US" b="1" dirty="0" smtClean="0"/>
              <a:t>2. UDP (User </a:t>
            </a:r>
            <a:r>
              <a:rPr lang="en-US" b="1" dirty="0"/>
              <a:t>Datagram Protocol)</a:t>
            </a:r>
            <a:endParaRPr lang="en-US" dirty="0"/>
          </a:p>
        </p:txBody>
      </p:sp>
      <p:sp>
        <p:nvSpPr>
          <p:cNvPr id="3" name="Content Placeholder 2"/>
          <p:cNvSpPr>
            <a:spLocks noGrp="1"/>
          </p:cNvSpPr>
          <p:nvPr>
            <p:ph idx="1"/>
          </p:nvPr>
        </p:nvSpPr>
        <p:spPr>
          <a:xfrm>
            <a:off x="609600" y="1382395"/>
            <a:ext cx="10972800" cy="4522470"/>
          </a:xfrm>
        </p:spPr>
        <p:txBody>
          <a:bodyPr/>
          <a:lstStyle/>
          <a:p>
            <a:pPr marL="0" indent="0">
              <a:buNone/>
            </a:pPr>
            <a:r>
              <a:rPr lang="en-US" dirty="0" smtClean="0"/>
              <a:t> UDP </a:t>
            </a:r>
            <a:r>
              <a:rPr lang="en-US" dirty="0"/>
              <a:t>is a </a:t>
            </a:r>
            <a:r>
              <a:rPr lang="en-US" b="1" dirty="0"/>
              <a:t>connectionless</a:t>
            </a:r>
            <a:r>
              <a:rPr lang="en-US" dirty="0"/>
              <a:t> transport protocol with low overhead.</a:t>
            </a:r>
            <a:endParaRPr lang="en-US" dirty="0"/>
          </a:p>
          <a:p>
            <a:pPr marL="0" indent="0">
              <a:buNone/>
            </a:pPr>
            <a:r>
              <a:rPr lang="en-US" dirty="0" smtClean="0"/>
              <a:t>   It </a:t>
            </a:r>
            <a:r>
              <a:rPr lang="en-US" dirty="0"/>
              <a:t>does not guarantee:</a:t>
            </a:r>
            <a:endParaRPr lang="en-US" dirty="0"/>
          </a:p>
          <a:p>
            <a:pPr marL="971550" lvl="1" indent="-514350">
              <a:buFont typeface="+mj-lt"/>
              <a:buAutoNum type="romanUcPeriod"/>
            </a:pPr>
            <a:r>
              <a:rPr lang="en-US" sz="2800" dirty="0"/>
              <a:t>Delivery</a:t>
            </a:r>
            <a:endParaRPr lang="en-US" sz="2800" dirty="0"/>
          </a:p>
          <a:p>
            <a:pPr marL="971550" lvl="1" indent="-514350">
              <a:buFont typeface="+mj-lt"/>
              <a:buAutoNum type="romanUcPeriod"/>
            </a:pPr>
            <a:r>
              <a:rPr lang="en-US" sz="2800" dirty="0"/>
              <a:t>Ordering</a:t>
            </a:r>
            <a:endParaRPr lang="en-US" sz="2800" dirty="0"/>
          </a:p>
          <a:p>
            <a:pPr marL="971550" lvl="1" indent="-514350">
              <a:buFont typeface="+mj-lt"/>
              <a:buAutoNum type="romanUcPeriod"/>
            </a:pPr>
            <a:r>
              <a:rPr lang="en-US" sz="2800" dirty="0"/>
              <a:t>Retransmission</a:t>
            </a:r>
            <a:endParaRPr lang="en-US" sz="2800" dirty="0"/>
          </a:p>
          <a:p>
            <a:pPr marL="0" indent="0">
              <a:buNone/>
            </a:pPr>
            <a:r>
              <a:rPr lang="en-US" dirty="0" smtClean="0"/>
              <a:t>  UDP </a:t>
            </a:r>
            <a:r>
              <a:rPr lang="en-US" dirty="0"/>
              <a:t>is useful when speed and low overhead are more important than guaranteed delivery.</a:t>
            </a:r>
            <a:endParaRPr lang="en-US"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of UDP include</a:t>
            </a:r>
            <a:r>
              <a:rPr lang="en-US" b="1" dirty="0" smtClean="0"/>
              <a:t>:</a:t>
            </a:r>
            <a:endParaRPr lang="en-US" b="1" dirty="0"/>
          </a:p>
        </p:txBody>
      </p:sp>
      <p:sp>
        <p:nvSpPr>
          <p:cNvPr id="3" name="Content Placeholder 2"/>
          <p:cNvSpPr>
            <a:spLocks noGrp="1"/>
          </p:cNvSpPr>
          <p:nvPr>
            <p:ph idx="1"/>
          </p:nvPr>
        </p:nvSpPr>
        <p:spPr/>
        <p:txBody>
          <a:bodyPr>
            <a:normAutofit/>
          </a:bodyPr>
          <a:lstStyle/>
          <a:p>
            <a:pPr lvl="1">
              <a:buFont typeface="Wingdings" panose="05000000000000000000" pitchFamily="2" charset="2"/>
              <a:buChar char="Ø"/>
            </a:pPr>
            <a:r>
              <a:rPr lang="en-US" sz="4000" dirty="0"/>
              <a:t>DNS queries</a:t>
            </a:r>
            <a:endParaRPr lang="en-US" sz="4000" dirty="0"/>
          </a:p>
          <a:p>
            <a:pPr lvl="1">
              <a:buFont typeface="Wingdings" panose="05000000000000000000" pitchFamily="2" charset="2"/>
              <a:buChar char="Ø"/>
            </a:pPr>
            <a:r>
              <a:rPr lang="en-US" sz="4000" dirty="0"/>
              <a:t>Real-time voice/video</a:t>
            </a:r>
            <a:endParaRPr lang="en-US" sz="4000" dirty="0"/>
          </a:p>
          <a:p>
            <a:pPr lvl="1">
              <a:buFont typeface="Wingdings" panose="05000000000000000000" pitchFamily="2" charset="2"/>
              <a:buChar char="Ø"/>
            </a:pPr>
            <a:r>
              <a:rPr lang="en-US" sz="4000" dirty="0"/>
              <a:t>Online </a:t>
            </a:r>
            <a:r>
              <a:rPr lang="en-US" sz="4000" dirty="0" smtClean="0"/>
              <a:t>gaming</a:t>
            </a:r>
            <a:endParaRPr lang="en-US" sz="4000" dirty="0" smtClean="0"/>
          </a:p>
          <a:p>
            <a:pPr lvl="1">
              <a:buFont typeface="Wingdings" panose="05000000000000000000" pitchFamily="2" charset="2"/>
              <a:buChar char="Ø"/>
            </a:pPr>
            <a:r>
              <a:rPr lang="en-US" sz="4000" dirty="0" smtClean="0"/>
              <a:t>Streaming </a:t>
            </a:r>
            <a:r>
              <a:rPr lang="en-US" sz="4000" dirty="0"/>
              <a:t>applications</a:t>
            </a:r>
            <a:endParaRPr lang="en-US" sz="4000" b="1"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372870"/>
          </a:xfrm>
        </p:spPr>
        <p:txBody>
          <a:bodyPr/>
          <a:lstStyle/>
          <a:p>
            <a:r>
              <a:rPr lang="en-US" b="1" dirty="0"/>
              <a:t>3.SCTP</a:t>
            </a:r>
            <a:r>
              <a:rPr lang="en-US" b="1" u="sng" dirty="0"/>
              <a:t> </a:t>
            </a:r>
            <a:br>
              <a:rPr lang="en-US" b="1" dirty="0"/>
            </a:br>
            <a:r>
              <a:rPr lang="en-US" b="1" dirty="0"/>
              <a:t> (Stream Control Transmission Protocol)</a:t>
            </a:r>
            <a:endParaRPr lang="en-US" dirty="0"/>
          </a:p>
        </p:txBody>
      </p:sp>
      <p:sp>
        <p:nvSpPr>
          <p:cNvPr id="3" name="Content Placeholder 2"/>
          <p:cNvSpPr>
            <a:spLocks noGrp="1"/>
          </p:cNvSpPr>
          <p:nvPr>
            <p:ph idx="1"/>
          </p:nvPr>
        </p:nvSpPr>
        <p:spPr>
          <a:xfrm>
            <a:off x="609600" y="2054860"/>
            <a:ext cx="10972800" cy="4072890"/>
          </a:xfrm>
        </p:spPr>
        <p:txBody>
          <a:bodyPr>
            <a:normAutofit/>
          </a:bodyPr>
          <a:lstStyle/>
          <a:p>
            <a:pPr marL="0" indent="0">
              <a:buNone/>
            </a:pPr>
            <a:r>
              <a:rPr lang="en-US" dirty="0" smtClean="0"/>
              <a:t>   </a:t>
            </a:r>
            <a:r>
              <a:rPr lang="en-US" sz="4000" dirty="0" smtClean="0"/>
              <a:t>SCTP </a:t>
            </a:r>
            <a:r>
              <a:rPr lang="en-US" sz="4000" dirty="0"/>
              <a:t>is a reliable, message-oriented transport protocol. It supports features such as </a:t>
            </a:r>
            <a:r>
              <a:rPr lang="en-US" sz="4000" b="1" dirty="0"/>
              <a:t>multistreaming</a:t>
            </a:r>
            <a:r>
              <a:rPr lang="en-US" sz="4000" dirty="0"/>
              <a:t> and </a:t>
            </a:r>
            <a:r>
              <a:rPr lang="en-US" sz="4000" b="1" dirty="0"/>
              <a:t>multihoming</a:t>
            </a:r>
            <a:r>
              <a:rPr lang="en-US" sz="4000" dirty="0"/>
              <a:t> and is used in specialized networking applications.</a:t>
            </a:r>
            <a:endParaRPr lang="en-US" sz="4000" dirty="0"/>
          </a:p>
          <a:p>
            <a:pPr marL="0" indent="0">
              <a:buNone/>
            </a:pPr>
            <a:r>
              <a:rPr lang="en-US" sz="4000" dirty="0" smtClean="0"/>
              <a:t>     Data </a:t>
            </a:r>
            <a:r>
              <a:rPr lang="en-US" sz="4000" dirty="0"/>
              <a:t>unit</a:t>
            </a:r>
            <a:r>
              <a:rPr lang="en-US" sz="4000" b="1" dirty="0"/>
              <a:t>:</a:t>
            </a:r>
            <a:r>
              <a:rPr lang="en-US" sz="4000" dirty="0"/>
              <a:t> Segment (TCP) / Datagram (UDP)</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800" b="1" dirty="0"/>
              <a:t>3. Internet </a:t>
            </a:r>
            <a:r>
              <a:rPr lang="en-US" sz="4800" b="1" dirty="0" smtClean="0"/>
              <a:t>Layer</a:t>
            </a:r>
            <a:endParaRPr lang="en-US" sz="4800" b="1" dirty="0"/>
          </a:p>
        </p:txBody>
      </p:sp>
      <p:sp>
        <p:nvSpPr>
          <p:cNvPr id="3" name="Content Placeholder 2"/>
          <p:cNvSpPr>
            <a:spLocks noGrp="1"/>
          </p:cNvSpPr>
          <p:nvPr>
            <p:ph idx="1"/>
          </p:nvPr>
        </p:nvSpPr>
        <p:spPr>
          <a:xfrm>
            <a:off x="609600" y="1576705"/>
            <a:ext cx="10972800" cy="4551045"/>
          </a:xfrm>
        </p:spPr>
        <p:txBody>
          <a:bodyPr/>
          <a:lstStyle/>
          <a:p>
            <a:pPr marL="0" indent="0">
              <a:buNone/>
            </a:pPr>
            <a:r>
              <a:rPr lang="en-US" dirty="0" smtClean="0"/>
              <a:t>  </a:t>
            </a:r>
            <a:r>
              <a:rPr lang="en-US" sz="4000" dirty="0" smtClean="0"/>
              <a:t> The</a:t>
            </a:r>
            <a:r>
              <a:rPr lang="en-US" sz="4000" dirty="0"/>
              <a:t> Internet Layer is responsible primarily for logical addressing and routing packets between different networks.</a:t>
            </a:r>
            <a:endParaRPr lang="en-US" sz="4000" dirty="0"/>
          </a:p>
          <a:p>
            <a:pPr marL="0" indent="0">
              <a:buNone/>
            </a:pPr>
            <a:r>
              <a:rPr lang="en-US" sz="4000" dirty="0" smtClean="0"/>
              <a:t>   It </a:t>
            </a:r>
            <a:r>
              <a:rPr lang="en-US" sz="4000" dirty="0"/>
              <a:t>corresponds broadly to the Network Layer (Layer 3) of the OSI model</a:t>
            </a:r>
            <a:endParaRPr lang="en-US" sz="40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Responsibilities</a:t>
            </a:r>
            <a:r>
              <a:rPr lang="en-US" dirty="0" smtClean="0"/>
              <a:t> </a:t>
            </a:r>
            <a:r>
              <a:rPr lang="en-US" b="1" dirty="0" smtClean="0"/>
              <a:t>for Internet Layer</a:t>
            </a:r>
            <a:endParaRPr lang="en-US" b="1" dirty="0"/>
          </a:p>
        </p:txBody>
      </p:sp>
      <p:sp>
        <p:nvSpPr>
          <p:cNvPr id="3" name="Content Placeholder 2"/>
          <p:cNvSpPr>
            <a:spLocks noGrp="1"/>
          </p:cNvSpPr>
          <p:nvPr>
            <p:ph idx="1"/>
          </p:nvPr>
        </p:nvSpPr>
        <p:spPr/>
        <p:txBody>
          <a:bodyPr>
            <a:normAutofit/>
          </a:bodyPr>
          <a:lstStyle/>
          <a:p>
            <a:pPr lvl="1">
              <a:buFont typeface="Wingdings" panose="05000000000000000000" pitchFamily="2" charset="2"/>
              <a:buChar char="Ø"/>
            </a:pPr>
            <a:r>
              <a:rPr lang="en-US" sz="3200" dirty="0"/>
              <a:t>Provides logical addressing.</a:t>
            </a:r>
            <a:endParaRPr lang="en-US" sz="3200" dirty="0"/>
          </a:p>
          <a:p>
            <a:pPr lvl="1">
              <a:buFont typeface="Wingdings" panose="05000000000000000000" pitchFamily="2" charset="2"/>
              <a:buChar char="Ø"/>
            </a:pPr>
            <a:r>
              <a:rPr lang="en-US" sz="3200" dirty="0"/>
              <a:t>Determines how packets travel between networks.</a:t>
            </a:r>
            <a:endParaRPr lang="en-US" sz="3200" dirty="0"/>
          </a:p>
          <a:p>
            <a:pPr lvl="1">
              <a:buFont typeface="Wingdings" panose="05000000000000000000" pitchFamily="2" charset="2"/>
              <a:buChar char="Ø"/>
            </a:pPr>
            <a:r>
              <a:rPr lang="en-US" sz="3200" dirty="0"/>
              <a:t>Routes packets from source to destination.</a:t>
            </a:r>
            <a:endParaRPr lang="en-US" sz="3200" dirty="0"/>
          </a:p>
          <a:p>
            <a:pPr lvl="1">
              <a:buFont typeface="Wingdings" panose="05000000000000000000" pitchFamily="2" charset="2"/>
              <a:buChar char="Ø"/>
            </a:pPr>
            <a:r>
              <a:rPr lang="en-US" sz="3200" dirty="0"/>
              <a:t>Forwards packets through routers.</a:t>
            </a:r>
            <a:endParaRPr lang="en-US" sz="3200" dirty="0"/>
          </a:p>
          <a:p>
            <a:pPr lvl="1">
              <a:buFont typeface="Wingdings" panose="05000000000000000000" pitchFamily="2" charset="2"/>
              <a:buChar char="Ø"/>
            </a:pPr>
            <a:r>
              <a:rPr lang="en-US" sz="3200" dirty="0"/>
              <a:t>Provides packet fragmentation/reassembly mechanisms where applicable.</a:t>
            </a:r>
            <a:endParaRPr lang="en-US" sz="3200" dirty="0"/>
          </a:p>
          <a:p>
            <a:pPr lvl="1">
              <a:buFont typeface="Wingdings" panose="05000000000000000000" pitchFamily="2" charset="2"/>
              <a:buChar char="Ø"/>
            </a:pPr>
            <a:r>
              <a:rPr lang="en-US" sz="3200" dirty="0"/>
              <a:t>Provides network-level error and diagnostic information through supporting protocols.</a:t>
            </a:r>
            <a:endParaRPr lang="en-US" sz="3200" dirty="0"/>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Major </a:t>
            </a:r>
            <a:r>
              <a:rPr lang="en-US" b="1" dirty="0" smtClean="0"/>
              <a:t>protocols under Internet Layer</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b="1" dirty="0" smtClean="0"/>
              <a:t> </a:t>
            </a:r>
            <a:r>
              <a:rPr lang="en-US" sz="4200" b="1" dirty="0" smtClean="0"/>
              <a:t>IP (Internet Protocol)</a:t>
            </a:r>
            <a:endParaRPr lang="en-US" sz="4200" dirty="0"/>
          </a:p>
          <a:p>
            <a:pPr marL="0" indent="0">
              <a:buNone/>
            </a:pPr>
            <a:r>
              <a:rPr lang="en-US" dirty="0" smtClean="0"/>
              <a:t> IP </a:t>
            </a:r>
            <a:r>
              <a:rPr lang="en-US" dirty="0"/>
              <a:t>is the most important protocol at this </a:t>
            </a:r>
            <a:r>
              <a:rPr lang="en-US" dirty="0" smtClean="0"/>
              <a:t>layer.</a:t>
            </a:r>
            <a:endParaRPr lang="en-US" dirty="0" smtClean="0"/>
          </a:p>
          <a:p>
            <a:pPr marL="0" indent="0">
              <a:buNone/>
            </a:pPr>
            <a:r>
              <a:rPr lang="en-US" dirty="0" smtClean="0"/>
              <a:t>There </a:t>
            </a:r>
            <a:r>
              <a:rPr lang="en-US" dirty="0"/>
              <a:t>are two major versions:</a:t>
            </a:r>
            <a:endParaRPr lang="en-US" dirty="0"/>
          </a:p>
          <a:p>
            <a:pPr>
              <a:buFont typeface="Wingdings" panose="05000000000000000000" pitchFamily="2" charset="2"/>
              <a:buChar char="Ø"/>
            </a:pPr>
            <a:r>
              <a:rPr lang="en-US" b="1" dirty="0" smtClean="0"/>
              <a:t> IPv4</a:t>
            </a:r>
            <a:endParaRPr lang="en-US" dirty="0"/>
          </a:p>
          <a:p>
            <a:pPr marL="0" indent="0">
              <a:buNone/>
            </a:pPr>
            <a:r>
              <a:rPr lang="en-US" dirty="0" smtClean="0"/>
              <a:t> Uses</a:t>
            </a:r>
            <a:r>
              <a:rPr lang="en-US" dirty="0"/>
              <a:t> </a:t>
            </a:r>
            <a:r>
              <a:rPr lang="en-US" b="1" dirty="0"/>
              <a:t>32-bit addresses</a:t>
            </a:r>
            <a:r>
              <a:rPr lang="en-US" dirty="0"/>
              <a:t>, for example:</a:t>
            </a:r>
            <a:endParaRPr lang="en-US" dirty="0"/>
          </a:p>
          <a:p>
            <a:pPr marL="0" indent="0">
              <a:buNone/>
            </a:pPr>
            <a:r>
              <a:rPr lang="en-US" dirty="0" smtClean="0"/>
              <a:t> 192.168.1.10</a:t>
            </a:r>
            <a:endParaRPr lang="en-US" dirty="0"/>
          </a:p>
          <a:p>
            <a:pPr marL="0" indent="0">
              <a:buNone/>
            </a:pPr>
            <a:r>
              <a:rPr lang="en-US" dirty="0"/>
              <a:t> </a:t>
            </a:r>
            <a:r>
              <a:rPr lang="en-US" dirty="0" smtClean="0"/>
              <a:t>IPv4 </a:t>
            </a:r>
            <a:r>
              <a:rPr lang="en-US" dirty="0"/>
              <a:t>provides addressing and routing of packets across interconnected networks.</a:t>
            </a:r>
            <a:endParaRPr lang="en-US" dirty="0"/>
          </a:p>
          <a:p>
            <a:pPr>
              <a:buFont typeface="Wingdings" panose="05000000000000000000" pitchFamily="2" charset="2"/>
              <a:buChar char="Ø"/>
            </a:pPr>
            <a:r>
              <a:rPr lang="en-US" b="1" dirty="0"/>
              <a:t>IPv6</a:t>
            </a:r>
            <a:endParaRPr lang="en-US" dirty="0"/>
          </a:p>
          <a:p>
            <a:pPr marL="0" indent="0">
              <a:buNone/>
            </a:pPr>
            <a:r>
              <a:rPr lang="en-US" dirty="0" smtClean="0"/>
              <a:t> Uses</a:t>
            </a:r>
            <a:r>
              <a:rPr lang="en-US" dirty="0"/>
              <a:t> </a:t>
            </a:r>
            <a:r>
              <a:rPr lang="en-US" b="1" dirty="0"/>
              <a:t>128-bit addresses</a:t>
            </a:r>
            <a:r>
              <a:rPr lang="en-US" dirty="0"/>
              <a:t>, for example:</a:t>
            </a:r>
            <a:endParaRPr lang="en-US" dirty="0"/>
          </a:p>
          <a:p>
            <a:pPr marL="0" indent="0">
              <a:buNone/>
            </a:pPr>
            <a:r>
              <a:rPr lang="en-US" dirty="0" smtClean="0"/>
              <a:t> 2001:db8</a:t>
            </a:r>
            <a:r>
              <a:rPr lang="en-US" dirty="0"/>
              <a:t>::1</a:t>
            </a:r>
            <a:endParaRPr lang="en-US" dirty="0"/>
          </a:p>
          <a:p>
            <a:pPr marL="0" indent="0">
              <a:buNone/>
            </a:pPr>
            <a:r>
              <a:rPr lang="en-US" dirty="0" smtClean="0"/>
              <a:t> IPv6 </a:t>
            </a:r>
            <a:r>
              <a:rPr lang="en-US" dirty="0"/>
              <a:t>was developed partly to provide a vastly larger address space than IPv4</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43944"/>
            <a:ext cx="10972800" cy="862885"/>
          </a:xfrm>
        </p:spPr>
        <p:txBody>
          <a:bodyPr>
            <a:normAutofit fontScale="90000"/>
          </a:bodyPr>
          <a:lstStyle/>
          <a:p>
            <a:r>
              <a:rPr lang="en-US" b="1" dirty="0" smtClean="0"/>
              <a:t>   </a:t>
            </a:r>
            <a:br>
              <a:rPr lang="en-US" dirty="0"/>
            </a:br>
            <a:r>
              <a:rPr lang="en-US" dirty="0"/>
              <a:t> </a:t>
            </a:r>
            <a:r>
              <a:rPr lang="en-US" b="1" dirty="0" smtClean="0"/>
              <a:t>ICMP (Internet </a:t>
            </a:r>
            <a:r>
              <a:rPr lang="en-US" b="1" dirty="0"/>
              <a:t>Control Message </a:t>
            </a:r>
            <a:r>
              <a:rPr lang="en-US" b="1" dirty="0" smtClean="0"/>
              <a:t>Protocol)</a:t>
            </a:r>
            <a:br>
              <a:rPr lang="en-US" b="1" dirty="0" smtClean="0"/>
            </a:br>
            <a:endParaRPr lang="en-US" dirty="0"/>
          </a:p>
        </p:txBody>
      </p:sp>
      <p:sp>
        <p:nvSpPr>
          <p:cNvPr id="3" name="Content Placeholder 2"/>
          <p:cNvSpPr>
            <a:spLocks noGrp="1"/>
          </p:cNvSpPr>
          <p:nvPr>
            <p:ph idx="1"/>
          </p:nvPr>
        </p:nvSpPr>
        <p:spPr>
          <a:xfrm>
            <a:off x="764147" y="1506829"/>
            <a:ext cx="10972800" cy="4350464"/>
          </a:xfrm>
        </p:spPr>
        <p:txBody>
          <a:bodyPr/>
          <a:lstStyle/>
          <a:p>
            <a:pPr marL="0" indent="0">
              <a:buNone/>
            </a:pPr>
            <a:r>
              <a:rPr lang="en-US" sz="2800" b="1" dirty="0" smtClean="0"/>
              <a:t>   </a:t>
            </a:r>
            <a:r>
              <a:rPr lang="en-US" sz="2800" dirty="0" smtClean="0"/>
              <a:t>ICMP is used to send error reports and diagnostic/control messages related to IP communication. </a:t>
            </a:r>
            <a:endParaRPr lang="en-US" sz="2800" dirty="0" smtClean="0"/>
          </a:p>
          <a:p>
            <a:pPr marL="0" indent="0">
              <a:buNone/>
            </a:pPr>
            <a:r>
              <a:rPr lang="en-US" sz="2800" dirty="0" smtClean="0"/>
              <a:t>      For example, the ping command commonly uses </a:t>
            </a:r>
            <a:r>
              <a:rPr lang="en-US" sz="2800" b="1" dirty="0" smtClean="0"/>
              <a:t>ICMP Echo </a:t>
            </a:r>
            <a:r>
              <a:rPr lang="en-US" sz="2800" dirty="0" smtClean="0"/>
              <a:t>Request and Echo Reply messages to test reachability.</a:t>
            </a:r>
            <a:endParaRPr lang="en-US" sz="2800" dirty="0" smtClean="0"/>
          </a:p>
          <a:p>
            <a:pPr marL="0" indent="0">
              <a:buNone/>
            </a:pPr>
            <a:r>
              <a:rPr lang="en-US" sz="2800" dirty="0" smtClean="0"/>
              <a:t> ICMPv6</a:t>
            </a:r>
            <a:endParaRPr lang="en-US" sz="2800" dirty="0" smtClean="0"/>
          </a:p>
          <a:p>
            <a:pPr marL="0" indent="0">
              <a:buNone/>
            </a:pPr>
            <a:r>
              <a:rPr lang="en-US" sz="2800" dirty="0" smtClean="0"/>
              <a:t> ICMPv6 performs similar functions for IPv6 and also plays an important role in IPv6 network operation, including functions used by Neighbor Discovery</a:t>
            </a:r>
            <a:endParaRPr lang="en-US" sz="28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t>
            </a:r>
            <a:r>
              <a:rPr lang="en-US" b="1" dirty="0" smtClean="0"/>
              <a:t> IGMP — Internet Group Management Protocol</a:t>
            </a:r>
            <a:br>
              <a:rPr lang="en-US" dirty="0" smtClean="0"/>
            </a:br>
            <a:endParaRPr lang="en-US" dirty="0"/>
          </a:p>
        </p:txBody>
      </p:sp>
      <p:sp>
        <p:nvSpPr>
          <p:cNvPr id="3" name="Content Placeholder 2"/>
          <p:cNvSpPr>
            <a:spLocks noGrp="1"/>
          </p:cNvSpPr>
          <p:nvPr>
            <p:ph idx="1"/>
          </p:nvPr>
        </p:nvSpPr>
        <p:spPr/>
        <p:txBody>
          <a:bodyPr/>
          <a:lstStyle/>
          <a:p>
            <a:pPr marL="0" indent="0">
              <a:buNone/>
            </a:pPr>
            <a:r>
              <a:rPr lang="en-US" sz="4000" dirty="0" smtClean="0"/>
              <a:t> IGMP </a:t>
            </a:r>
            <a:r>
              <a:rPr lang="en-US" sz="4000" dirty="0"/>
              <a:t>is used by IPv4 hosts and routers to manage </a:t>
            </a:r>
            <a:r>
              <a:rPr lang="en-US" sz="4000" b="1" dirty="0"/>
              <a:t>multicast group membership</a:t>
            </a:r>
            <a:r>
              <a:rPr lang="en-US" sz="4000" dirty="0"/>
              <a:t>.</a:t>
            </a:r>
            <a:endParaRPr lang="en-US" sz="4000" dirty="0"/>
          </a:p>
          <a:p>
            <a:pPr marL="0" indent="0">
              <a:buNone/>
            </a:pPr>
            <a:r>
              <a:rPr lang="en-US" sz="4000" dirty="0" smtClean="0"/>
              <a:t> For </a:t>
            </a:r>
            <a:r>
              <a:rPr lang="en-US" sz="4000" dirty="0"/>
              <a:t>example, it helps routers determine which local hosts want to receive multicast traffic.</a:t>
            </a:r>
            <a:endParaRPr lang="en-US" sz="4000"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IPsec — Internet Protocol Security</a:t>
            </a:r>
            <a:endParaRPr lang="en-US" dirty="0"/>
          </a:p>
        </p:txBody>
      </p:sp>
      <p:sp>
        <p:nvSpPr>
          <p:cNvPr id="3" name="Content Placeholder 2"/>
          <p:cNvSpPr>
            <a:spLocks noGrp="1"/>
          </p:cNvSpPr>
          <p:nvPr>
            <p:ph idx="1"/>
          </p:nvPr>
        </p:nvSpPr>
        <p:spPr/>
        <p:txBody>
          <a:bodyPr/>
          <a:lstStyle/>
          <a:p>
            <a:pPr marL="0" indent="0">
              <a:buNone/>
            </a:pPr>
            <a:endParaRPr lang="en-US" sz="1600" dirty="0"/>
          </a:p>
          <a:p>
            <a:pPr marL="0" indent="0">
              <a:buNone/>
            </a:pPr>
            <a:r>
              <a:rPr lang="en-US" dirty="0" smtClean="0"/>
              <a:t> IPsec </a:t>
            </a:r>
            <a:r>
              <a:rPr lang="en-US" dirty="0"/>
              <a:t>provides security for IP communication, including:</a:t>
            </a:r>
            <a:endParaRPr lang="en-US" sz="2000" dirty="0"/>
          </a:p>
          <a:p>
            <a:pPr lvl="1">
              <a:buFont typeface="Wingdings" panose="05000000000000000000" pitchFamily="2" charset="2"/>
              <a:buChar char="Ø"/>
            </a:pPr>
            <a:r>
              <a:rPr lang="en-US" dirty="0"/>
              <a:t>Authentication</a:t>
            </a:r>
            <a:endParaRPr lang="en-US" sz="1800" dirty="0"/>
          </a:p>
          <a:p>
            <a:pPr lvl="1">
              <a:buFont typeface="Wingdings" panose="05000000000000000000" pitchFamily="2" charset="2"/>
              <a:buChar char="Ø"/>
            </a:pPr>
            <a:r>
              <a:rPr lang="en-US" dirty="0"/>
              <a:t>Integrity protection</a:t>
            </a:r>
            <a:endParaRPr lang="en-US" sz="1800" dirty="0"/>
          </a:p>
          <a:p>
            <a:pPr lvl="1">
              <a:buFont typeface="Wingdings" panose="05000000000000000000" pitchFamily="2" charset="2"/>
              <a:buChar char="Ø"/>
            </a:pPr>
            <a:r>
              <a:rPr lang="en-US" dirty="0"/>
              <a:t>Confidentiality/encryption</a:t>
            </a:r>
            <a:endParaRPr lang="en-US" sz="1800" dirty="0"/>
          </a:p>
          <a:p>
            <a:pPr marL="0" indent="0">
              <a:buNone/>
            </a:pPr>
            <a:r>
              <a:rPr lang="en-US" dirty="0" smtClean="0"/>
              <a:t> It </a:t>
            </a:r>
            <a:r>
              <a:rPr lang="en-US" dirty="0"/>
              <a:t>is commonly used in </a:t>
            </a:r>
            <a:r>
              <a:rPr lang="en-US" b="1" dirty="0"/>
              <a:t>VPNs</a:t>
            </a:r>
            <a:r>
              <a:rPr lang="en-US" dirty="0"/>
              <a:t> and other secure IP communications</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 </a:t>
            </a:r>
            <a:r>
              <a:rPr lang="en-US" b="1" dirty="0" smtClean="0"/>
              <a:t>protocols</a:t>
            </a:r>
            <a:endParaRPr lang="en-US" dirty="0"/>
          </a:p>
        </p:txBody>
      </p:sp>
      <p:sp>
        <p:nvSpPr>
          <p:cNvPr id="3" name="Content Placeholder 2"/>
          <p:cNvSpPr>
            <a:spLocks noGrp="1"/>
          </p:cNvSpPr>
          <p:nvPr>
            <p:ph idx="1"/>
          </p:nvPr>
        </p:nvSpPr>
        <p:spPr/>
        <p:txBody>
          <a:bodyPr/>
          <a:lstStyle/>
          <a:p>
            <a:pPr marL="0" indent="0">
              <a:buNone/>
            </a:pPr>
            <a:r>
              <a:rPr lang="en-US" dirty="0" smtClean="0"/>
              <a:t> Routing </a:t>
            </a:r>
            <a:r>
              <a:rPr lang="en-US" dirty="0"/>
              <a:t>protocols help routers learn and exchange information about available paths.</a:t>
            </a:r>
            <a:endParaRPr lang="en-US" sz="2000" dirty="0"/>
          </a:p>
          <a:p>
            <a:pPr marL="0" indent="0">
              <a:buNone/>
            </a:pPr>
            <a:r>
              <a:rPr lang="en-US" dirty="0" smtClean="0"/>
              <a:t> Examples </a:t>
            </a:r>
            <a:r>
              <a:rPr lang="en-US" dirty="0"/>
              <a:t>include:</a:t>
            </a:r>
            <a:endParaRPr lang="en-US" sz="2000" dirty="0"/>
          </a:p>
          <a:p>
            <a:pPr lvl="1">
              <a:buFont typeface="Wingdings" panose="05000000000000000000" pitchFamily="2" charset="2"/>
              <a:buChar char="Ø"/>
            </a:pPr>
            <a:r>
              <a:rPr lang="en-US" b="1" dirty="0"/>
              <a:t>OSPF</a:t>
            </a:r>
            <a:r>
              <a:rPr lang="en-US" dirty="0"/>
              <a:t> — calculates routes within an autonomous system using link-state information.</a:t>
            </a:r>
            <a:endParaRPr lang="en-US" sz="1800" dirty="0"/>
          </a:p>
          <a:p>
            <a:pPr lvl="1">
              <a:buFont typeface="Wingdings" panose="05000000000000000000" pitchFamily="2" charset="2"/>
              <a:buChar char="Ø"/>
            </a:pPr>
            <a:r>
              <a:rPr lang="en-US" b="1" dirty="0"/>
              <a:t>RIP</a:t>
            </a:r>
            <a:r>
              <a:rPr lang="en-US" dirty="0"/>
              <a:t> — uses a distance-vector approach based on hop count.</a:t>
            </a:r>
            <a:endParaRPr lang="en-US" sz="1800" dirty="0"/>
          </a:p>
          <a:p>
            <a:pPr lvl="1">
              <a:buFont typeface="Wingdings" panose="05000000000000000000" pitchFamily="2" charset="2"/>
              <a:buChar char="Ø"/>
            </a:pPr>
            <a:r>
              <a:rPr lang="en-US" b="1" dirty="0"/>
              <a:t>BGP</a:t>
            </a:r>
            <a:r>
              <a:rPr lang="en-US" dirty="0"/>
              <a:t> — exchanges routing information between autonomous systems and is fundamental to Internet routing.</a:t>
            </a:r>
            <a:endParaRPr lang="en-US" sz="1800" dirty="0"/>
          </a:p>
          <a:p>
            <a:pPr marL="0" indent="0">
              <a:buNone/>
            </a:pPr>
            <a:r>
              <a:rPr lang="en-US" b="1" dirty="0" smtClean="0"/>
              <a:t> Data </a:t>
            </a:r>
            <a:r>
              <a:rPr lang="en-US" b="1" dirty="0"/>
              <a:t>unit:</a:t>
            </a:r>
            <a:r>
              <a:rPr lang="en-US" dirty="0"/>
              <a:t> Packet/Datagram</a:t>
            </a:r>
            <a:endParaRPr lang="en-US" sz="2000"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 Network Access </a:t>
            </a:r>
            <a:r>
              <a:rPr lang="en-US" b="1" dirty="0" smtClean="0"/>
              <a:t>Layer</a:t>
            </a:r>
            <a:endParaRPr lang="en-US" dirty="0"/>
          </a:p>
        </p:txBody>
      </p:sp>
      <p:sp>
        <p:nvSpPr>
          <p:cNvPr id="3" name="Content Placeholder 2"/>
          <p:cNvSpPr>
            <a:spLocks noGrp="1"/>
          </p:cNvSpPr>
          <p:nvPr>
            <p:ph idx="1"/>
          </p:nvPr>
        </p:nvSpPr>
        <p:spPr/>
        <p:txBody>
          <a:bodyPr>
            <a:normAutofit/>
          </a:bodyPr>
          <a:lstStyle/>
          <a:p>
            <a:pPr marL="0" indent="0">
              <a:buNone/>
            </a:pPr>
            <a:r>
              <a:rPr lang="en-US" sz="3600" dirty="0" smtClean="0"/>
              <a:t> The</a:t>
            </a:r>
            <a:r>
              <a:rPr lang="en-US" sz="3600" dirty="0"/>
              <a:t> Network Access Layer, also called the Link Layer or Network Interface Layer, is the lowest layer of the traditional TCP/IP model.</a:t>
            </a:r>
            <a:endParaRPr lang="en-US" sz="3600" dirty="0"/>
          </a:p>
          <a:p>
            <a:pPr marL="0" indent="0">
              <a:buNone/>
            </a:pPr>
            <a:r>
              <a:rPr lang="en-US" sz="3600" dirty="0" smtClean="0"/>
              <a:t> It </a:t>
            </a:r>
            <a:r>
              <a:rPr lang="en-US" sz="3600" dirty="0"/>
              <a:t>combines functions corresponding roughly to the Data Link and Physical layers of the OSI model.</a:t>
            </a:r>
            <a:endParaRPr lang="en-US" sz="3600" dirty="0"/>
          </a:p>
          <a:p>
            <a:pPr marL="0" indent="0">
              <a:buNone/>
            </a:pPr>
            <a:endParaRPr lang="en-US" sz="36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Responsibilities under Network Access Layer</a:t>
            </a:r>
            <a:endParaRPr lang="en-US" dirty="0"/>
          </a:p>
        </p:txBody>
      </p:sp>
      <p:sp>
        <p:nvSpPr>
          <p:cNvPr id="3" name="Content Placeholder 2"/>
          <p:cNvSpPr>
            <a:spLocks noGrp="1"/>
          </p:cNvSpPr>
          <p:nvPr>
            <p:ph idx="1"/>
          </p:nvPr>
        </p:nvSpPr>
        <p:spPr/>
        <p:txBody>
          <a:bodyPr>
            <a:normAutofit/>
          </a:bodyPr>
          <a:lstStyle/>
          <a:p>
            <a:pPr marL="914400" lvl="1" indent="-457200">
              <a:buFont typeface="+mj-lt"/>
              <a:buAutoNum type="arabicPeriod"/>
            </a:pPr>
            <a:r>
              <a:rPr lang="en-US" sz="2800" dirty="0"/>
              <a:t>Provides communication over the local network.</a:t>
            </a:r>
            <a:endParaRPr lang="en-US" sz="2800" dirty="0"/>
          </a:p>
          <a:p>
            <a:pPr marL="914400" lvl="1" indent="-457200">
              <a:buFont typeface="+mj-lt"/>
              <a:buAutoNum type="arabicPeriod"/>
            </a:pPr>
            <a:r>
              <a:rPr lang="en-US" sz="2800" dirty="0"/>
              <a:t>Packages IP packets into frames.</a:t>
            </a:r>
            <a:endParaRPr lang="en-US" sz="2800" dirty="0"/>
          </a:p>
          <a:p>
            <a:pPr marL="914400" lvl="1" indent="-457200">
              <a:buFont typeface="+mj-lt"/>
              <a:buAutoNum type="arabicPeriod"/>
            </a:pPr>
            <a:r>
              <a:rPr lang="en-US" sz="2800" dirty="0"/>
              <a:t>Uses physical or hardware addresses such as MAC addresses.</a:t>
            </a:r>
            <a:endParaRPr lang="en-US" sz="2800" dirty="0"/>
          </a:p>
          <a:p>
            <a:pPr marL="914400" lvl="1" indent="-457200">
              <a:buFont typeface="+mj-lt"/>
              <a:buAutoNum type="arabicPeriod"/>
            </a:pPr>
            <a:r>
              <a:rPr lang="en-US" sz="2800" dirty="0"/>
              <a:t>Controls access to the transmission medium.</a:t>
            </a:r>
            <a:endParaRPr lang="en-US" sz="2800" dirty="0"/>
          </a:p>
          <a:p>
            <a:pPr marL="914400" lvl="1" indent="-457200">
              <a:buFont typeface="+mj-lt"/>
              <a:buAutoNum type="arabicPeriod"/>
            </a:pPr>
            <a:r>
              <a:rPr lang="en-US" sz="2800" dirty="0"/>
              <a:t>Detects errors in frames.</a:t>
            </a:r>
            <a:endParaRPr lang="en-US" sz="2800" dirty="0"/>
          </a:p>
          <a:p>
            <a:pPr marL="914400" lvl="1" indent="-457200">
              <a:buFont typeface="+mj-lt"/>
              <a:buAutoNum type="arabicPeriod"/>
            </a:pPr>
            <a:r>
              <a:rPr lang="en-US" sz="2800" dirty="0"/>
              <a:t>Defines how data is transmitted over the physical </a:t>
            </a:r>
            <a:r>
              <a:rPr lang="en-US" sz="2800" dirty="0" smtClean="0"/>
              <a:t>medium. </a:t>
            </a:r>
            <a:endParaRPr lang="en-US" sz="2800" dirty="0" smtClean="0"/>
          </a:p>
          <a:p>
            <a:pPr marL="914400" lvl="1" indent="-457200">
              <a:buFont typeface="+mj-lt"/>
              <a:buAutoNum type="arabicPeriod"/>
            </a:pPr>
            <a:r>
              <a:rPr lang="en-US" sz="2800" dirty="0" smtClean="0"/>
              <a:t>Handles </a:t>
            </a:r>
            <a:r>
              <a:rPr lang="en-US" sz="2800" dirty="0"/>
              <a:t>physical signaling through copper, fiber, or radio</a:t>
            </a:r>
            <a:endParaRPr lang="en-US" sz="28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Major protocols and </a:t>
            </a:r>
            <a:r>
              <a:rPr lang="en-US" b="1" dirty="0" smtClean="0"/>
              <a:t>technologies</a:t>
            </a:r>
            <a:endParaRPr lang="en-US" dirty="0"/>
          </a:p>
        </p:txBody>
      </p:sp>
      <p:sp>
        <p:nvSpPr>
          <p:cNvPr id="3" name="Content Placeholder 2"/>
          <p:cNvSpPr>
            <a:spLocks noGrp="1"/>
          </p:cNvSpPr>
          <p:nvPr>
            <p:ph idx="1"/>
          </p:nvPr>
        </p:nvSpPr>
        <p:spPr/>
        <p:txBody>
          <a:bodyPr/>
          <a:lstStyle/>
          <a:p>
            <a:pPr marL="0" indent="0">
              <a:buNone/>
            </a:pPr>
            <a:r>
              <a:rPr lang="en-US" b="1" dirty="0"/>
              <a:t> </a:t>
            </a:r>
            <a:r>
              <a:rPr lang="en-US" b="1" dirty="0" smtClean="0"/>
              <a:t> Ethernet </a:t>
            </a:r>
            <a:r>
              <a:rPr lang="en-US" b="1" dirty="0"/>
              <a:t>— IEEE 802.3</a:t>
            </a:r>
            <a:endParaRPr lang="en-US" sz="1600" dirty="0"/>
          </a:p>
          <a:p>
            <a:pPr marL="0" indent="0">
              <a:buNone/>
            </a:pPr>
            <a:r>
              <a:rPr lang="en-US" dirty="0" smtClean="0"/>
              <a:t>  Ethernet </a:t>
            </a:r>
            <a:r>
              <a:rPr lang="en-US" dirty="0"/>
              <a:t>is widely used for wired LANs.</a:t>
            </a:r>
            <a:endParaRPr lang="en-US" sz="2000" dirty="0"/>
          </a:p>
          <a:p>
            <a:pPr marL="0" indent="0">
              <a:buNone/>
            </a:pPr>
            <a:r>
              <a:rPr lang="en-US" dirty="0" smtClean="0"/>
              <a:t>  It </a:t>
            </a:r>
            <a:r>
              <a:rPr lang="en-US" dirty="0"/>
              <a:t>defines:</a:t>
            </a:r>
            <a:endParaRPr lang="en-US" sz="2000" dirty="0"/>
          </a:p>
          <a:p>
            <a:pPr lvl="1">
              <a:buFont typeface="Wingdings" panose="05000000000000000000" pitchFamily="2" charset="2"/>
              <a:buChar char="Ø"/>
            </a:pPr>
            <a:r>
              <a:rPr lang="en-US" dirty="0"/>
              <a:t>Ethernet frames.</a:t>
            </a:r>
            <a:endParaRPr lang="en-US" sz="1800" dirty="0"/>
          </a:p>
          <a:p>
            <a:pPr lvl="1">
              <a:buFont typeface="Wingdings" panose="05000000000000000000" pitchFamily="2" charset="2"/>
              <a:buChar char="Ø"/>
            </a:pPr>
            <a:r>
              <a:rPr lang="en-US" dirty="0"/>
              <a:t>MAC addressing.</a:t>
            </a:r>
            <a:endParaRPr lang="en-US" sz="1800" dirty="0"/>
          </a:p>
          <a:p>
            <a:pPr lvl="1">
              <a:buFont typeface="Wingdings" panose="05000000000000000000" pitchFamily="2" charset="2"/>
              <a:buChar char="Ø"/>
            </a:pPr>
            <a:r>
              <a:rPr lang="en-US" dirty="0"/>
              <a:t>Physical transmission standards.</a:t>
            </a:r>
            <a:endParaRPr lang="en-US" sz="1800" dirty="0"/>
          </a:p>
          <a:p>
            <a:pPr lvl="1">
              <a:buFont typeface="Wingdings" panose="05000000000000000000" pitchFamily="2" charset="2"/>
              <a:buChar char="Ø"/>
            </a:pPr>
            <a:r>
              <a:rPr lang="en-US" dirty="0"/>
              <a:t>Methods for communicating over wired networks.</a:t>
            </a:r>
            <a:endParaRPr lang="en-US" sz="1800" dirty="0"/>
          </a:p>
          <a:p>
            <a:pPr marL="0" indent="0">
              <a:buNone/>
            </a:pPr>
            <a:r>
              <a:rPr lang="en-US" dirty="0"/>
              <a:t> </a:t>
            </a:r>
            <a:r>
              <a:rPr lang="en-US" dirty="0" smtClean="0"/>
              <a:t>For </a:t>
            </a:r>
            <a:r>
              <a:rPr lang="en-US" dirty="0"/>
              <a:t>example, a computer connected to a switch using an Ethernet cable uses Ethernet at the Network Access Layer.</a:t>
            </a:r>
            <a:endParaRPr lang="en-US" sz="2000"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Wi-Fi — IEEE 802.11</a:t>
            </a:r>
            <a:endParaRPr lang="en-US" dirty="0"/>
          </a:p>
        </p:txBody>
      </p:sp>
      <p:sp>
        <p:nvSpPr>
          <p:cNvPr id="3" name="Content Placeholder 2"/>
          <p:cNvSpPr>
            <a:spLocks noGrp="1"/>
          </p:cNvSpPr>
          <p:nvPr>
            <p:ph idx="1"/>
          </p:nvPr>
        </p:nvSpPr>
        <p:spPr/>
        <p:txBody>
          <a:bodyPr/>
          <a:lstStyle/>
          <a:p>
            <a:pPr marL="0" indent="0">
              <a:buNone/>
            </a:pPr>
            <a:r>
              <a:rPr lang="en-US" sz="1600" dirty="0" smtClean="0"/>
              <a:t> </a:t>
            </a:r>
            <a:r>
              <a:rPr lang="en-US" sz="3200" dirty="0" smtClean="0"/>
              <a:t>Wi-Fi </a:t>
            </a:r>
            <a:r>
              <a:rPr lang="en-US" sz="3200" dirty="0"/>
              <a:t>provides wireless LAN communication.</a:t>
            </a:r>
            <a:endParaRPr lang="en-US" sz="3200" dirty="0"/>
          </a:p>
          <a:p>
            <a:pPr marL="0" indent="0">
              <a:buNone/>
            </a:pPr>
            <a:r>
              <a:rPr lang="en-US" sz="3200" dirty="0" smtClean="0"/>
              <a:t> It </a:t>
            </a:r>
            <a:r>
              <a:rPr lang="en-US" sz="3200" dirty="0"/>
              <a:t>defines:</a:t>
            </a:r>
            <a:endParaRPr lang="en-US" sz="3200" dirty="0"/>
          </a:p>
          <a:p>
            <a:pPr lvl="1">
              <a:buFont typeface="Wingdings" panose="05000000000000000000" pitchFamily="2" charset="2"/>
              <a:buChar char="Ø"/>
            </a:pPr>
            <a:r>
              <a:rPr lang="en-US" sz="3200" dirty="0"/>
              <a:t>Wireless frames.</a:t>
            </a:r>
            <a:endParaRPr lang="en-US" sz="3200" dirty="0"/>
          </a:p>
          <a:p>
            <a:pPr lvl="1">
              <a:buFont typeface="Wingdings" panose="05000000000000000000" pitchFamily="2" charset="2"/>
              <a:buChar char="Ø"/>
            </a:pPr>
            <a:r>
              <a:rPr lang="en-US" sz="3200" dirty="0"/>
              <a:t>MAC addressing.</a:t>
            </a:r>
            <a:endParaRPr lang="en-US" sz="3200" dirty="0"/>
          </a:p>
          <a:p>
            <a:pPr lvl="1">
              <a:buFont typeface="Wingdings" panose="05000000000000000000" pitchFamily="2" charset="2"/>
              <a:buChar char="Ø"/>
            </a:pPr>
            <a:r>
              <a:rPr lang="en-US" sz="3200" dirty="0"/>
              <a:t>Wireless channel access.</a:t>
            </a:r>
            <a:endParaRPr lang="en-US" sz="3200" dirty="0"/>
          </a:p>
          <a:p>
            <a:pPr marL="0" indent="0">
              <a:buNone/>
            </a:pPr>
            <a:r>
              <a:rPr lang="en-US" sz="3200" dirty="0" smtClean="0"/>
              <a:t> Radio </a:t>
            </a:r>
            <a:r>
              <a:rPr lang="en-US" sz="3200" dirty="0"/>
              <a:t>transmission mechanisms</a:t>
            </a:r>
            <a:endParaRPr lang="en-US" sz="32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a:t>PPP — Point-to-Point </a:t>
            </a:r>
            <a:r>
              <a:rPr lang="en-US" sz="4800" b="1" dirty="0" smtClean="0"/>
              <a:t>Protocol</a:t>
            </a:r>
            <a:endParaRPr lang="en-US" sz="4800" dirty="0"/>
          </a:p>
        </p:txBody>
      </p:sp>
      <p:sp>
        <p:nvSpPr>
          <p:cNvPr id="3" name="Content Placeholder 2"/>
          <p:cNvSpPr>
            <a:spLocks noGrp="1"/>
          </p:cNvSpPr>
          <p:nvPr>
            <p:ph idx="1"/>
          </p:nvPr>
        </p:nvSpPr>
        <p:spPr/>
        <p:txBody>
          <a:bodyPr/>
          <a:lstStyle/>
          <a:p>
            <a:pPr marL="0" indent="0">
              <a:buNone/>
            </a:pPr>
            <a:r>
              <a:rPr lang="en-US" sz="4000" dirty="0"/>
              <a:t>PPP provides data-link communication over </a:t>
            </a:r>
            <a:r>
              <a:rPr lang="en-US" sz="4000" b="1" dirty="0"/>
              <a:t>point-to-point connections</a:t>
            </a:r>
            <a:r>
              <a:rPr lang="en-US" sz="4000" dirty="0"/>
              <a:t>. It has historically been used for connections such as dial-up and some WAN links.</a:t>
            </a:r>
            <a:endParaRPr lang="en-US" sz="4000"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ARP — Address Resolution </a:t>
            </a:r>
            <a:r>
              <a:rPr lang="en-US" b="1" dirty="0" smtClean="0"/>
              <a:t>Protocol</a:t>
            </a:r>
            <a:endParaRPr lang="en-US" dirty="0"/>
          </a:p>
        </p:txBody>
      </p:sp>
      <p:sp>
        <p:nvSpPr>
          <p:cNvPr id="3" name="Content Placeholder 2"/>
          <p:cNvSpPr>
            <a:spLocks noGrp="1"/>
          </p:cNvSpPr>
          <p:nvPr>
            <p:ph idx="1"/>
          </p:nvPr>
        </p:nvSpPr>
        <p:spPr/>
        <p:txBody>
          <a:bodyPr/>
          <a:lstStyle/>
          <a:p>
            <a:pPr marL="0" indent="0">
              <a:buNone/>
            </a:pPr>
            <a:r>
              <a:rPr lang="en-US" dirty="0" smtClean="0"/>
              <a:t> </a:t>
            </a:r>
            <a:r>
              <a:rPr lang="en-US" sz="3000" dirty="0" smtClean="0"/>
              <a:t>ARP </a:t>
            </a:r>
            <a:r>
              <a:rPr lang="en-US" sz="3000" dirty="0"/>
              <a:t>is used in IPv4 networks to discover the </a:t>
            </a:r>
            <a:r>
              <a:rPr lang="en-US" sz="3000" b="1" dirty="0"/>
              <a:t>MAC address associated with a known IPv4 address</a:t>
            </a:r>
            <a:r>
              <a:rPr lang="en-US" sz="3000" dirty="0"/>
              <a:t> on the local network.</a:t>
            </a:r>
            <a:endParaRPr lang="en-US" sz="3000" dirty="0"/>
          </a:p>
          <a:p>
            <a:pPr marL="0" indent="0">
              <a:buNone/>
            </a:pPr>
            <a:r>
              <a:rPr lang="en-US" sz="3000" dirty="0" smtClean="0"/>
              <a:t>  For </a:t>
            </a:r>
            <a:r>
              <a:rPr lang="en-US" sz="3000" dirty="0"/>
              <a:t>example:</a:t>
            </a:r>
            <a:endParaRPr lang="en-US" sz="3000" dirty="0"/>
          </a:p>
          <a:p>
            <a:pPr marL="0" indent="0">
              <a:buNone/>
            </a:pPr>
            <a:r>
              <a:rPr lang="en-US" sz="3000" dirty="0" smtClean="0"/>
              <a:t> "</a:t>
            </a:r>
            <a:r>
              <a:rPr lang="en-US" sz="3000" dirty="0"/>
              <a:t>Who has </a:t>
            </a:r>
            <a:r>
              <a:rPr lang="en-US" sz="3000" dirty="0" smtClean="0"/>
              <a:t>192.168.1.20?"</a:t>
            </a:r>
            <a:endParaRPr lang="en-US" sz="3000" dirty="0"/>
          </a:p>
          <a:p>
            <a:pPr marL="0" indent="0">
              <a:buNone/>
            </a:pPr>
            <a:r>
              <a:rPr lang="en-US" sz="3000" dirty="0" smtClean="0"/>
              <a:t> The </a:t>
            </a:r>
            <a:r>
              <a:rPr lang="en-US" sz="3000" dirty="0"/>
              <a:t>device with that IP address can respond with its MAC address.</a:t>
            </a:r>
            <a:endParaRPr lang="en-US" sz="3000" dirty="0"/>
          </a:p>
          <a:p>
            <a:pPr marL="0" indent="0">
              <a:buNone/>
            </a:pPr>
            <a:r>
              <a:rPr lang="en-US" sz="3000" dirty="0" smtClean="0"/>
              <a:t>  ARP </a:t>
            </a:r>
            <a:r>
              <a:rPr lang="en-US" sz="3000" dirty="0"/>
              <a:t>is commonly associated with the TCP/IP Network Access/Link layer, although its exact placement in the OSI model is sometimes debated.</a:t>
            </a:r>
            <a:endParaRPr lang="en-US" sz="3000" dirty="0"/>
          </a:p>
          <a:p>
            <a:pPr marL="0" indent="0">
              <a:buNone/>
            </a:pPr>
            <a:r>
              <a:rPr lang="en-US" sz="3000" b="1" dirty="0" smtClean="0"/>
              <a:t>   Data </a:t>
            </a:r>
            <a:r>
              <a:rPr lang="en-US" sz="3000" b="1" dirty="0"/>
              <a:t>unit:</a:t>
            </a:r>
            <a:r>
              <a:rPr lang="en-US" sz="3000" dirty="0"/>
              <a:t> Frame</a:t>
            </a:r>
            <a:endParaRPr lang="en-US" sz="3000" dirty="0"/>
          </a:p>
          <a:p>
            <a:pPr marL="0" indent="0">
              <a:buNone/>
            </a:pP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Summary</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a:t>The TCP/IP model can be remembered as:</a:t>
            </a:r>
            <a:endParaRPr lang="en-US" sz="2000" dirty="0"/>
          </a:p>
          <a:p>
            <a:pPr marL="0" indent="0">
              <a:buNone/>
            </a:pPr>
            <a:r>
              <a:rPr lang="en-US" b="1" dirty="0"/>
              <a:t>Application → Transport → Internet → Network Access</a:t>
            </a:r>
            <a:endParaRPr lang="en-US" sz="2000" dirty="0"/>
          </a:p>
          <a:p>
            <a:pPr lvl="1"/>
            <a:r>
              <a:rPr lang="en-US" sz="2600" b="1" dirty="0"/>
              <a:t>Application Layer:</a:t>
            </a:r>
            <a:r>
              <a:rPr lang="en-US" sz="2600" dirty="0"/>
              <a:t> Provides services used by network applications. Examples: HTTP, HTTPS, DNS, FTP, SMTP, SSH.</a:t>
            </a:r>
            <a:endParaRPr lang="en-US" sz="2600" dirty="0"/>
          </a:p>
          <a:p>
            <a:pPr lvl="1"/>
            <a:r>
              <a:rPr lang="en-US" sz="2600" b="1" dirty="0"/>
              <a:t>Transport Layer:</a:t>
            </a:r>
            <a:r>
              <a:rPr lang="en-US" sz="2600" dirty="0"/>
              <a:t> Provides end-to-end communication and uses ports. Examples: TCP, UDP, SCTP.</a:t>
            </a:r>
            <a:endParaRPr lang="en-US" sz="2600" dirty="0"/>
          </a:p>
          <a:p>
            <a:pPr lvl="1"/>
            <a:r>
              <a:rPr lang="en-US" sz="2600" b="1" dirty="0"/>
              <a:t>Internet Layer:</a:t>
            </a:r>
            <a:r>
              <a:rPr lang="en-US" sz="2600" dirty="0"/>
              <a:t> Provides IP addressing and routing. Examples: IPv4, IPv6, ICMP, IGMP, IPsec, OSPF, </a:t>
            </a:r>
            <a:r>
              <a:rPr lang="en-US" sz="2600" dirty="0" smtClean="0"/>
              <a:t>BGP.</a:t>
            </a:r>
            <a:endParaRPr lang="en-US" sz="2600" dirty="0" smtClean="0"/>
          </a:p>
          <a:p>
            <a:pPr lvl="1"/>
            <a:r>
              <a:rPr lang="en-US" sz="2600" b="1" dirty="0" smtClean="0"/>
              <a:t>Network </a:t>
            </a:r>
            <a:r>
              <a:rPr lang="en-US" sz="2600" b="1" dirty="0"/>
              <a:t>Access Layer:</a:t>
            </a:r>
            <a:r>
              <a:rPr lang="en-US" sz="2600" dirty="0"/>
              <a:t> Handles local-network communication, framing, MAC addressing, and physical transmission. Examples: Ethernet, Wi-Fi, PPP, ARP</a:t>
            </a:r>
            <a:endParaRPr lang="en-US" sz="26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US" dirty="0"/>
          </a:p>
        </p:txBody>
      </p:sp>
      <p:sp>
        <p:nvSpPr>
          <p:cNvPr id="3" name="Content Placeholder 2"/>
          <p:cNvSpPr>
            <a:spLocks noGrp="1"/>
          </p:cNvSpPr>
          <p:nvPr>
            <p:ph idx="1"/>
          </p:nvPr>
        </p:nvSpPr>
        <p:spPr/>
        <p:txBody>
          <a:bodyPr/>
          <a:lstStyle/>
          <a:p>
            <a:pPr marL="0" indent="0">
              <a:buNone/>
            </a:pPr>
            <a:r>
              <a:rPr lang="en-US" dirty="0" smtClean="0"/>
              <a:t> </a:t>
            </a:r>
            <a:endParaRPr lang="en-US" dirty="0" smtClean="0"/>
          </a:p>
          <a:p>
            <a:pPr marL="0" indent="0">
              <a:buNone/>
            </a:pPr>
            <a:r>
              <a:rPr lang="en-US" sz="3600" dirty="0" smtClean="0"/>
              <a:t>The </a:t>
            </a:r>
            <a:r>
              <a:rPr lang="en-US" sz="3600" dirty="0"/>
              <a:t>key idea is that each layer performs a specific networking function while cooperating with the layers above and below it, allowing data to travel from an application on one device to an application on another device across potentially many interconnected networks.</a:t>
            </a:r>
            <a:endParaRPr lang="en-US" sz="3600" dirty="0"/>
          </a:p>
          <a:p>
            <a:endParaRPr lang="en-US" sz="3600"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1075055"/>
          </a:xfrm>
        </p:spPr>
        <p:txBody>
          <a:bodyPr/>
          <a:lstStyle/>
          <a:p>
            <a:pPr algn="ctr"/>
            <a:r>
              <a:rPr lang="en-US" altLang="en-GB" b="1"/>
              <a:t>Where the TCP/IP Model is Applied</a:t>
            </a:r>
            <a:br>
              <a:rPr lang="en-US" altLang="en-GB"/>
            </a:br>
            <a:r>
              <a:rPr lang="en-US" altLang="en-GB"/>
              <a:t> </a:t>
            </a:r>
            <a:endParaRPr lang="en-US" altLang="en-GB"/>
          </a:p>
        </p:txBody>
      </p:sp>
      <p:sp>
        <p:nvSpPr>
          <p:cNvPr id="3" name="Content Placeholder 2"/>
          <p:cNvSpPr>
            <a:spLocks noGrp="1"/>
          </p:cNvSpPr>
          <p:nvPr>
            <p:ph idx="1"/>
          </p:nvPr>
        </p:nvSpPr>
        <p:spPr>
          <a:xfrm>
            <a:off x="609600" y="1487805"/>
            <a:ext cx="10972800" cy="4639945"/>
          </a:xfrm>
        </p:spPr>
        <p:txBody>
          <a:bodyPr/>
          <a:lstStyle/>
          <a:p>
            <a:pPr marL="0" indent="0" algn="l">
              <a:buFont typeface="Wingdings" panose="05000000000000000000" charset="0"/>
              <a:buNone/>
            </a:pPr>
            <a:r>
              <a:rPr lang="en-US" altLang="en-GB">
                <a:sym typeface="+mn-ea"/>
              </a:rPr>
              <a:t> </a:t>
            </a:r>
            <a:r>
              <a:rPr lang="en-US" altLang="en-GB" sz="2800">
                <a:sym typeface="+mn-ea"/>
              </a:rPr>
              <a:t>TCP/IP is used extensively in</a:t>
            </a:r>
            <a:r>
              <a:rPr lang="en-US" altLang="en-US" sz="2800">
                <a:sym typeface="+mn-ea"/>
              </a:rPr>
              <a:t> </a:t>
            </a:r>
            <a:r>
              <a:rPr lang="en-US" altLang="en-GB" sz="2800">
                <a:sym typeface="+mn-ea"/>
              </a:rPr>
              <a:t>actual network communication.</a:t>
            </a:r>
            <a:br>
              <a:rPr lang="en-US" altLang="en-GB" sz="2800">
                <a:sym typeface="+mn-ea"/>
              </a:rPr>
            </a:br>
            <a:r>
              <a:rPr lang="en-US" altLang="en-GB" sz="2800"/>
              <a:t>The Internet.</a:t>
            </a:r>
            <a:endParaRPr lang="en-US" altLang="en-GB" sz="2800"/>
          </a:p>
          <a:p>
            <a:pPr algn="l">
              <a:buFont typeface="Wingdings" panose="05000000000000000000" charset="0"/>
              <a:buChar char="Ø"/>
            </a:pPr>
            <a:r>
              <a:rPr lang="en-US" altLang="en-GB" sz="2400"/>
              <a:t>Web communication.</a:t>
            </a:r>
            <a:endParaRPr lang="en-US" altLang="en-GB" sz="2400"/>
          </a:p>
          <a:p>
            <a:pPr algn="l">
              <a:buFont typeface="Wingdings" panose="05000000000000000000" charset="0"/>
              <a:buChar char="Ø"/>
            </a:pPr>
            <a:r>
              <a:rPr lang="en-US" altLang="en-GB" sz="2400"/>
              <a:t>Email.</a:t>
            </a:r>
            <a:endParaRPr lang="en-US" altLang="en-GB" sz="2400"/>
          </a:p>
          <a:p>
            <a:pPr algn="l">
              <a:buFont typeface="Wingdings" panose="05000000000000000000" charset="0"/>
              <a:buChar char="Ø"/>
            </a:pPr>
            <a:r>
              <a:rPr lang="en-US" altLang="en-GB" sz="2400"/>
              <a:t>File transfers.</a:t>
            </a:r>
            <a:endParaRPr lang="en-US" altLang="en-GB" sz="2400"/>
          </a:p>
          <a:p>
            <a:pPr algn="l">
              <a:buFont typeface="Wingdings" panose="05000000000000000000" charset="0"/>
              <a:buChar char="Ø"/>
            </a:pPr>
            <a:r>
              <a:rPr lang="en-US" altLang="en-GB" sz="2400"/>
              <a:t>Cloud computing.</a:t>
            </a:r>
            <a:endParaRPr lang="en-US" altLang="en-GB" sz="2400"/>
          </a:p>
          <a:p>
            <a:pPr algn="l">
              <a:buFont typeface="Wingdings" panose="05000000000000000000" charset="0"/>
              <a:buChar char="Ø"/>
            </a:pPr>
            <a:r>
              <a:rPr lang="en-US" altLang="en-GB" sz="2400"/>
              <a:t>Enterprise networks.</a:t>
            </a:r>
            <a:endParaRPr lang="en-US" altLang="en-GB" sz="2400"/>
          </a:p>
          <a:p>
            <a:pPr algn="l">
              <a:buFont typeface="Wingdings" panose="05000000000000000000" charset="0"/>
              <a:buChar char="Ø"/>
            </a:pPr>
            <a:r>
              <a:rPr lang="en-US" altLang="en-GB" sz="2400"/>
              <a:t>Wireless networking.</a:t>
            </a:r>
            <a:endParaRPr lang="en-US" altLang="en-GB" sz="2400"/>
          </a:p>
          <a:p>
            <a:pPr algn="l">
              <a:buFont typeface="Wingdings" panose="05000000000000000000" charset="0"/>
              <a:buChar char="Ø"/>
            </a:pPr>
            <a:r>
              <a:rPr lang="en-US" altLang="en-GB" sz="2400"/>
              <a:t>Virtual private networks.</a:t>
            </a:r>
            <a:endParaRPr lang="en-US" altLang="en-GB" sz="2400"/>
          </a:p>
          <a:p>
            <a:pPr algn="l">
              <a:buFont typeface="Wingdings" panose="05000000000000000000" charset="0"/>
              <a:buChar char="Ø"/>
            </a:pPr>
            <a:r>
              <a:rPr lang="en-US" altLang="en-GB" sz="2400"/>
              <a:t>Data-center networking.</a:t>
            </a:r>
            <a:endParaRPr lang="en-US" altLang="en-GB" sz="2400"/>
          </a:p>
          <a:p>
            <a:pPr marL="0" indent="0" algn="l">
              <a:buFont typeface="Wingdings" panose="05000000000000000000" charset="0"/>
              <a:buNone/>
            </a:pPr>
            <a:endParaRPr lang="en-US" altLang="en-GB" sz="240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843915"/>
            <a:ext cx="10972800" cy="4502785"/>
          </a:xfrm>
        </p:spPr>
        <p:txBody>
          <a:bodyPr/>
          <a:p>
            <a:pPr algn="l"/>
            <a:r>
              <a:rPr lang="en-US" altLang="en-GB" sz="4400" b="1"/>
              <a:t>QN.3</a:t>
            </a:r>
            <a:br>
              <a:rPr lang="en-US" altLang="en-GB" sz="4400" b="1"/>
            </a:br>
            <a:r>
              <a:rPr lang="en-US" altLang="en-GB" sz="4800" b="1"/>
              <a:t>Compare and contrast the OSI model and the TCP/IP model(thier similarities and differences and where they are applied)?</a:t>
            </a:r>
            <a:endParaRPr lang="en-US" altLang="en-GB" sz="4800" b="1"/>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GB" b="1"/>
              <a:t>SIMILARITIES 0SI AND TCP/IP</a:t>
            </a:r>
            <a:endParaRPr lang="en-US" altLang="en-GB" b="1"/>
          </a:p>
        </p:txBody>
      </p:sp>
      <p:sp>
        <p:nvSpPr>
          <p:cNvPr id="3" name="Content Placeholder 2"/>
          <p:cNvSpPr>
            <a:spLocks noGrp="1"/>
          </p:cNvSpPr>
          <p:nvPr>
            <p:ph idx="1"/>
          </p:nvPr>
        </p:nvSpPr>
        <p:spPr/>
        <p:txBody>
          <a:bodyPr/>
          <a:lstStyle/>
          <a:p>
            <a:pPr>
              <a:buFont typeface="Wingdings" panose="05000000000000000000" charset="0"/>
              <a:buChar char="Ø"/>
            </a:pPr>
            <a:r>
              <a:rPr lang="en-US" altLang="en-GB"/>
              <a:t>Both use layers to organise network communication</a:t>
            </a:r>
            <a:endParaRPr lang="en-US" altLang="en-GB"/>
          </a:p>
          <a:p>
            <a:pPr>
              <a:buFont typeface="Wingdings" panose="05000000000000000000" charset="0"/>
              <a:buChar char="Ø"/>
            </a:pPr>
            <a:r>
              <a:rPr lang="en-US" altLang="en-GB"/>
              <a:t>Both have Application, Transport and Network communication</a:t>
            </a:r>
            <a:endParaRPr lang="en-US" altLang="en-GB"/>
          </a:p>
          <a:p>
            <a:pPr>
              <a:buFont typeface="Wingdings" panose="05000000000000000000" charset="0"/>
              <a:buChar char="Ø"/>
            </a:pPr>
            <a:r>
              <a:rPr lang="en-US" altLang="en-GB"/>
              <a:t>Both describe how data move from one.</a:t>
            </a:r>
            <a:endParaRPr lang="en-US" altLang="en-GB"/>
          </a:p>
          <a:p>
            <a:pPr>
              <a:buFont typeface="Wingdings" panose="05000000000000000000" charset="0"/>
              <a:buChar char="Ø"/>
            </a:pPr>
            <a:r>
              <a:rPr lang="en-US" altLang="en-GB"/>
              <a:t>Both help with network design , trouble shooting and understand protocols.</a:t>
            </a:r>
            <a:endParaRPr lang="en-US" altLang="en-GB"/>
          </a:p>
          <a:p>
            <a:pPr>
              <a:buFont typeface="Wingdings" panose="05000000000000000000" charset="0"/>
              <a:buChar char="Ø"/>
            </a:pPr>
            <a:r>
              <a:rPr lang="en-US" altLang="en-GB"/>
              <a:t>The transport layer in both models provides end to end communication.</a:t>
            </a:r>
            <a:endParaRPr lang="en-US" altLang="en-GB"/>
          </a:p>
          <a:p>
            <a:pPr>
              <a:buFont typeface="Wingdings" panose="05000000000000000000" charset="0"/>
              <a:buChar char="Ø"/>
            </a:pPr>
            <a:endParaRPr lang="en-US" altLang="en-GB"/>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GB" b="1"/>
              <a:t>DIFFERENCES BETWEEN OSI AND TCP/IP</a:t>
            </a:r>
            <a:endParaRPr lang="en-US" altLang="en-GB" b="1"/>
          </a:p>
        </p:txBody>
      </p:sp>
      <p:graphicFrame>
        <p:nvGraphicFramePr>
          <p:cNvPr id="4" name="Table 3"/>
          <p:cNvGraphicFramePr/>
          <p:nvPr>
            <p:custDataLst>
              <p:tags r:id="rId1"/>
            </p:custDataLst>
          </p:nvPr>
        </p:nvGraphicFramePr>
        <p:xfrm>
          <a:off x="1344930" y="1824990"/>
          <a:ext cx="9815830" cy="3848100"/>
        </p:xfrm>
        <a:graphic>
          <a:graphicData uri="http://schemas.openxmlformats.org/drawingml/2006/table">
            <a:tbl>
              <a:tblPr firstRow="1" bandRow="1">
                <a:tableStyleId>{5C22544A-7EE6-4342-B048-85BDC9FD1C3A}</a:tableStyleId>
              </a:tblPr>
              <a:tblGrid>
                <a:gridCol w="4907915"/>
                <a:gridCol w="4907915"/>
              </a:tblGrid>
              <a:tr h="641350">
                <a:tc>
                  <a:txBody>
                    <a:bodyPr/>
                    <a:lstStyle/>
                    <a:p>
                      <a:pPr>
                        <a:buNone/>
                      </a:pPr>
                      <a:r>
                        <a:rPr lang="en-US" altLang="en-GB"/>
                        <a:t>OSI</a:t>
                      </a:r>
                      <a:endParaRPr lang="en-US" altLang="en-GB"/>
                    </a:p>
                  </a:txBody>
                  <a:tcPr/>
                </a:tc>
                <a:tc>
                  <a:txBody>
                    <a:bodyPr/>
                    <a:lstStyle/>
                    <a:p>
                      <a:pPr>
                        <a:buNone/>
                      </a:pPr>
                      <a:r>
                        <a:rPr lang="en-US" altLang="en-GB"/>
                        <a:t>TCP/IP</a:t>
                      </a:r>
                      <a:endParaRPr lang="en-US" altLang="en-GB"/>
                    </a:p>
                  </a:txBody>
                  <a:tcPr/>
                </a:tc>
              </a:tr>
              <a:tr h="641350">
                <a:tc>
                  <a:txBody>
                    <a:bodyPr/>
                    <a:lstStyle/>
                    <a:p>
                      <a:pPr>
                        <a:buNone/>
                      </a:pPr>
                      <a:r>
                        <a:rPr lang="en-US" altLang="en-GB"/>
                        <a:t>Has 7 layers</a:t>
                      </a:r>
                      <a:endParaRPr lang="en-US" altLang="en-GB"/>
                    </a:p>
                  </a:txBody>
                  <a:tcPr/>
                </a:tc>
                <a:tc>
                  <a:txBody>
                    <a:bodyPr/>
                    <a:lstStyle/>
                    <a:p>
                      <a:pPr>
                        <a:buNone/>
                      </a:pPr>
                      <a:r>
                        <a:rPr lang="en-US" altLang="en-GB"/>
                        <a:t>Has 4 layers</a:t>
                      </a:r>
                      <a:endParaRPr lang="en-US" altLang="en-GB"/>
                    </a:p>
                  </a:txBody>
                  <a:tcPr/>
                </a:tc>
              </a:tr>
              <a:tr h="641350">
                <a:tc>
                  <a:txBody>
                    <a:bodyPr/>
                    <a:lstStyle/>
                    <a:p>
                      <a:pPr>
                        <a:buNone/>
                      </a:pPr>
                      <a:r>
                        <a:rPr lang="en-US" altLang="en-GB"/>
                        <a:t>Separates application pressentation annd session</a:t>
                      </a:r>
                      <a:endParaRPr lang="en-US" altLang="en-GB"/>
                    </a:p>
                  </a:txBody>
                  <a:tcPr/>
                </a:tc>
                <a:tc>
                  <a:txBody>
                    <a:bodyPr/>
                    <a:lstStyle/>
                    <a:p>
                      <a:pPr>
                        <a:buNone/>
                      </a:pPr>
                      <a:r>
                        <a:rPr lang="en-US" altLang="en-GB"/>
                        <a:t>Combines them into the application layer.</a:t>
                      </a:r>
                      <a:endParaRPr lang="en-US" altLang="en-GB"/>
                    </a:p>
                  </a:txBody>
                  <a:tcPr/>
                </a:tc>
              </a:tr>
              <a:tr h="641350">
                <a:tc>
                  <a:txBody>
                    <a:bodyPr/>
                    <a:lstStyle/>
                    <a:p>
                      <a:pPr>
                        <a:buNone/>
                      </a:pPr>
                      <a:r>
                        <a:rPr lang="en-US" altLang="en-GB"/>
                        <a:t>Separates physical and data link </a:t>
                      </a:r>
                      <a:endParaRPr lang="en-US" altLang="en-GB"/>
                    </a:p>
                  </a:txBody>
                  <a:tcPr/>
                </a:tc>
                <a:tc>
                  <a:txBody>
                    <a:bodyPr/>
                    <a:lstStyle/>
                    <a:p>
                      <a:pPr>
                        <a:buNone/>
                      </a:pPr>
                      <a:r>
                        <a:rPr lang="en-US" altLang="en-GB"/>
                        <a:t>Combines them into Network.</a:t>
                      </a:r>
                      <a:endParaRPr lang="en-US" altLang="en-GB"/>
                    </a:p>
                  </a:txBody>
                  <a:tcPr/>
                </a:tc>
              </a:tr>
              <a:tr h="641350">
                <a:tc>
                  <a:txBody>
                    <a:bodyPr/>
                    <a:lstStyle/>
                    <a:p>
                      <a:pPr>
                        <a:buNone/>
                      </a:pPr>
                      <a:r>
                        <a:rPr lang="en-US" altLang="en-GB"/>
                        <a:t>Primarily a conceptual model </a:t>
                      </a:r>
                      <a:endParaRPr lang="en-US" altLang="en-GB"/>
                    </a:p>
                  </a:txBody>
                  <a:tcPr/>
                </a:tc>
                <a:tc>
                  <a:txBody>
                    <a:bodyPr/>
                    <a:lstStyle/>
                    <a:p>
                      <a:pPr>
                        <a:buNone/>
                      </a:pPr>
                      <a:r>
                        <a:rPr lang="en-US" altLang="en-GB"/>
                        <a:t>Protocol architecture used by the internet</a:t>
                      </a:r>
                      <a:endParaRPr lang="en-US" altLang="en-GB"/>
                    </a:p>
                  </a:txBody>
                  <a:tcPr/>
                </a:tc>
              </a:tr>
              <a:tr h="641350">
                <a:tc>
                  <a:txBody>
                    <a:bodyPr/>
                    <a:lstStyle/>
                    <a:p>
                      <a:pPr>
                        <a:buNone/>
                      </a:pPr>
                      <a:r>
                        <a:rPr lang="en-US" altLang="en-GB"/>
                        <a:t>Designed as a general network refference frame work.</a:t>
                      </a:r>
                      <a:endParaRPr lang="en-US" altLang="en-GB"/>
                    </a:p>
                  </a:txBody>
                  <a:tcPr/>
                </a:tc>
                <a:tc>
                  <a:txBody>
                    <a:bodyPr/>
                    <a:lstStyle/>
                    <a:p>
                      <a:pPr>
                        <a:buNone/>
                      </a:pPr>
                      <a:r>
                        <a:rPr lang="en-US" altLang="en-GB"/>
                        <a:t>envolved from the protocols used to build interconnected networks.</a:t>
                      </a:r>
                      <a:endParaRPr lang="en-US" altLang="en-GB"/>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GB" b="1" dirty="0"/>
              <a:t>Overall </a:t>
            </a:r>
            <a:r>
              <a:rPr lang="en-US" altLang="en-GB" b="1" dirty="0" err="1" smtClean="0"/>
              <a:t>Comparision</a:t>
            </a:r>
            <a:endParaRPr lang="en-US" altLang="en-GB" b="1" dirty="0"/>
          </a:p>
        </p:txBody>
      </p:sp>
      <p:graphicFrame>
        <p:nvGraphicFramePr>
          <p:cNvPr id="4" name="Table 3"/>
          <p:cNvGraphicFramePr/>
          <p:nvPr>
            <p:custDataLst>
              <p:tags r:id="rId1"/>
            </p:custDataLst>
          </p:nvPr>
        </p:nvGraphicFramePr>
        <p:xfrm>
          <a:off x="763905" y="1104265"/>
          <a:ext cx="10574655" cy="5541645"/>
        </p:xfrm>
        <a:graphic>
          <a:graphicData uri="http://schemas.openxmlformats.org/drawingml/2006/table">
            <a:tbl>
              <a:tblPr>
                <a:tableStyleId>{5940675A-B579-460E-94D1-54222C63F5DA}</a:tableStyleId>
              </a:tblPr>
              <a:tblGrid>
                <a:gridCol w="3584575"/>
                <a:gridCol w="3495040"/>
                <a:gridCol w="3495040"/>
              </a:tblGrid>
              <a:tr h="615315">
                <a:tc>
                  <a:txBody>
                    <a:bodyPr/>
                    <a:lstStyle/>
                    <a:p>
                      <a:pPr marL="40005" indent="0" algn="ctr">
                        <a:lnSpc>
                          <a:spcPct val="107000"/>
                        </a:lnSpc>
                        <a:spcBef>
                          <a:spcPct val="0"/>
                        </a:spcBef>
                        <a:spcAft>
                          <a:spcPct val="0"/>
                        </a:spcAft>
                      </a:pPr>
                      <a:r>
                        <a:rPr sz="2000" dirty="0"/>
                        <a:t>Aspect</a:t>
                      </a:r>
                      <a:endParaRPr sz="2000" dirty="0"/>
                    </a:p>
                  </a:txBody>
                  <a:tcPr marL="9525" marR="9525" marT="9525" marB="9525" anchor="ctr"/>
                </a:tc>
                <a:tc>
                  <a:txBody>
                    <a:bodyPr/>
                    <a:lstStyle/>
                    <a:p>
                      <a:pPr marL="40005" indent="0" algn="ctr">
                        <a:lnSpc>
                          <a:spcPct val="107000"/>
                        </a:lnSpc>
                        <a:spcBef>
                          <a:spcPct val="0"/>
                        </a:spcBef>
                        <a:spcAft>
                          <a:spcPct val="0"/>
                        </a:spcAft>
                      </a:pPr>
                      <a:r>
                        <a:rPr sz="2000"/>
                        <a:t>OSI</a:t>
                      </a:r>
                      <a:endParaRPr sz="2000"/>
                    </a:p>
                  </a:txBody>
                  <a:tcPr marL="9525" marR="9525" marT="9525" marB="9525" anchor="ctr"/>
                </a:tc>
                <a:tc>
                  <a:txBody>
                    <a:bodyPr/>
                    <a:lstStyle/>
                    <a:p>
                      <a:pPr marL="40005" indent="0" algn="ctr">
                        <a:lnSpc>
                          <a:spcPct val="107000"/>
                        </a:lnSpc>
                        <a:spcBef>
                          <a:spcPct val="0"/>
                        </a:spcBef>
                        <a:spcAft>
                          <a:spcPct val="0"/>
                        </a:spcAft>
                      </a:pPr>
                      <a:r>
                        <a:rPr sz="2000"/>
                        <a:t>TCP/IP</a:t>
                      </a:r>
                      <a:endParaRPr sz="2000"/>
                    </a:p>
                  </a:txBody>
                  <a:tcPr marL="9525" marR="9525" marT="9525" marB="9525" anchor="ctr"/>
                </a:tc>
              </a:tr>
              <a:tr h="392430">
                <a:tc>
                  <a:txBody>
                    <a:bodyPr/>
                    <a:lstStyle/>
                    <a:p>
                      <a:pPr marL="40005" indent="0">
                        <a:lnSpc>
                          <a:spcPct val="107000"/>
                        </a:lnSpc>
                        <a:spcBef>
                          <a:spcPct val="0"/>
                        </a:spcBef>
                        <a:spcAft>
                          <a:spcPct val="0"/>
                        </a:spcAft>
                      </a:pPr>
                      <a:r>
                        <a:rPr sz="2000" dirty="0"/>
                        <a:t>Layers</a:t>
                      </a:r>
                      <a:endParaRPr sz="2000" dirty="0"/>
                    </a:p>
                  </a:txBody>
                  <a:tcPr marL="9525" marR="9525" marT="9525" marB="9525" anchor="ctr"/>
                </a:tc>
                <a:tc>
                  <a:txBody>
                    <a:bodyPr/>
                    <a:lstStyle/>
                    <a:p>
                      <a:pPr marL="40005" indent="0">
                        <a:lnSpc>
                          <a:spcPct val="107000"/>
                        </a:lnSpc>
                        <a:spcBef>
                          <a:spcPct val="0"/>
                        </a:spcBef>
                        <a:spcAft>
                          <a:spcPct val="0"/>
                        </a:spcAft>
                      </a:pPr>
                      <a:r>
                        <a:rPr sz="2000"/>
                        <a:t>7</a:t>
                      </a:r>
                      <a:endParaRPr sz="2000"/>
                    </a:p>
                  </a:txBody>
                  <a:tcPr marL="9525" marR="9525" marT="9525" marB="9525" anchor="ctr"/>
                </a:tc>
                <a:tc>
                  <a:txBody>
                    <a:bodyPr/>
                    <a:lstStyle/>
                    <a:p>
                      <a:pPr marL="40005" indent="0">
                        <a:lnSpc>
                          <a:spcPct val="107000"/>
                        </a:lnSpc>
                        <a:spcBef>
                          <a:spcPct val="0"/>
                        </a:spcBef>
                        <a:spcAft>
                          <a:spcPct val="0"/>
                        </a:spcAft>
                      </a:pPr>
                      <a:r>
                        <a:rPr sz="2000"/>
                        <a:t>4 traditionally</a:t>
                      </a:r>
                      <a:endParaRPr sz="2000"/>
                    </a:p>
                  </a:txBody>
                  <a:tcPr marL="9525" marR="9525" marT="9525" marB="9525" anchor="ctr"/>
                </a:tc>
              </a:tr>
              <a:tr h="392430">
                <a:tc>
                  <a:txBody>
                    <a:bodyPr/>
                    <a:lstStyle/>
                    <a:p>
                      <a:pPr marL="40005" indent="0">
                        <a:lnSpc>
                          <a:spcPct val="107000"/>
                        </a:lnSpc>
                        <a:spcBef>
                          <a:spcPct val="0"/>
                        </a:spcBef>
                        <a:spcAft>
                          <a:spcPct val="0"/>
                        </a:spcAft>
                      </a:pPr>
                      <a:r>
                        <a:rPr sz="2000"/>
                        <a:t>Nature</a:t>
                      </a:r>
                      <a:endParaRPr sz="2000"/>
                    </a:p>
                  </a:txBody>
                  <a:tcPr marL="9525" marR="9525" marT="9525" marB="9525" anchor="ctr"/>
                </a:tc>
                <a:tc>
                  <a:txBody>
                    <a:bodyPr/>
                    <a:lstStyle/>
                    <a:p>
                      <a:pPr marL="40005" indent="0">
                        <a:lnSpc>
                          <a:spcPct val="107000"/>
                        </a:lnSpc>
                        <a:spcBef>
                          <a:spcPct val="0"/>
                        </a:spcBef>
                        <a:spcAft>
                          <a:spcPct val="0"/>
                        </a:spcAft>
                      </a:pPr>
                      <a:r>
                        <a:rPr sz="2000"/>
                        <a:t>Reference model</a:t>
                      </a:r>
                      <a:endParaRPr sz="2000"/>
                    </a:p>
                  </a:txBody>
                  <a:tcPr marL="9525" marR="9525" marT="9525" marB="9525" anchor="ctr"/>
                </a:tc>
                <a:tc>
                  <a:txBody>
                    <a:bodyPr/>
                    <a:lstStyle/>
                    <a:p>
                      <a:pPr marL="40005" indent="0">
                        <a:lnSpc>
                          <a:spcPct val="107000"/>
                        </a:lnSpc>
                        <a:spcBef>
                          <a:spcPct val="0"/>
                        </a:spcBef>
                        <a:spcAft>
                          <a:spcPct val="0"/>
                        </a:spcAft>
                      </a:pPr>
                      <a:r>
                        <a:rPr sz="2000"/>
                        <a:t>Protocol architecture/model</a:t>
                      </a:r>
                      <a:endParaRPr sz="2000"/>
                    </a:p>
                  </a:txBody>
                  <a:tcPr marL="9525" marR="9525" marT="9525" marB="9525" anchor="ctr"/>
                </a:tc>
              </a:tr>
              <a:tr h="670560">
                <a:tc>
                  <a:txBody>
                    <a:bodyPr/>
                    <a:lstStyle/>
                    <a:p>
                      <a:pPr marL="40005" indent="0">
                        <a:lnSpc>
                          <a:spcPct val="107000"/>
                        </a:lnSpc>
                        <a:spcBef>
                          <a:spcPct val="0"/>
                        </a:spcBef>
                        <a:spcAft>
                          <a:spcPct val="0"/>
                        </a:spcAft>
                      </a:pPr>
                      <a:r>
                        <a:rPr sz="2000" dirty="0"/>
                        <a:t>Main purpose</a:t>
                      </a:r>
                      <a:endParaRPr sz="2000" dirty="0"/>
                    </a:p>
                  </a:txBody>
                  <a:tcPr marL="9525" marR="9525" marT="9525" marB="9525" anchor="ctr"/>
                </a:tc>
                <a:tc>
                  <a:txBody>
                    <a:bodyPr/>
                    <a:lstStyle/>
                    <a:p>
                      <a:pPr marL="40005" indent="0">
                        <a:lnSpc>
                          <a:spcPct val="107000"/>
                        </a:lnSpc>
                        <a:spcBef>
                          <a:spcPct val="0"/>
                        </a:spcBef>
                        <a:spcAft>
                          <a:spcPct val="0"/>
                        </a:spcAft>
                      </a:pPr>
                      <a:r>
                        <a:rPr sz="2000" dirty="0"/>
                        <a:t>Explain and standardize networking concepts</a:t>
                      </a:r>
                      <a:endParaRPr sz="2000" dirty="0"/>
                    </a:p>
                  </a:txBody>
                  <a:tcPr marL="9525" marR="9525" marT="9525" marB="9525" anchor="ctr"/>
                </a:tc>
                <a:tc>
                  <a:txBody>
                    <a:bodyPr/>
                    <a:lstStyle/>
                    <a:p>
                      <a:pPr marL="40005" indent="0">
                        <a:lnSpc>
                          <a:spcPct val="107000"/>
                        </a:lnSpc>
                        <a:spcBef>
                          <a:spcPct val="0"/>
                        </a:spcBef>
                        <a:spcAft>
                          <a:spcPct val="0"/>
                        </a:spcAft>
                      </a:pPr>
                      <a:r>
                        <a:rPr sz="2000"/>
                        <a:t>Enable practical network communication</a:t>
                      </a:r>
                      <a:endParaRPr sz="2000"/>
                    </a:p>
                  </a:txBody>
                  <a:tcPr marL="9525" marR="9525" marT="9525" marB="9525" anchor="ctr"/>
                </a:tc>
              </a:tr>
              <a:tr h="670560">
                <a:tc>
                  <a:txBody>
                    <a:bodyPr/>
                    <a:lstStyle/>
                    <a:p>
                      <a:pPr marL="40005" indent="0">
                        <a:lnSpc>
                          <a:spcPct val="107000"/>
                        </a:lnSpc>
                        <a:spcBef>
                          <a:spcPct val="0"/>
                        </a:spcBef>
                        <a:spcAft>
                          <a:spcPct val="0"/>
                        </a:spcAft>
                      </a:pPr>
                      <a:r>
                        <a:rPr sz="2000" dirty="0"/>
                        <a:t>Use today</a:t>
                      </a:r>
                      <a:endParaRPr sz="2000" dirty="0"/>
                    </a:p>
                  </a:txBody>
                  <a:tcPr marL="9525" marR="9525" marT="9525" marB="9525" anchor="ctr"/>
                </a:tc>
                <a:tc>
                  <a:txBody>
                    <a:bodyPr/>
                    <a:lstStyle/>
                    <a:p>
                      <a:pPr marL="40005" indent="0">
                        <a:lnSpc>
                          <a:spcPct val="107000"/>
                        </a:lnSpc>
                        <a:spcBef>
                          <a:spcPct val="0"/>
                        </a:spcBef>
                        <a:spcAft>
                          <a:spcPct val="0"/>
                        </a:spcAft>
                      </a:pPr>
                      <a:r>
                        <a:rPr sz="2000" dirty="0"/>
                        <a:t>Education, troubleshooting, conceptual design</a:t>
                      </a:r>
                      <a:endParaRPr sz="2000" dirty="0"/>
                    </a:p>
                  </a:txBody>
                  <a:tcPr marL="9525" marR="9525" marT="9525" marB="9525" anchor="ctr"/>
                </a:tc>
                <a:tc>
                  <a:txBody>
                    <a:bodyPr/>
                    <a:lstStyle/>
                    <a:p>
                      <a:pPr marL="40005" indent="0">
                        <a:lnSpc>
                          <a:spcPct val="107000"/>
                        </a:lnSpc>
                        <a:spcBef>
                          <a:spcPct val="0"/>
                        </a:spcBef>
                        <a:spcAft>
                          <a:spcPct val="0"/>
                        </a:spcAft>
                      </a:pPr>
                      <a:r>
                        <a:rPr sz="2000"/>
                        <a:t>Actual Internet and network communication</a:t>
                      </a:r>
                      <a:endParaRPr sz="2000"/>
                    </a:p>
                  </a:txBody>
                  <a:tcPr marL="9525" marR="9525" marT="9525" marB="9525" anchor="ctr"/>
                </a:tc>
              </a:tr>
              <a:tr h="670560">
                <a:tc>
                  <a:txBody>
                    <a:bodyPr/>
                    <a:lstStyle/>
                    <a:p>
                      <a:pPr marL="40005" indent="0">
                        <a:lnSpc>
                          <a:spcPct val="107000"/>
                        </a:lnSpc>
                        <a:spcBef>
                          <a:spcPct val="0"/>
                        </a:spcBef>
                        <a:spcAft>
                          <a:spcPct val="0"/>
                        </a:spcAft>
                      </a:pPr>
                      <a:r>
                        <a:rPr sz="2000" dirty="0"/>
                        <a:t>Application/Presentation/Session</a:t>
                      </a:r>
                      <a:endParaRPr sz="2000" dirty="0"/>
                    </a:p>
                  </a:txBody>
                  <a:tcPr marL="9525" marR="9525" marT="9525" marB="9525" anchor="ctr"/>
                </a:tc>
                <a:tc>
                  <a:txBody>
                    <a:bodyPr/>
                    <a:lstStyle/>
                    <a:p>
                      <a:pPr marL="40005" indent="0">
                        <a:lnSpc>
                          <a:spcPct val="107000"/>
                        </a:lnSpc>
                        <a:spcBef>
                          <a:spcPct val="0"/>
                        </a:spcBef>
                        <a:spcAft>
                          <a:spcPct val="0"/>
                        </a:spcAft>
                      </a:pPr>
                      <a:r>
                        <a:rPr sz="2000" dirty="0"/>
                        <a:t>Separate</a:t>
                      </a:r>
                      <a:endParaRPr sz="2000" dirty="0"/>
                    </a:p>
                  </a:txBody>
                  <a:tcPr marL="9525" marR="9525" marT="9525" marB="9525" anchor="ctr"/>
                </a:tc>
                <a:tc>
                  <a:txBody>
                    <a:bodyPr/>
                    <a:lstStyle/>
                    <a:p>
                      <a:pPr marL="40005" indent="0">
                        <a:lnSpc>
                          <a:spcPct val="107000"/>
                        </a:lnSpc>
                        <a:spcBef>
                          <a:spcPct val="0"/>
                        </a:spcBef>
                        <a:spcAft>
                          <a:spcPct val="0"/>
                        </a:spcAft>
                      </a:pPr>
                      <a:r>
                        <a:rPr sz="2000"/>
                        <a:t>Combined</a:t>
                      </a:r>
                      <a:endParaRPr sz="2000"/>
                    </a:p>
                  </a:txBody>
                  <a:tcPr marL="9525" marR="9525" marT="9525" marB="9525" anchor="ctr"/>
                </a:tc>
              </a:tr>
              <a:tr h="392430">
                <a:tc>
                  <a:txBody>
                    <a:bodyPr/>
                    <a:lstStyle/>
                    <a:p>
                      <a:pPr marL="40005" indent="0">
                        <a:lnSpc>
                          <a:spcPct val="107000"/>
                        </a:lnSpc>
                        <a:spcBef>
                          <a:spcPct val="0"/>
                        </a:spcBef>
                        <a:spcAft>
                          <a:spcPct val="0"/>
                        </a:spcAft>
                      </a:pPr>
                      <a:r>
                        <a:rPr sz="2000"/>
                        <a:t>Data Link/Physical</a:t>
                      </a:r>
                      <a:endParaRPr sz="2000"/>
                    </a:p>
                  </a:txBody>
                  <a:tcPr marL="9525" marR="9525" marT="9525" marB="9525" anchor="ctr"/>
                </a:tc>
                <a:tc>
                  <a:txBody>
                    <a:bodyPr/>
                    <a:lstStyle/>
                    <a:p>
                      <a:pPr marL="40005" indent="0">
                        <a:lnSpc>
                          <a:spcPct val="107000"/>
                        </a:lnSpc>
                        <a:spcBef>
                          <a:spcPct val="0"/>
                        </a:spcBef>
                        <a:spcAft>
                          <a:spcPct val="0"/>
                        </a:spcAft>
                      </a:pPr>
                      <a:r>
                        <a:rPr sz="2000"/>
                        <a:t>Separate</a:t>
                      </a:r>
                      <a:endParaRPr sz="2000"/>
                    </a:p>
                  </a:txBody>
                  <a:tcPr marL="9525" marR="9525" marT="9525" marB="9525" anchor="ctr"/>
                </a:tc>
                <a:tc>
                  <a:txBody>
                    <a:bodyPr/>
                    <a:lstStyle/>
                    <a:p>
                      <a:pPr marL="40005" indent="0">
                        <a:lnSpc>
                          <a:spcPct val="107000"/>
                        </a:lnSpc>
                        <a:spcBef>
                          <a:spcPct val="0"/>
                        </a:spcBef>
                        <a:spcAft>
                          <a:spcPct val="0"/>
                        </a:spcAft>
                      </a:pPr>
                      <a:r>
                        <a:rPr sz="2000" dirty="0"/>
                        <a:t>Combined in traditional model</a:t>
                      </a:r>
                      <a:endParaRPr sz="2000" dirty="0"/>
                    </a:p>
                  </a:txBody>
                  <a:tcPr marL="9525" marR="9525" marT="9525" marB="9525" anchor="ctr"/>
                </a:tc>
              </a:tr>
              <a:tr h="670560">
                <a:tc>
                  <a:txBody>
                    <a:bodyPr/>
                    <a:lstStyle/>
                    <a:p>
                      <a:pPr marL="40005" indent="0">
                        <a:lnSpc>
                          <a:spcPct val="107000"/>
                        </a:lnSpc>
                        <a:spcBef>
                          <a:spcPct val="0"/>
                        </a:spcBef>
                        <a:spcAft>
                          <a:spcPct val="0"/>
                        </a:spcAft>
                      </a:pPr>
                      <a:r>
                        <a:rPr sz="2000" dirty="0"/>
                        <a:t>Protocol relationship</a:t>
                      </a:r>
                      <a:endParaRPr sz="2000" dirty="0"/>
                    </a:p>
                  </a:txBody>
                  <a:tcPr marL="9525" marR="9525" marT="9525" marB="9525" anchor="ctr"/>
                </a:tc>
                <a:tc>
                  <a:txBody>
                    <a:bodyPr/>
                    <a:lstStyle/>
                    <a:p>
                      <a:pPr marL="40005" indent="0">
                        <a:lnSpc>
                          <a:spcPct val="107000"/>
                        </a:lnSpc>
                        <a:spcBef>
                          <a:spcPct val="0"/>
                        </a:spcBef>
                        <a:spcAft>
                          <a:spcPct val="0"/>
                        </a:spcAft>
                      </a:pPr>
                      <a:r>
                        <a:rPr sz="2000"/>
                        <a:t>Protocol-independent</a:t>
                      </a:r>
                      <a:endParaRPr sz="2000"/>
                    </a:p>
                  </a:txBody>
                  <a:tcPr marL="9525" marR="9525" marT="9525" marB="9525" anchor="ctr"/>
                </a:tc>
                <a:tc>
                  <a:txBody>
                    <a:bodyPr/>
                    <a:lstStyle/>
                    <a:p>
                      <a:pPr marL="40005" indent="0">
                        <a:lnSpc>
                          <a:spcPct val="107000"/>
                        </a:lnSpc>
                        <a:spcBef>
                          <a:spcPct val="0"/>
                        </a:spcBef>
                        <a:spcAft>
                          <a:spcPct val="0"/>
                        </a:spcAft>
                      </a:pPr>
                      <a:r>
                        <a:rPr sz="2000" dirty="0"/>
                        <a:t>Closely tied to TCP/IP protocols</a:t>
                      </a:r>
                      <a:endParaRPr sz="2000" dirty="0"/>
                    </a:p>
                  </a:txBody>
                  <a:tcPr marL="9525" marR="9525" marT="9525" marB="9525" anchor="ctr"/>
                </a:tc>
              </a:tr>
              <a:tr h="392430">
                <a:tc>
                  <a:txBody>
                    <a:bodyPr/>
                    <a:lstStyle/>
                    <a:p>
                      <a:pPr marL="40005" indent="0">
                        <a:lnSpc>
                          <a:spcPct val="107000"/>
                        </a:lnSpc>
                        <a:spcBef>
                          <a:spcPct val="0"/>
                        </a:spcBef>
                        <a:spcAft>
                          <a:spcPct val="0"/>
                        </a:spcAft>
                      </a:pPr>
                      <a:r>
                        <a:rPr sz="2000"/>
                        <a:t>Internet use</a:t>
                      </a:r>
                      <a:endParaRPr sz="2000"/>
                    </a:p>
                  </a:txBody>
                  <a:tcPr marL="9525" marR="9525" marT="9525" marB="9525" anchor="ctr"/>
                </a:tc>
                <a:tc>
                  <a:txBody>
                    <a:bodyPr/>
                    <a:lstStyle/>
                    <a:p>
                      <a:pPr marL="40005" indent="0">
                        <a:lnSpc>
                          <a:spcPct val="107000"/>
                        </a:lnSpc>
                        <a:spcBef>
                          <a:spcPct val="0"/>
                        </a:spcBef>
                        <a:spcAft>
                          <a:spcPct val="0"/>
                        </a:spcAft>
                      </a:pPr>
                      <a:r>
                        <a:rPr sz="2000"/>
                        <a:t>Reference framework</a:t>
                      </a:r>
                      <a:endParaRPr sz="2000"/>
                    </a:p>
                  </a:txBody>
                  <a:tcPr marL="9525" marR="9525" marT="9525" marB="9525" anchor="ctr"/>
                </a:tc>
                <a:tc>
                  <a:txBody>
                    <a:bodyPr/>
                    <a:lstStyle/>
                    <a:p>
                      <a:pPr marL="40005" indent="0">
                        <a:lnSpc>
                          <a:spcPct val="107000"/>
                        </a:lnSpc>
                        <a:spcBef>
                          <a:spcPct val="0"/>
                        </a:spcBef>
                        <a:spcAft>
                          <a:spcPct val="0"/>
                        </a:spcAft>
                      </a:pPr>
                      <a:r>
                        <a:rPr sz="2000" dirty="0"/>
                        <a:t>Fundamental architecture</a:t>
                      </a:r>
                      <a:endParaRPr sz="2000" dirty="0"/>
                    </a:p>
                  </a:txBody>
                  <a:tcPr marL="9525" marR="9525" marT="9525" marB="9525" anchor="ctr"/>
                </a:tc>
              </a:tr>
              <a:tr h="670560">
                <a:tc>
                  <a:txBody>
                    <a:bodyPr/>
                    <a:lstStyle/>
                    <a:p>
                      <a:pPr marL="40005" indent="0">
                        <a:lnSpc>
                          <a:spcPct val="107000"/>
                        </a:lnSpc>
                        <a:spcBef>
                          <a:spcPct val="0"/>
                        </a:spcBef>
                        <a:spcAft>
                          <a:spcPct val="0"/>
                        </a:spcAft>
                      </a:pPr>
                      <a:r>
                        <a:rPr sz="2000"/>
                        <a:t>Troubleshooting</a:t>
                      </a:r>
                      <a:endParaRPr sz="2000"/>
                    </a:p>
                  </a:txBody>
                  <a:tcPr marL="9525" marR="9525" marT="9525" marB="9525" anchor="ctr"/>
                </a:tc>
                <a:tc>
                  <a:txBody>
                    <a:bodyPr/>
                    <a:lstStyle/>
                    <a:p>
                      <a:pPr marL="40005" indent="0">
                        <a:lnSpc>
                          <a:spcPct val="107000"/>
                        </a:lnSpc>
                        <a:spcBef>
                          <a:spcPct val="0"/>
                        </a:spcBef>
                        <a:spcAft>
                          <a:spcPct val="0"/>
                        </a:spcAft>
                      </a:pPr>
                      <a:r>
                        <a:rPr sz="2000"/>
                        <a:t>Very useful</a:t>
                      </a:r>
                      <a:endParaRPr sz="2000"/>
                    </a:p>
                  </a:txBody>
                  <a:tcPr marL="9525" marR="9525" marT="9525" marB="9525" anchor="ctr"/>
                </a:tc>
                <a:tc>
                  <a:txBody>
                    <a:bodyPr/>
                    <a:lstStyle/>
                    <a:p>
                      <a:pPr marL="40005" indent="0">
                        <a:lnSpc>
                          <a:spcPct val="107000"/>
                        </a:lnSpc>
                        <a:spcBef>
                          <a:spcPct val="0"/>
                        </a:spcBef>
                        <a:spcAft>
                          <a:spcPct val="0"/>
                        </a:spcAft>
                      </a:pPr>
                      <a:r>
                        <a:rPr sz="2000" dirty="0"/>
                        <a:t>Also useful, especially for TCP/IP networks</a:t>
                      </a:r>
                      <a:endParaRPr sz="2000" dirty="0"/>
                    </a:p>
                  </a:txBody>
                  <a:tcPr marL="9525" marR="9525" marT="9525" marB="9525"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GB" b="1">
                <a:sym typeface="+mn-ea"/>
              </a:rPr>
              <a:t>Conclusion</a:t>
            </a:r>
            <a:endParaRPr lang="en-GB" altLang="en-US" b="1"/>
          </a:p>
        </p:txBody>
      </p:sp>
      <p:sp>
        <p:nvSpPr>
          <p:cNvPr id="3" name="Content Placeholder 2"/>
          <p:cNvSpPr>
            <a:spLocks noGrp="1"/>
          </p:cNvSpPr>
          <p:nvPr>
            <p:ph idx="1"/>
          </p:nvPr>
        </p:nvSpPr>
        <p:spPr/>
        <p:txBody>
          <a:bodyPr/>
          <a:lstStyle/>
          <a:p>
            <a:pPr marL="0" indent="0">
              <a:buFont typeface="Wingdings" panose="05000000000000000000" charset="0"/>
              <a:buNone/>
            </a:pPr>
            <a:r>
              <a:rPr lang="en-US" altLang="en-GB" sz="2300" dirty="0"/>
              <a:t>     The</a:t>
            </a:r>
            <a:r>
              <a:rPr lang="en-US" altLang="en-US" sz="2300" dirty="0"/>
              <a:t> </a:t>
            </a:r>
            <a:r>
              <a:rPr lang="en-US" altLang="en-GB" sz="2300" dirty="0"/>
              <a:t>OSI and TCP/IP models are similar because both use layers to organize network communication and explain how data moves between devices. However, they differ significantly in structure and practical application.</a:t>
            </a:r>
            <a:endParaRPr lang="en-US" altLang="en-GB" sz="2300" dirty="0"/>
          </a:p>
          <a:p>
            <a:pPr>
              <a:buFont typeface="Wingdings" panose="05000000000000000000" charset="0"/>
              <a:buChar char="Ø"/>
            </a:pPr>
            <a:r>
              <a:rPr lang="en-US" altLang="en-GB" sz="2300" dirty="0"/>
              <a:t>The</a:t>
            </a:r>
            <a:r>
              <a:rPr lang="en-US" altLang="en-US" sz="2300" dirty="0"/>
              <a:t> </a:t>
            </a:r>
            <a:r>
              <a:rPr lang="en-US" altLang="en-GB" sz="2300" dirty="0"/>
              <a:t>OSI model has seven layers</a:t>
            </a:r>
            <a:r>
              <a:rPr lang="en-US" altLang="en-US" sz="2300" dirty="0"/>
              <a:t> </a:t>
            </a:r>
            <a:r>
              <a:rPr lang="en-US" altLang="en-GB" sz="2300" dirty="0"/>
              <a:t>and is primarily a</a:t>
            </a:r>
            <a:r>
              <a:rPr lang="en-US" altLang="en-US" sz="2300" dirty="0"/>
              <a:t> </a:t>
            </a:r>
            <a:r>
              <a:rPr lang="en-US" altLang="en-GB" sz="2300" dirty="0"/>
              <a:t>conceptual/reference model</a:t>
            </a:r>
            <a:r>
              <a:rPr lang="en-US" altLang="en-US" sz="2300" dirty="0"/>
              <a:t> </a:t>
            </a:r>
            <a:r>
              <a:rPr lang="en-US" altLang="en-GB" sz="2300" dirty="0"/>
              <a:t>used for learning, analysis, design, and troubleshooting. The</a:t>
            </a:r>
            <a:r>
              <a:rPr lang="en-US" altLang="en-US" sz="2300" dirty="0"/>
              <a:t> </a:t>
            </a:r>
            <a:r>
              <a:rPr lang="en-US" altLang="en-GB" sz="2300" dirty="0"/>
              <a:t>TCP/IP model traditionally has four layers</a:t>
            </a:r>
            <a:r>
              <a:rPr lang="en-US" altLang="en-US" sz="2300" dirty="0"/>
              <a:t> </a:t>
            </a:r>
            <a:r>
              <a:rPr lang="en-US" altLang="en-GB" sz="2300" dirty="0"/>
              <a:t>and is a</a:t>
            </a:r>
            <a:r>
              <a:rPr lang="en-US" altLang="en-US" sz="2300" dirty="0"/>
              <a:t> </a:t>
            </a:r>
            <a:r>
              <a:rPr lang="en-US" altLang="en-GB" sz="2300" dirty="0"/>
              <a:t>practical networking architecture built around protocols such as TCP, IP, HTTP, and DNS.</a:t>
            </a:r>
            <a:endParaRPr lang="en-US" altLang="en-GB" sz="2300" dirty="0"/>
          </a:p>
          <a:p>
            <a:pPr>
              <a:buFont typeface="Wingdings" panose="05000000000000000000" charset="0"/>
              <a:buChar char="Ø"/>
            </a:pPr>
            <a:r>
              <a:rPr lang="en-US" altLang="en-GB" sz="2300" dirty="0"/>
              <a:t>In simple terms:</a:t>
            </a:r>
            <a:endParaRPr lang="en-US" altLang="en-GB" sz="2300" dirty="0"/>
          </a:p>
          <a:p>
            <a:pPr>
              <a:buFont typeface="Wingdings" panose="05000000000000000000" charset="0"/>
              <a:buChar char="Ø"/>
            </a:pPr>
            <a:r>
              <a:rPr lang="en-US" altLang="en-GB" sz="2300" dirty="0"/>
              <a:t>OSI explains networking in greater detail, while TCP/IP describes the architecture that is actually used to communicate across the Internet and most modern IP networks.</a:t>
            </a:r>
            <a:endParaRPr lang="en-US" altLang="en-GB" sz="2300" dirty="0"/>
          </a:p>
          <a:p>
            <a:pPr marL="0" indent="0" algn="ctr">
              <a:buFont typeface="Wingdings" panose="05000000000000000000" charset="0"/>
              <a:buNone/>
            </a:pPr>
            <a:r>
              <a:rPr lang="en-US" altLang="en-GB" sz="2300" b="1" dirty="0"/>
              <a:t>THE END</a:t>
            </a:r>
            <a:endParaRPr lang="en-US" altLang="en-GB" sz="2300" b="1" dirty="0"/>
          </a:p>
        </p:txBody>
      </p:sp>
    </p:spTree>
  </p:cSld>
  <p:clrMapOvr>
    <a:masterClrMapping/>
  </p:clrMapOvr>
  <mc:AlternateContent xmlns:mc="http://schemas.openxmlformats.org/markup-compatibility/2006">
    <mc:Choice xmlns:p14="http://schemas.microsoft.com/office/powerpoint/2010/main" Requires="p14">
      <p:transition spd="slow" p14:dur="2000">
        <p:checker/>
      </p:transition>
    </mc:Choice>
    <mc:Fallback>
      <p:transition spd="slow">
        <p:checker/>
      </p:transition>
    </mc:Fallback>
  </mc:AlternateContent>
  <p:timing>
    <p:tnLst>
      <p:par>
        <p:cTn id="1" dur="indefinite" restart="never" nodeType="tmRoot"/>
      </p:par>
    </p:tnLst>
  </p:timing>
</p:sld>
</file>

<file path=ppt/tags/tag1.xml><?xml version="1.0" encoding="utf-8"?>
<p:tagLst xmlns:p="http://schemas.openxmlformats.org/presentationml/2006/main">
  <p:tag name="TABLE_ENDDRAG_ORIGIN_RECT" val="826*284"/>
  <p:tag name="TABLE_ENDDRAG_RECT" val="49*230*826*284"/>
</p:tagLst>
</file>

<file path=ppt/tags/tag2.xml><?xml version="1.0" encoding="utf-8"?>
<p:tagLst xmlns:p="http://schemas.openxmlformats.org/presentationml/2006/main">
  <p:tag name="TABLE_ENDDRAG_ORIGIN_RECT" val="852*377"/>
  <p:tag name="TABLE_ENDDRAG_RECT" val="54*142*852*377"/>
</p:tagLst>
</file>

<file path=ppt/tags/tag3.xml><?xml version="1.0" encoding="utf-8"?>
<p:tagLst xmlns:p="http://schemas.openxmlformats.org/presentationml/2006/main">
  <p:tag name="TABLE_ENDDRAG_ORIGIN_RECT" val="772*303"/>
  <p:tag name="TABLE_ENDDRAG_RECT" val="105*143*772*303"/>
</p:tagLst>
</file>

<file path=ppt/tags/tag4.xml><?xml version="1.0" encoding="utf-8"?>
<p:tagLst xmlns:p="http://schemas.openxmlformats.org/presentationml/2006/main">
  <p:tag name="TABLE_ENDDRAG_ORIGIN_RECT" val="832*430"/>
  <p:tag name="TABLE_ENDDRAG_RECT" val="60*86*832*430"/>
</p:tagLst>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23522</Words>
  <Application>WPS Presentation</Application>
  <PresentationFormat>Widescreen</PresentationFormat>
  <Paragraphs>814</Paragraphs>
  <Slides>75</Slides>
  <Notes>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75</vt:i4>
      </vt:variant>
    </vt:vector>
  </HeadingPairs>
  <TitlesOfParts>
    <vt:vector size="88" baseType="lpstr">
      <vt:lpstr>Arial</vt:lpstr>
      <vt:lpstr>SimSun</vt:lpstr>
      <vt:lpstr>Wingdings</vt:lpstr>
      <vt:lpstr>Wingdings</vt:lpstr>
      <vt:lpstr>Times New Roman</vt:lpstr>
      <vt:lpstr>Calibri</vt:lpstr>
      <vt:lpstr>Segoe UI</vt:lpstr>
      <vt:lpstr>Microsoft YaHei</vt:lpstr>
      <vt:lpstr>Arial Unicode MS</vt:lpstr>
      <vt:lpstr>var(--type-code-font-family)</vt:lpstr>
      <vt:lpstr>Segoe Print</vt:lpstr>
      <vt:lpstr>Courier New</vt:lpstr>
      <vt:lpstr>Gear Drives</vt:lpstr>
      <vt:lpstr>GROUP WORK ASSIGNMENT  FOR  INTRODUCTION TO COMPUTER NETWORKS  COURSE UNIT: IST 11O4 SEMESTER:1 LECTURER: MALE VINCENT 2026 YEAR: 1 BY GROUP 1</vt:lpstr>
      <vt:lpstr>NETWORK MODELS</vt:lpstr>
      <vt:lpstr>OSI(OPEN SYSTEM INTERCONNECTION) MODEL</vt:lpstr>
      <vt:lpstr>Where the OSI Model is Applied</vt:lpstr>
      <vt:lpstr>PowerPoint 演示文稿</vt:lpstr>
      <vt:lpstr>PRINCIPLES THAT WERE APPLIED TO ARRIVE TO THE SEVEN LAYERS</vt:lpstr>
      <vt:lpstr>   </vt:lpstr>
      <vt:lpstr>ACTIONS THAT TAKE PLACE IN OSI MODEL LAYERS</vt:lpstr>
      <vt:lpstr>Easy way to remember the layers</vt:lpstr>
      <vt:lpstr>Physical Layer </vt:lpstr>
      <vt:lpstr>EXAMPLES OF PROTOCOLS UNDER PHYSICAL LAYER </vt:lpstr>
      <vt:lpstr>2. Data Link Layer </vt:lpstr>
      <vt:lpstr>Responsibilities of Data link layer</vt:lpstr>
      <vt:lpstr>     Examples of protocols under Data Link Layer </vt:lpstr>
      <vt:lpstr>   </vt:lpstr>
      <vt:lpstr>3. Network Layer</vt:lpstr>
      <vt:lpstr>Responsibilities of network layer</vt:lpstr>
      <vt:lpstr>Examples of protocols under Network Layer </vt:lpstr>
      <vt:lpstr>   </vt:lpstr>
      <vt:lpstr>4.  Transport Layer</vt:lpstr>
      <vt:lpstr>Responsibilities of Transport Layer</vt:lpstr>
      <vt:lpstr>Major protocols under Transport Layer</vt:lpstr>
      <vt:lpstr>UDP (User Datagram Protocol)</vt:lpstr>
      <vt:lpstr>5. Session Layer</vt:lpstr>
      <vt:lpstr>Responsibilities of Session Layer </vt:lpstr>
      <vt:lpstr>Examples of protocols under Session Layer</vt:lpstr>
      <vt:lpstr>  </vt:lpstr>
      <vt:lpstr>6. Presentation Layer </vt:lpstr>
      <vt:lpstr>Responsibilities of Presentation Layer</vt:lpstr>
      <vt:lpstr>Examples of Protocols under Presentation Layer</vt:lpstr>
      <vt:lpstr>  </vt:lpstr>
      <vt:lpstr>7. Application Layer</vt:lpstr>
      <vt:lpstr>Responsibilities of Application Layer</vt:lpstr>
      <vt:lpstr>Examples of protocols under Application Layer</vt:lpstr>
      <vt:lpstr>   </vt:lpstr>
      <vt:lpstr>  </vt:lpstr>
      <vt:lpstr>PowerPoint 演示文稿</vt:lpstr>
      <vt:lpstr>TRANSMISSION CONTROL PROTOCOL/INTERNET PROTOCOL</vt:lpstr>
      <vt:lpstr> TCP/IP</vt:lpstr>
      <vt:lpstr>LAYERS UNDER TCP/IP MODEL INCLUDE;</vt:lpstr>
      <vt:lpstr>1. Application Layer</vt:lpstr>
      <vt:lpstr>Responsibilities for TCP/IP MODEL </vt:lpstr>
      <vt:lpstr>FOREXAMPLE</vt:lpstr>
      <vt:lpstr>PROTOCOLS UNDER TCP/IP MODEL</vt:lpstr>
      <vt:lpstr> </vt:lpstr>
      <vt:lpstr>2. Transport Layer</vt:lpstr>
      <vt:lpstr>Responsibilities under Transport Layer</vt:lpstr>
      <vt:lpstr>Major protocols for Transport Layer</vt:lpstr>
      <vt:lpstr>  </vt:lpstr>
      <vt:lpstr>  </vt:lpstr>
      <vt:lpstr>PowerPoint 演示文稿</vt:lpstr>
      <vt:lpstr>2. UDP (User Datagram Protocol)</vt:lpstr>
      <vt:lpstr>Examples  of UDP include:</vt:lpstr>
      <vt:lpstr>3.SCTP   (Stream Control Transmission Protocol)</vt:lpstr>
      <vt:lpstr>3. Internet Layer</vt:lpstr>
      <vt:lpstr>Responsibilities for Internet Layer</vt:lpstr>
      <vt:lpstr>Major protocols under Internet Layer</vt:lpstr>
      <vt:lpstr>     ICMP (Internet Control Message Protocol) </vt:lpstr>
      <vt:lpstr>   IGMP — Internet Group Management Protocol </vt:lpstr>
      <vt:lpstr>IPsec — Internet Protocol Security</vt:lpstr>
      <vt:lpstr>Routing protocols</vt:lpstr>
      <vt:lpstr>4. Network Access Layer</vt:lpstr>
      <vt:lpstr>Responsibilities under Network Access Layer</vt:lpstr>
      <vt:lpstr>Major protocols and technologies</vt:lpstr>
      <vt:lpstr>Wi-Fi — IEEE 802.11</vt:lpstr>
      <vt:lpstr>PPP — Point-to-Point Protocol</vt:lpstr>
      <vt:lpstr>ARP — Address Resolution Protocol</vt:lpstr>
      <vt:lpstr>Summary</vt:lpstr>
      <vt:lpstr>  </vt:lpstr>
      <vt:lpstr>Where the TCP/IP Model is Applied  </vt:lpstr>
      <vt:lpstr>PowerPoint 演示文稿</vt:lpstr>
      <vt:lpstr>SIMILARITIES 0SI AND TCP/IP</vt:lpstr>
      <vt:lpstr>DIFFERENCES BETWEEN OSI AND TCP/IP</vt:lpstr>
      <vt:lpstr>Overall Comparision</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THINKPAD</dc:creator>
  <cp:lastModifiedBy>Ainector grayt</cp:lastModifiedBy>
  <cp:revision>20</cp:revision>
  <dcterms:created xsi:type="dcterms:W3CDTF">2025-07-23T00:59:00Z</dcterms:created>
  <dcterms:modified xsi:type="dcterms:W3CDTF">2026-09-03T08:58:20Z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44D8767D38EA47FCBA70B7845CDA0932_12</vt:lpwstr>
  </property>
  <property fmtid="{D5CDD505-2E9C-101B-9397-08002B2CF9AE}" pid="3" name="KSOProductBuildVer">
    <vt:lpwstr>2057-12.2.0.23202</vt:lpwstr>
  </property>
</Properties>
</file>